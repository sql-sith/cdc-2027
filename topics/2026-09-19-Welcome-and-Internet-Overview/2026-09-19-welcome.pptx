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2" r:id="rId6"/>
    <p:sldMasterId id="2147483654" r:id="rId7"/>
  </p:sldMasterIdLst>
  <p:notesMasterIdLst>
    <p:notesMasterId r:id="rId16"/>
  </p:notesMasterIdLst>
  <p:handoutMasterIdLst>
    <p:handoutMasterId r:id="rId17"/>
  </p:handoutMasterIdLst>
  <p:sldIdLst>
    <p:sldId id="282" r:id="rId8"/>
    <p:sldId id="284" r:id="rId9"/>
    <p:sldId id="290" r:id="rId10"/>
    <p:sldId id="292" r:id="rId11"/>
    <p:sldId id="293" r:id="rId12"/>
    <p:sldId id="283" r:id="rId13"/>
    <p:sldId id="287" r:id="rId14"/>
    <p:sldId id="2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F2D3"/>
    <a:srgbClr val="96DCF8"/>
    <a:srgbClr val="E6E614"/>
    <a:srgbClr val="00B050"/>
    <a:srgbClr val="88C29D"/>
    <a:srgbClr val="A1CFB1"/>
    <a:srgbClr val="7DBD94"/>
    <a:srgbClr val="D97F7B"/>
    <a:srgbClr val="818181"/>
    <a:srgbClr val="0E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47" autoAdjust="0"/>
    <p:restoredTop sz="86432" autoAdjust="0"/>
  </p:normalViewPr>
  <p:slideViewPr>
    <p:cSldViewPr snapToGrid="0">
      <p:cViewPr varScale="1">
        <p:scale>
          <a:sx n="108" d="100"/>
          <a:sy n="108" d="100"/>
        </p:scale>
        <p:origin x="127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8DCED-1B64-56B1-1CE7-4626F02676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6137" y="0"/>
            <a:ext cx="5518150" cy="212609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>
                <a:solidFill>
                  <a:srgbClr val="E7D2ED"/>
                </a:solidFill>
                <a:latin typeface="CarbonType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 or SUFFER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8458BA7-94A3-0DDA-DD86-675DBE2743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6137" y="2135187"/>
            <a:ext cx="5053012" cy="12938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1">
                    <a:lumMod val="10000"/>
                    <a:lumOff val="90000"/>
                  </a:schemeClr>
                </a:solidFill>
                <a:latin typeface="CarbonType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subtitle</a:t>
            </a:r>
            <a:br>
              <a:rPr lang="en-US" dirty="0"/>
            </a:br>
            <a:r>
              <a:rPr lang="en-US" dirty="0"/>
              <a:t>2024-xx-xx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2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8DCED-1B64-56B1-1CE7-4626F02676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6137" y="0"/>
            <a:ext cx="5518150" cy="212609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>
                <a:solidFill>
                  <a:srgbClr val="E7D2ED"/>
                </a:solidFill>
                <a:latin typeface="CarbonType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 or SUFFER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8458BA7-94A3-0DDA-DD86-675DBE2743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6137" y="2135187"/>
            <a:ext cx="5053012" cy="12938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1">
                    <a:lumMod val="10000"/>
                    <a:lumOff val="90000"/>
                  </a:schemeClr>
                </a:solidFill>
                <a:latin typeface="CarbonType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subtitle</a:t>
            </a:r>
            <a:br>
              <a:rPr lang="en-US" dirty="0"/>
            </a:br>
            <a:r>
              <a:rPr lang="en-US" dirty="0"/>
              <a:t>2024-xx-xx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03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3ABCEFD-7393-E937-A09D-CB35F7CD39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354" y="0"/>
            <a:ext cx="5518150" cy="212609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>
                <a:solidFill>
                  <a:srgbClr val="E7D2ED"/>
                </a:solidFill>
                <a:latin typeface="CarbonType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 or SUFFER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A0EFB098-D7DF-F6A4-3B86-F79924A8E8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354" y="2135187"/>
            <a:ext cx="5053012" cy="12938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accent1">
                    <a:lumMod val="10000"/>
                    <a:lumOff val="90000"/>
                  </a:schemeClr>
                </a:solidFill>
                <a:latin typeface="CarbonType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40000"/>
                    <a:lumOff val="60000"/>
                  </a:srgbClr>
                </a:solidFill>
                <a:effectLst/>
                <a:uLnTx/>
                <a:uFillTx/>
                <a:latin typeface="CarbonType" panose="02000000000000000000" pitchFamily="2" charset="0"/>
                <a:ea typeface="+mn-ea"/>
                <a:cs typeface="+mn-cs"/>
              </a:rPr>
              <a:t>subtitle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F9ED5">
                    <a:lumMod val="40000"/>
                    <a:lumOff val="60000"/>
                  </a:srgbClr>
                </a:solidFill>
                <a:effectLst/>
                <a:uLnTx/>
                <a:uFillTx/>
                <a:latin typeface="CarbonType" panose="02000000000000000000" pitchFamily="2" charset="0"/>
                <a:ea typeface="+mn-ea"/>
                <a:cs typeface="+mn-cs"/>
              </a:rPr>
              <a:t>yyyy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40000"/>
                    <a:lumOff val="60000"/>
                  </a:srgbClr>
                </a:solidFill>
                <a:effectLst/>
                <a:uLnTx/>
                <a:uFillTx/>
                <a:latin typeface="CarbonType" panose="02000000000000000000" pitchFamily="2" charset="0"/>
                <a:ea typeface="+mn-ea"/>
                <a:cs typeface="+mn-cs"/>
              </a:rPr>
              <a:t>-mm-dd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15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C5545AC-4A15-E50E-AE07-46FAB624EB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402" y="0"/>
            <a:ext cx="5518150" cy="162401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>
                <a:solidFill>
                  <a:srgbClr val="7DBD94"/>
                </a:solidFill>
                <a:latin typeface="CarbonType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 or SUFFER</a:t>
            </a:r>
          </a:p>
        </p:txBody>
      </p:sp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894FE469-5F78-41A1-61E5-FB05E8C6F9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402" y="1624014"/>
            <a:ext cx="5053012" cy="13192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rgbClr val="7DBD94"/>
                </a:solidFill>
                <a:latin typeface="CarbonType" panose="02000000000000000000" pitchFamily="2" charset="0"/>
              </a:defRPr>
            </a:lvl1pPr>
          </a:lstStyle>
          <a:p>
            <a:r>
              <a:rPr lang="en-US" sz="1600" i="1" dirty="0">
                <a:solidFill>
                  <a:srgbClr val="00B050"/>
                </a:solidFill>
              </a:rPr>
              <a:t>Subtitle</a:t>
            </a:r>
            <a:br>
              <a:rPr lang="en-US" sz="1600" i="1" dirty="0">
                <a:solidFill>
                  <a:srgbClr val="00B050"/>
                </a:solidFill>
              </a:rPr>
            </a:br>
            <a:r>
              <a:rPr lang="en-US" sz="1600" i="1" dirty="0">
                <a:solidFill>
                  <a:srgbClr val="00B050"/>
                </a:solidFill>
              </a:rPr>
              <a:t>YYYY-MM-DD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4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nd purple sky with planets&#10;&#10;Description automatically generated">
            <a:extLst>
              <a:ext uri="{FF2B5EF4-FFF2-40B4-BE49-F238E27FC236}">
                <a16:creationId xmlns:a16="http://schemas.microsoft.com/office/drawing/2014/main" id="{C1C0D8BD-5298-7A97-B5C6-7020CA0C101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E64705-FC50-5464-73F3-8AC1F35D17C2}"/>
              </a:ext>
            </a:extLst>
          </p:cNvPr>
          <p:cNvSpPr txBox="1">
            <a:spLocks/>
          </p:cNvSpPr>
          <p:nvPr userDrawn="1"/>
        </p:nvSpPr>
        <p:spPr>
          <a:xfrm>
            <a:off x="6096001" y="4566739"/>
            <a:ext cx="5785964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E7D2ED"/>
                </a:solidFill>
                <a:latin typeface="CarbonType" panose="02000000000000000000" pitchFamily="2" charset="0"/>
              </a:rPr>
              <a:t>CEDAR RAPIDS AREA </a:t>
            </a:r>
          </a:p>
          <a:p>
            <a:r>
              <a:rPr lang="en-US" sz="1800" dirty="0">
                <a:solidFill>
                  <a:srgbClr val="E7D2ED"/>
                </a:solidFill>
                <a:latin typeface="CarbonType" panose="02000000000000000000" pitchFamily="2" charset="0"/>
              </a:rPr>
              <a:t>  4O0HM5KuULZ*</a:t>
            </a:r>
          </a:p>
          <a:p>
            <a:endParaRPr lang="en-US" sz="1800" dirty="0">
              <a:solidFill>
                <a:srgbClr val="E7D2ED"/>
              </a:solidFill>
              <a:latin typeface="CarbonType" panose="02000000000000000000" pitchFamily="2" charset="0"/>
            </a:endParaRPr>
          </a:p>
          <a:p>
            <a:r>
              <a:rPr lang="en-US" sz="1700" dirty="0">
                <a:solidFill>
                  <a:srgbClr val="E7D2ED"/>
                </a:solidFill>
                <a:latin typeface="CarbonType" panose="02000000000000000000" pitchFamily="2" charset="0"/>
              </a:rPr>
              <a:t>   i.t. club - cyber defense</a:t>
            </a:r>
          </a:p>
          <a:p>
            <a:r>
              <a:rPr lang="en-US" sz="1700" dirty="0">
                <a:solidFill>
                  <a:srgbClr val="E7D2ED"/>
                </a:solidFill>
                <a:latin typeface="CarbonType" panose="02000000000000000000" pitchFamily="2" charset="0"/>
              </a:rPr>
              <a:t>     2024-2025 edition</a:t>
            </a:r>
            <a:br>
              <a:rPr lang="en-US" sz="1700" dirty="0">
                <a:solidFill>
                  <a:srgbClr val="E7D2ED"/>
                </a:solidFill>
                <a:latin typeface="CarbonType" panose="02000000000000000000" pitchFamily="2" charset="0"/>
              </a:rPr>
            </a:br>
            <a:r>
              <a:rPr lang="en-US" sz="1700" dirty="0">
                <a:solidFill>
                  <a:srgbClr val="E7D2ED"/>
                </a:solidFill>
                <a:latin typeface="CarbonType" panose="02000000000000000000" pitchFamily="2" charset="0"/>
              </a:rPr>
              <a:t>       direct queries (at)</a:t>
            </a:r>
            <a:r>
              <a:rPr lang="en-US" sz="1700" dirty="0" err="1">
                <a:solidFill>
                  <a:srgbClr val="E7D2ED"/>
                </a:solidFill>
                <a:latin typeface="CarbonType" panose="02000000000000000000" pitchFamily="2" charset="0"/>
              </a:rPr>
              <a:t>sql-sith</a:t>
            </a:r>
            <a:endParaRPr lang="en-US" sz="1700" dirty="0">
              <a:solidFill>
                <a:srgbClr val="E7D2ED"/>
              </a:solidFill>
              <a:latin typeface="CarbonType" panose="02000000000000000000" pitchFamily="2" charset="0"/>
            </a:endParaRPr>
          </a:p>
          <a:p>
            <a:endParaRPr lang="en-US" sz="1700" dirty="0">
              <a:solidFill>
                <a:srgbClr val="E7D2ED"/>
              </a:solidFill>
              <a:latin typeface="CarbonType" panose="02000000000000000000" pitchFamily="2" charset="0"/>
            </a:endParaRPr>
          </a:p>
          <a:p>
            <a:r>
              <a:rPr lang="en-US" sz="1700" dirty="0">
                <a:solidFill>
                  <a:srgbClr val="E7D2ED"/>
                </a:solidFill>
                <a:latin typeface="CarbonType" panose="02000000000000000000" pitchFamily="2" charset="0"/>
              </a:rPr>
              <a:t>  *note: not a spelling bee team</a:t>
            </a:r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C59FC4-6517-B863-9A02-4E38DB9BB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242202" cy="6858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5F24396A-986F-E1A8-B1EE-7BA33B63FCB9}"/>
              </a:ext>
            </a:extLst>
          </p:cNvPr>
          <p:cNvSpPr/>
          <p:nvPr userDrawn="1"/>
        </p:nvSpPr>
        <p:spPr>
          <a:xfrm>
            <a:off x="5803751" y="5050716"/>
            <a:ext cx="5491778" cy="1807284"/>
          </a:xfrm>
          <a:prstGeom prst="parallelogram">
            <a:avLst>
              <a:gd name="adj" fmla="val 133640"/>
            </a:avLst>
          </a:prstGeom>
          <a:solidFill>
            <a:schemeClr val="tx1">
              <a:alpha val="2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64705-FC50-5464-73F3-8AC1F35D17C2}"/>
              </a:ext>
            </a:extLst>
          </p:cNvPr>
          <p:cNvSpPr txBox="1">
            <a:spLocks/>
          </p:cNvSpPr>
          <p:nvPr userDrawn="1"/>
        </p:nvSpPr>
        <p:spPr>
          <a:xfrm>
            <a:off x="5357308" y="4365010"/>
            <a:ext cx="704625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        CEDAR RAPIDS AREA </a:t>
            </a:r>
          </a:p>
          <a:p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     4O0HM5KuULZ*</a:t>
            </a:r>
          </a:p>
          <a:p>
            <a:endParaRPr lang="en-US" sz="1800" dirty="0">
              <a:solidFill>
                <a:schemeClr val="accent5">
                  <a:lumMod val="40000"/>
                  <a:lumOff val="60000"/>
                </a:schemeClr>
              </a:solidFill>
              <a:latin typeface="CarbonType" panose="02000000000000000000" pitchFamily="2" charset="0"/>
            </a:endParaRPr>
          </a:p>
          <a:p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i.t. club - cyber defense</a:t>
            </a:r>
          </a:p>
          <a:p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 2024-2025 edition</a:t>
            </a:r>
            <a:b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</a:b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  direct queries (at)</a:t>
            </a:r>
            <a:r>
              <a:rPr lang="en-US" sz="17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sql-sith</a:t>
            </a:r>
            <a:endParaRPr lang="en-US" sz="1700" dirty="0">
              <a:solidFill>
                <a:schemeClr val="accent5">
                  <a:lumMod val="40000"/>
                  <a:lumOff val="60000"/>
                </a:schemeClr>
              </a:solidFill>
              <a:latin typeface="CarbonType" panose="02000000000000000000" pitchFamily="2" charset="0"/>
            </a:endParaRPr>
          </a:p>
          <a:p>
            <a:endParaRPr lang="en-US" sz="1700" dirty="0">
              <a:solidFill>
                <a:schemeClr val="accent5">
                  <a:lumMod val="40000"/>
                  <a:lumOff val="60000"/>
                </a:schemeClr>
              </a:solidFill>
              <a:latin typeface="CarbonType" panose="02000000000000000000" pitchFamily="2" charset="0"/>
            </a:endParaRPr>
          </a:p>
          <a:p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*note: not a fan club </a:t>
            </a:r>
          </a:p>
          <a:p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for bats or spiders</a:t>
            </a:r>
          </a:p>
        </p:txBody>
      </p:sp>
    </p:spTree>
    <p:extLst>
      <p:ext uri="{BB962C8B-B14F-4D97-AF65-F5344CB8AC3E}">
        <p14:creationId xmlns:p14="http://schemas.microsoft.com/office/powerpoint/2010/main" val="25520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84AC1-AA13-654C-9198-92C8A817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F7D86-81E6-01DC-96AF-B0B2EC92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8BE2-7F73-D8A9-79CE-9BC62C3BC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56144-319F-4396-90A3-D605D1C502A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03B2D-079C-1212-69E6-F6360534E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862E3-F901-3A1A-F0ED-57373348F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04A4E-E326-4D31-BE8C-A1BE06835329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B161F92E-F5E8-3436-75D3-8C444E2D170A}"/>
              </a:ext>
            </a:extLst>
          </p:cNvPr>
          <p:cNvPicPr>
            <a:picLocks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" r="222"/>
          <a:stretch>
            <a:fillRect/>
          </a:stretch>
        </p:blipFill>
        <p:spPr bwMode="auto">
          <a:xfrm>
            <a:off x="-4763" y="-7750"/>
            <a:ext cx="12289536" cy="692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4799CF-13C7-A9C2-897B-9BD9DB5F4D69}"/>
              </a:ext>
            </a:extLst>
          </p:cNvPr>
          <p:cNvSpPr txBox="1">
            <a:spLocks/>
          </p:cNvSpPr>
          <p:nvPr userDrawn="1"/>
        </p:nvSpPr>
        <p:spPr>
          <a:xfrm>
            <a:off x="4433676" y="4425310"/>
            <a:ext cx="7713564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CEDAR RAPIDS AREA </a:t>
            </a:r>
          </a:p>
          <a:p>
            <a:pPr algn="r"/>
            <a:r>
              <a:rPr 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4O0ohm5kkl88LZ</a:t>
            </a:r>
            <a:r>
              <a:rPr lang="en-US" sz="1800" baseline="30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*</a:t>
            </a:r>
          </a:p>
          <a:p>
            <a:pPr algn="r"/>
            <a:endParaRPr lang="en-US" sz="1800" dirty="0">
              <a:solidFill>
                <a:schemeClr val="accent5">
                  <a:lumMod val="40000"/>
                  <a:lumOff val="60000"/>
                </a:schemeClr>
              </a:solidFill>
              <a:latin typeface="CarbonType" panose="02000000000000000000" pitchFamily="2" charset="0"/>
            </a:endParaRPr>
          </a:p>
          <a:p>
            <a:pPr algn="r"/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i.t. club - cyber defense</a:t>
            </a:r>
          </a:p>
          <a:p>
            <a:pPr algn="r"/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2025-2026 edition</a:t>
            </a:r>
          </a:p>
          <a:p>
            <a:pPr algn="r"/>
            <a:r>
              <a:rPr lang="en-US" sz="17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sql</a:t>
            </a: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</a:t>
            </a:r>
            <a:r>
              <a:rPr lang="en-US" sz="17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sith</a:t>
            </a: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, giga </a:t>
            </a:r>
            <a:r>
              <a:rPr lang="en-US" sz="17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chad</a:t>
            </a: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, captain dan, and </a:t>
            </a:r>
            <a:r>
              <a:rPr lang="en-US" sz="17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karl</a:t>
            </a: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: large and in charge</a:t>
            </a:r>
            <a:b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</a:b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direct queries (at)</a:t>
            </a:r>
            <a:r>
              <a:rPr lang="en-US" sz="17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sql-sith</a:t>
            </a: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on </a:t>
            </a:r>
            <a:r>
              <a:rPr lang="en-US" sz="17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github</a:t>
            </a:r>
            <a:r>
              <a:rPr lang="en-US" sz="17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. it’s a website.</a:t>
            </a:r>
          </a:p>
          <a:p>
            <a:pPr algn="r"/>
            <a:endParaRPr lang="en-US" sz="1700" dirty="0">
              <a:solidFill>
                <a:schemeClr val="accent5">
                  <a:lumMod val="40000"/>
                  <a:lumOff val="60000"/>
                </a:schemeClr>
              </a:solidFill>
              <a:latin typeface="CarbonType" panose="02000000000000000000" pitchFamily="2" charset="0"/>
            </a:endParaRPr>
          </a:p>
          <a:p>
            <a:pPr algn="r"/>
            <a:r>
              <a:rPr lang="en-US" sz="1200" i="1" baseline="30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*</a:t>
            </a:r>
            <a:r>
              <a:rPr lang="en-US" sz="1200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note: not a fan club for spelling bees, bats, spiders, snakes, cardinals, cyclones, </a:t>
            </a:r>
            <a:r>
              <a:rPr lang="en-US" sz="1200" i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vikings</a:t>
            </a:r>
            <a:r>
              <a:rPr lang="en-US" sz="1200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rbonType" panose="02000000000000000000" pitchFamily="2" charset="0"/>
              </a:rPr>
              <a:t> or packers.</a:t>
            </a:r>
          </a:p>
        </p:txBody>
      </p:sp>
    </p:spTree>
    <p:extLst>
      <p:ext uri="{BB962C8B-B14F-4D97-AF65-F5344CB8AC3E}">
        <p14:creationId xmlns:p14="http://schemas.microsoft.com/office/powerpoint/2010/main" val="243067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3D49CB4-96AE-A42B-6382-75ABD7FD6A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80" r="196" b="7082"/>
          <a:stretch>
            <a:fillRect/>
          </a:stretch>
        </p:blipFill>
        <p:spPr>
          <a:xfrm>
            <a:off x="-48768" y="-32004"/>
            <a:ext cx="12289536" cy="6922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4799CF-13C7-A9C2-897B-9BD9DB5F4D69}"/>
              </a:ext>
            </a:extLst>
          </p:cNvPr>
          <p:cNvSpPr txBox="1">
            <a:spLocks/>
          </p:cNvSpPr>
          <p:nvPr userDrawn="1"/>
        </p:nvSpPr>
        <p:spPr>
          <a:xfrm>
            <a:off x="4860166" y="1944699"/>
            <a:ext cx="737883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CEDAR RAPIDS AREA </a:t>
            </a:r>
          </a:p>
          <a:p>
            <a:pPr algn="r"/>
            <a:r>
              <a:rPr lang="en-US" sz="18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hHO0omM5S$scCKkullz</a:t>
            </a:r>
            <a:r>
              <a:rPr lang="en-US" sz="1800" b="1" baseline="30000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*</a:t>
            </a:r>
          </a:p>
          <a:p>
            <a:pPr algn="r"/>
            <a:endParaRPr lang="en-US" sz="18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i.t. club - cyber defense</a:t>
            </a:r>
          </a:p>
          <a:p>
            <a:pPr algn="r"/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2025-2026 edition</a:t>
            </a:r>
          </a:p>
          <a:p>
            <a:pPr algn="r"/>
            <a:endParaRPr lang="en-US" sz="17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endParaRPr lang="en-US" sz="17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endParaRPr lang="en-US" sz="17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endParaRPr lang="en-US" sz="17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endParaRPr lang="en-US" sz="17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mentors:</a:t>
            </a:r>
          </a:p>
          <a:p>
            <a:pPr algn="r"/>
            <a:r>
              <a:rPr lang="en-US" sz="1700" b="1" dirty="0" err="1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sql</a:t>
            </a:r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 </a:t>
            </a:r>
            <a:r>
              <a:rPr lang="en-US" sz="1700" b="1" dirty="0" err="1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sith</a:t>
            </a:r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! </a:t>
            </a:r>
            <a:r>
              <a:rPr lang="en-US" sz="1700" b="1" dirty="0" err="1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gigachad</a:t>
            </a:r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! captain dan!</a:t>
            </a:r>
            <a:b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</a:br>
            <a:r>
              <a:rPr lang="en-US" sz="1700" b="1" dirty="0" err="1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karl</a:t>
            </a:r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!</a:t>
            </a:r>
          </a:p>
          <a:p>
            <a:pPr algn="r"/>
            <a:endParaRPr lang="en-US" sz="17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direct queries (at)</a:t>
            </a:r>
            <a:r>
              <a:rPr lang="en-US" sz="1700" b="1" dirty="0" err="1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sql-sith</a:t>
            </a:r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 on </a:t>
            </a:r>
            <a:r>
              <a:rPr lang="en-US" sz="1700" b="1" dirty="0" err="1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github</a:t>
            </a:r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.</a:t>
            </a:r>
          </a:p>
          <a:p>
            <a:pPr algn="r"/>
            <a:r>
              <a:rPr lang="en-US" sz="1700" b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it’s a website.</a:t>
            </a:r>
          </a:p>
          <a:p>
            <a:pPr algn="r"/>
            <a:endParaRPr lang="en-US" sz="1700" b="1" dirty="0">
              <a:ln w="6350" cmpd="sng">
                <a:noFill/>
              </a:ln>
              <a:solidFill>
                <a:srgbClr val="92D050"/>
              </a:solidFill>
              <a:latin typeface="CarbonType" panose="02000000000000000000" pitchFamily="2" charset="0"/>
            </a:endParaRPr>
          </a:p>
          <a:p>
            <a:pPr algn="r"/>
            <a:r>
              <a:rPr lang="en-US" sz="1200" b="1" i="1" baseline="30000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*</a:t>
            </a:r>
            <a:r>
              <a:rPr lang="en-US" sz="1200" b="1" i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note: not a fan club for spelling bees, bats, spiders,</a:t>
            </a:r>
            <a:br>
              <a:rPr lang="en-US" sz="1200" b="1" i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</a:br>
            <a:r>
              <a:rPr lang="en-US" sz="1200" b="1" i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snakes, cardinals, cyclones, </a:t>
            </a:r>
            <a:r>
              <a:rPr lang="en-US" sz="1200" b="1" i="1" dirty="0" err="1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vikings</a:t>
            </a:r>
            <a:r>
              <a:rPr lang="en-US" sz="1200" b="1" i="1" dirty="0">
                <a:ln w="6350" cmpd="sng">
                  <a:noFill/>
                </a:ln>
                <a:solidFill>
                  <a:srgbClr val="92D050"/>
                </a:solidFill>
                <a:latin typeface="CarbonType" panose="02000000000000000000" pitchFamily="2" charset="0"/>
              </a:rPr>
              <a:t> or packers.</a:t>
            </a:r>
          </a:p>
        </p:txBody>
      </p:sp>
    </p:spTree>
    <p:extLst>
      <p:ext uri="{BB962C8B-B14F-4D97-AF65-F5344CB8AC3E}">
        <p14:creationId xmlns:p14="http://schemas.microsoft.com/office/powerpoint/2010/main" val="253456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7DBD94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26–2027 cinematic cyber-city background" descr="Cinematic science-fiction cyber-city at night with packet-like light trails and a distant plane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989320"/>
            <a:ext cx="12192000" cy="868680"/>
          </a:xfrm>
          <a:prstGeom prst="rect">
            <a:avLst/>
          </a:prstGeom>
          <a:solidFill>
            <a:srgbClr val="04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eason marker"/>
          <p:cNvSpPr txBox="1"/>
          <p:nvPr/>
        </p:nvSpPr>
        <p:spPr>
          <a:xfrm>
            <a:off x="658368" y="4389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7" name="Editable video title"/>
          <p:cNvSpPr txBox="1"/>
          <p:nvPr/>
        </p:nvSpPr>
        <p:spPr>
          <a:xfrm>
            <a:off x="658368" y="841248"/>
            <a:ext cx="97840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700" b="1" dirty="0">
                <a:solidFill>
                  <a:srgbClr val="F5F8FF"/>
                </a:solidFill>
                <a:latin typeface="CarbonType"/>
              </a:rPr>
              <a:t>new year, new rabbit holes</a:t>
            </a:r>
          </a:p>
        </p:txBody>
      </p:sp>
      <p:sp>
        <p:nvSpPr>
          <p:cNvPr id="8" name="Editable hook and date"/>
          <p:cNvSpPr txBox="1"/>
          <p:nvPr/>
        </p:nvSpPr>
        <p:spPr>
          <a:xfrm>
            <a:off x="694944" y="2286000"/>
            <a:ext cx="70408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i="1" dirty="0">
                <a:solidFill>
                  <a:srgbClr val="FFAA91"/>
                </a:solidFill>
                <a:latin typeface="Aptos"/>
              </a:rPr>
              <a:t>same club, stranger packets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F5F8FF"/>
                </a:solidFill>
                <a:latin typeface="Aptos"/>
              </a:rPr>
              <a:t>2026-09-</a:t>
            </a:r>
            <a:r>
              <a:rPr lang="en-US" sz="1400" b="1" dirty="0">
                <a:solidFill>
                  <a:srgbClr val="F5F8FF"/>
                </a:solidFill>
                <a:latin typeface="Aptos"/>
              </a:rPr>
              <a:t>26</a:t>
            </a:r>
            <a:endParaRPr sz="1400" b="1" dirty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9" name="Club and season details"/>
          <p:cNvSpPr txBox="1"/>
          <p:nvPr/>
        </p:nvSpPr>
        <p:spPr>
          <a:xfrm>
            <a:off x="8183879" y="4892040"/>
            <a:ext cx="3310128" cy="9692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F2D3"/>
                </a:solidFill>
                <a:latin typeface="Aptos"/>
              </a:rPr>
              <a:t>CEDAR RAPIDS AREA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4000hmSk1llz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8FF"/>
                </a:solidFill>
                <a:latin typeface="Aptos"/>
              </a:rPr>
              <a:t>Lt. club • cyber defense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AA91"/>
                </a:solidFill>
                <a:latin typeface="Aptos"/>
              </a:rPr>
              <a:t>2026–2027 edition</a:t>
            </a:r>
          </a:p>
        </p:txBody>
      </p:sp>
      <p:sp>
        <p:nvSpPr>
          <p:cNvPr id="10" name="Mentor and contact footer"/>
          <p:cNvSpPr txBox="1"/>
          <p:nvPr/>
        </p:nvSpPr>
        <p:spPr>
          <a:xfrm>
            <a:off x="6656832" y="6117336"/>
            <a:ext cx="4846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5BF2D3"/>
                </a:solidFill>
                <a:latin typeface="Aptos"/>
              </a:rPr>
              <a:t>mentors:  sql slth  |  ghcahd  |  captain dan  |  karl</a:t>
            </a:r>
          </a:p>
          <a:p>
            <a:pPr algn="r">
              <a:spcBef>
                <a:spcPts val="100"/>
              </a:spcBef>
            </a:pPr>
            <a:r>
              <a:rPr sz="800" i="1">
                <a:solidFill>
                  <a:srgbClr val="E1E8F4"/>
                </a:solidFill>
                <a:latin typeface="Aptos"/>
              </a:rPr>
              <a:t>direct queries (at) sql-slth on github, it's a website.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38912"/>
            <a:ext cx="2286000" cy="32004"/>
          </a:xfrm>
          <a:prstGeom prst="rect">
            <a:avLst/>
          </a:prstGeom>
          <a:solidFill>
            <a:srgbClr val="5B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44368" y="438912"/>
            <a:ext cx="777240" cy="32004"/>
          </a:xfrm>
          <a:prstGeom prst="rect">
            <a:avLst/>
          </a:prstGeom>
          <a:solidFill>
            <a:srgbClr val="C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ason marker"/>
          <p:cNvSpPr txBox="1"/>
          <p:nvPr/>
        </p:nvSpPr>
        <p:spPr>
          <a:xfrm>
            <a:off x="658368" y="1645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658368" y="698510"/>
            <a:ext cx="99669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400" b="1" i="0" dirty="0">
                <a:solidFill>
                  <a:srgbClr val="F5F8FF"/>
                </a:solidFill>
                <a:latin typeface="CarbonType"/>
              </a:rPr>
              <a:t>Pop quiz: who are you and why are you here?</a:t>
            </a:r>
            <a:endParaRPr sz="3400" b="1" i="0" dirty="0">
              <a:solidFill>
                <a:srgbClr val="F5F8FF"/>
              </a:solidFill>
              <a:latin typeface="CarbonType"/>
            </a:endParaRPr>
          </a:p>
        </p:txBody>
      </p:sp>
      <p:sp>
        <p:nvSpPr>
          <p:cNvPr id="7" name="Subtitle"/>
          <p:cNvSpPr txBox="1"/>
          <p:nvPr/>
        </p:nvSpPr>
        <p:spPr>
          <a:xfrm>
            <a:off x="694944" y="1271016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1" dirty="0">
                <a:solidFill>
                  <a:srgbClr val="FFAA91"/>
                </a:solidFill>
                <a:latin typeface="Aptos"/>
              </a:rPr>
              <a:t>Subliminal message: there are no wrong answers, except not answering. Also, really, really short answers make me sad.</a:t>
            </a:r>
            <a:endParaRPr sz="1300" b="0" i="1" dirty="0">
              <a:solidFill>
                <a:srgbClr val="FFAA91"/>
              </a:solidFill>
              <a:latin typeface="Aptos"/>
            </a:endParaRPr>
          </a:p>
        </p:txBody>
      </p:sp>
      <p:sp>
        <p:nvSpPr>
          <p:cNvPr id="8" name="Layout number"/>
          <p:cNvSpPr txBox="1"/>
          <p:nvPr/>
        </p:nvSpPr>
        <p:spPr>
          <a:xfrm>
            <a:off x="10744200" y="758952"/>
            <a:ext cx="7498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500" b="1" i="0" dirty="0">
                <a:solidFill>
                  <a:srgbClr val="5BF2D3"/>
                </a:solidFill>
                <a:latin typeface="CarbonType"/>
              </a:rPr>
              <a:t>01</a:t>
            </a:r>
            <a:endParaRPr sz="1500" b="1" i="0" dirty="0">
              <a:solidFill>
                <a:srgbClr val="5BF2D3"/>
              </a:solidFill>
              <a:latin typeface="CarbonType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6272784"/>
            <a:ext cx="10872216" cy="16459"/>
          </a:xfrm>
          <a:prstGeom prst="rect">
            <a:avLst/>
          </a:prstGeom>
          <a:solidFill>
            <a:srgbClr val="63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ub footer"/>
          <p:cNvSpPr txBox="1"/>
          <p:nvPr/>
        </p:nvSpPr>
        <p:spPr>
          <a:xfrm>
            <a:off x="7315200" y="63825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F2D3"/>
                </a:solidFill>
                <a:latin typeface="Aptos"/>
              </a:rPr>
              <a:t>CEDAR RAPIDS AREA  /  4000hmSk1llz</a:t>
            </a:r>
          </a:p>
        </p:txBody>
      </p:sp>
      <p:sp>
        <p:nvSpPr>
          <p:cNvPr id="11" name="Slide type"/>
          <p:cNvSpPr txBox="1"/>
          <p:nvPr/>
        </p:nvSpPr>
        <p:spPr>
          <a:xfrm>
            <a:off x="658368" y="6382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AB9D2"/>
                </a:solidFill>
                <a:latin typeface="Aptos"/>
              </a:rPr>
              <a:t>TWO-COLUMN POINTS</a:t>
            </a:r>
          </a:p>
        </p:txBody>
      </p:sp>
      <p:sp>
        <p:nvSpPr>
          <p:cNvPr id="12" name="Left column heading"/>
          <p:cNvSpPr txBox="1"/>
          <p:nvPr/>
        </p:nvSpPr>
        <p:spPr>
          <a:xfrm>
            <a:off x="841248" y="1719072"/>
            <a:ext cx="4663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FAA91"/>
                </a:solidFill>
                <a:latin typeface="CarbonType"/>
              </a:rPr>
              <a:t>Team member</a:t>
            </a:r>
            <a:endParaRPr sz="1600" b="1" i="0" dirty="0">
              <a:solidFill>
                <a:srgbClr val="FFAA91"/>
              </a:solidFill>
              <a:latin typeface="CarbonType"/>
            </a:endParaRPr>
          </a:p>
        </p:txBody>
      </p:sp>
      <p:sp>
        <p:nvSpPr>
          <p:cNvPr id="15" name="Editable bullet list"/>
          <p:cNvSpPr txBox="1"/>
          <p:nvPr/>
        </p:nvSpPr>
        <p:spPr>
          <a:xfrm>
            <a:off x="841248" y="2167128"/>
            <a:ext cx="9844422" cy="509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500"/>
              </a:spcBef>
              <a:spcAft>
                <a:spcPts val="100"/>
              </a:spcAft>
            </a:pPr>
            <a:r>
              <a:rPr lang="en-US" sz="1600" b="1" dirty="0">
                <a:solidFill>
                  <a:srgbClr val="FFAA91"/>
                </a:solidFill>
                <a:latin typeface="Aptos"/>
              </a:rPr>
              <a:t>Chris</a:t>
            </a:r>
            <a:r>
              <a:rPr lang="en-US" sz="1600" dirty="0">
                <a:solidFill>
                  <a:srgbClr val="FFAA91"/>
                </a:solidFill>
                <a:latin typeface="Aptos"/>
              </a:rPr>
              <a:t>: "I want to learn about computers and stuff" is a sad answer. Adding "I learned how to program at Jefferson but I don't know anything about cyber defense so I'm really curious about it" is a better answer.</a:t>
            </a:r>
            <a:endParaRPr sz="1600" dirty="0">
              <a:solidFill>
                <a:srgbClr val="F5F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DDDDE-89B4-DD3A-4490-01E69B1D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6972F8-EA81-1CA3-9B25-88CAD854F1F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EC61EE-2824-762B-84B7-89EDB737227E}"/>
              </a:ext>
            </a:extLst>
          </p:cNvPr>
          <p:cNvSpPr/>
          <p:nvPr/>
        </p:nvSpPr>
        <p:spPr>
          <a:xfrm>
            <a:off x="658368" y="438912"/>
            <a:ext cx="2286000" cy="32004"/>
          </a:xfrm>
          <a:prstGeom prst="rect">
            <a:avLst/>
          </a:prstGeom>
          <a:solidFill>
            <a:srgbClr val="5B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953854-F3DB-BBCF-CE9C-7EC601D19CF7}"/>
              </a:ext>
            </a:extLst>
          </p:cNvPr>
          <p:cNvSpPr/>
          <p:nvPr/>
        </p:nvSpPr>
        <p:spPr>
          <a:xfrm>
            <a:off x="2944368" y="438912"/>
            <a:ext cx="777240" cy="32004"/>
          </a:xfrm>
          <a:prstGeom prst="rect">
            <a:avLst/>
          </a:prstGeom>
          <a:solidFill>
            <a:srgbClr val="C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ason marker">
            <a:extLst>
              <a:ext uri="{FF2B5EF4-FFF2-40B4-BE49-F238E27FC236}">
                <a16:creationId xmlns:a16="http://schemas.microsoft.com/office/drawing/2014/main" id="{6E758D9B-6630-4BB2-8BF1-4290BC20793B}"/>
              </a:ext>
            </a:extLst>
          </p:cNvPr>
          <p:cNvSpPr txBox="1"/>
          <p:nvPr/>
        </p:nvSpPr>
        <p:spPr>
          <a:xfrm>
            <a:off x="658368" y="1645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B4905CD7-9FDD-56E4-DB28-567F1C112008}"/>
              </a:ext>
            </a:extLst>
          </p:cNvPr>
          <p:cNvSpPr txBox="1"/>
          <p:nvPr/>
        </p:nvSpPr>
        <p:spPr>
          <a:xfrm>
            <a:off x="658368" y="698510"/>
            <a:ext cx="99669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400" b="1" i="0" dirty="0">
                <a:solidFill>
                  <a:srgbClr val="F5F8FF"/>
                </a:solidFill>
                <a:latin typeface="CarbonType"/>
              </a:rPr>
              <a:t>Pop quiz: who are you and why are you here?</a:t>
            </a:r>
            <a:endParaRPr sz="3400" b="1" i="0" dirty="0">
              <a:solidFill>
                <a:srgbClr val="F5F8FF"/>
              </a:solidFill>
              <a:latin typeface="CarbonType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3EC6123-4D3A-A70A-BCE4-AE4760D6D90E}"/>
              </a:ext>
            </a:extLst>
          </p:cNvPr>
          <p:cNvSpPr txBox="1"/>
          <p:nvPr/>
        </p:nvSpPr>
        <p:spPr>
          <a:xfrm>
            <a:off x="694944" y="1271016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1" dirty="0">
                <a:solidFill>
                  <a:srgbClr val="FFAA91"/>
                </a:solidFill>
                <a:latin typeface="Aptos"/>
              </a:rPr>
              <a:t>Subliminal message: there are no wrong answers, except not answering. Also, really, really short answers make me sad.</a:t>
            </a:r>
            <a:endParaRPr sz="1300" b="0" i="1" dirty="0">
              <a:solidFill>
                <a:srgbClr val="FFAA91"/>
              </a:solidFill>
              <a:latin typeface="Aptos"/>
            </a:endParaRPr>
          </a:p>
        </p:txBody>
      </p:sp>
      <p:sp>
        <p:nvSpPr>
          <p:cNvPr id="8" name="Layout number">
            <a:extLst>
              <a:ext uri="{FF2B5EF4-FFF2-40B4-BE49-F238E27FC236}">
                <a16:creationId xmlns:a16="http://schemas.microsoft.com/office/drawing/2014/main" id="{E6236A56-1B94-9696-F9D8-036306C892A6}"/>
              </a:ext>
            </a:extLst>
          </p:cNvPr>
          <p:cNvSpPr txBox="1"/>
          <p:nvPr/>
        </p:nvSpPr>
        <p:spPr>
          <a:xfrm>
            <a:off x="10744200" y="758952"/>
            <a:ext cx="7498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500" b="1" i="0" dirty="0">
                <a:solidFill>
                  <a:srgbClr val="5BF2D3"/>
                </a:solidFill>
                <a:latin typeface="CarbonType"/>
              </a:rPr>
              <a:t>02</a:t>
            </a:r>
            <a:endParaRPr sz="1500" b="1" i="0" dirty="0">
              <a:solidFill>
                <a:srgbClr val="5BF2D3"/>
              </a:solidFill>
              <a:latin typeface="CarbonTyp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76F8C-C42C-B2E6-9D6B-79C7D57936A7}"/>
              </a:ext>
            </a:extLst>
          </p:cNvPr>
          <p:cNvSpPr/>
          <p:nvPr/>
        </p:nvSpPr>
        <p:spPr>
          <a:xfrm>
            <a:off x="658368" y="6272784"/>
            <a:ext cx="10872216" cy="16459"/>
          </a:xfrm>
          <a:prstGeom prst="rect">
            <a:avLst/>
          </a:prstGeom>
          <a:solidFill>
            <a:srgbClr val="63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ub footer">
            <a:extLst>
              <a:ext uri="{FF2B5EF4-FFF2-40B4-BE49-F238E27FC236}">
                <a16:creationId xmlns:a16="http://schemas.microsoft.com/office/drawing/2014/main" id="{3A4B6376-FCEC-B194-D305-B031386E5B86}"/>
              </a:ext>
            </a:extLst>
          </p:cNvPr>
          <p:cNvSpPr txBox="1"/>
          <p:nvPr/>
        </p:nvSpPr>
        <p:spPr>
          <a:xfrm>
            <a:off x="7315200" y="63825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F2D3"/>
                </a:solidFill>
                <a:latin typeface="Aptos"/>
              </a:rPr>
              <a:t>CEDAR RAPIDS AREA  /  4000hmSk1llz</a:t>
            </a:r>
          </a:p>
        </p:txBody>
      </p:sp>
      <p:sp>
        <p:nvSpPr>
          <p:cNvPr id="11" name="Slide type">
            <a:extLst>
              <a:ext uri="{FF2B5EF4-FFF2-40B4-BE49-F238E27FC236}">
                <a16:creationId xmlns:a16="http://schemas.microsoft.com/office/drawing/2014/main" id="{AFD3C71D-BF0B-2FC2-EC31-1C04C3AC76AE}"/>
              </a:ext>
            </a:extLst>
          </p:cNvPr>
          <p:cNvSpPr txBox="1"/>
          <p:nvPr/>
        </p:nvSpPr>
        <p:spPr>
          <a:xfrm>
            <a:off x="658368" y="6382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AB9D2"/>
                </a:solidFill>
                <a:latin typeface="Aptos"/>
              </a:rPr>
              <a:t>TWO-COLUMN POINTS</a:t>
            </a:r>
          </a:p>
        </p:txBody>
      </p:sp>
      <p:sp>
        <p:nvSpPr>
          <p:cNvPr id="12" name="Left column heading">
            <a:extLst>
              <a:ext uri="{FF2B5EF4-FFF2-40B4-BE49-F238E27FC236}">
                <a16:creationId xmlns:a16="http://schemas.microsoft.com/office/drawing/2014/main" id="{9B46863B-014C-F004-28B7-5CA290D911AB}"/>
              </a:ext>
            </a:extLst>
          </p:cNvPr>
          <p:cNvSpPr txBox="1"/>
          <p:nvPr/>
        </p:nvSpPr>
        <p:spPr>
          <a:xfrm>
            <a:off x="841247" y="1719072"/>
            <a:ext cx="7988537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FAA91"/>
                </a:solidFill>
                <a:latin typeface="CarbonType"/>
              </a:rPr>
              <a:t>Team member</a:t>
            </a:r>
            <a:r>
              <a:rPr lang="en-US" sz="1600" dirty="0">
                <a:solidFill>
                  <a:srgbClr val="FFAA91"/>
                </a:solidFill>
                <a:latin typeface="CarbonType"/>
              </a:rPr>
              <a:t>: </a:t>
            </a:r>
          </a:p>
          <a:p>
            <a:pPr algn="l"/>
            <a:endParaRPr lang="en-US" sz="1600" dirty="0">
              <a:solidFill>
                <a:srgbClr val="FFAA91"/>
              </a:solidFill>
              <a:latin typeface="CarbonType"/>
            </a:endParaRPr>
          </a:p>
          <a:p>
            <a:pPr algn="l"/>
            <a:r>
              <a:rPr lang="en-US" sz="1600" dirty="0">
                <a:solidFill>
                  <a:srgbClr val="FFAA91"/>
                </a:solidFill>
                <a:latin typeface="CarbonType"/>
              </a:rPr>
              <a:t>I was in presentation mode, so I was unable to record answers here, but everybody did a great job - including the dads!</a:t>
            </a:r>
            <a:endParaRPr sz="1600" b="1" i="0" dirty="0">
              <a:solidFill>
                <a:srgbClr val="FFAA91"/>
              </a:solidFill>
              <a:latin typeface="CarbonType"/>
            </a:endParaRPr>
          </a:p>
        </p:txBody>
      </p:sp>
    </p:spTree>
    <p:extLst>
      <p:ext uri="{BB962C8B-B14F-4D97-AF65-F5344CB8AC3E}">
        <p14:creationId xmlns:p14="http://schemas.microsoft.com/office/powerpoint/2010/main" val="3311885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9C95-0598-FC55-B88A-81451755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B58156-E82E-5CB0-935F-738B15CE131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F5211-4FA5-92A2-C840-BACF679F8ABA}"/>
              </a:ext>
            </a:extLst>
          </p:cNvPr>
          <p:cNvSpPr/>
          <p:nvPr/>
        </p:nvSpPr>
        <p:spPr>
          <a:xfrm>
            <a:off x="658368" y="438912"/>
            <a:ext cx="2286000" cy="32004"/>
          </a:xfrm>
          <a:prstGeom prst="rect">
            <a:avLst/>
          </a:prstGeom>
          <a:solidFill>
            <a:srgbClr val="5B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3944FD-2C4D-210E-C15F-9A92879BC2E0}"/>
              </a:ext>
            </a:extLst>
          </p:cNvPr>
          <p:cNvSpPr/>
          <p:nvPr/>
        </p:nvSpPr>
        <p:spPr>
          <a:xfrm>
            <a:off x="2944368" y="438912"/>
            <a:ext cx="777240" cy="32004"/>
          </a:xfrm>
          <a:prstGeom prst="rect">
            <a:avLst/>
          </a:prstGeom>
          <a:solidFill>
            <a:srgbClr val="C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ason marker">
            <a:extLst>
              <a:ext uri="{FF2B5EF4-FFF2-40B4-BE49-F238E27FC236}">
                <a16:creationId xmlns:a16="http://schemas.microsoft.com/office/drawing/2014/main" id="{472AA0E3-84E2-85E7-53D1-5D122ADB6FC9}"/>
              </a:ext>
            </a:extLst>
          </p:cNvPr>
          <p:cNvSpPr txBox="1"/>
          <p:nvPr/>
        </p:nvSpPr>
        <p:spPr>
          <a:xfrm>
            <a:off x="658368" y="1645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2B20A174-9149-6D5B-71D1-CC4499CAACC7}"/>
              </a:ext>
            </a:extLst>
          </p:cNvPr>
          <p:cNvSpPr txBox="1"/>
          <p:nvPr/>
        </p:nvSpPr>
        <p:spPr>
          <a:xfrm>
            <a:off x="658368" y="698510"/>
            <a:ext cx="99669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400" b="1" i="0" dirty="0">
                <a:solidFill>
                  <a:srgbClr val="F5F8FF"/>
                </a:solidFill>
                <a:latin typeface="CarbonType"/>
              </a:rPr>
              <a:t>Pop quiz: what makes a team member valuable?</a:t>
            </a:r>
            <a:endParaRPr sz="3400" b="1" i="0" dirty="0">
              <a:solidFill>
                <a:srgbClr val="F5F8FF"/>
              </a:solidFill>
              <a:latin typeface="CarbonType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F8B527DE-4162-741B-5ED8-C9EDFD7CB245}"/>
              </a:ext>
            </a:extLst>
          </p:cNvPr>
          <p:cNvSpPr txBox="1"/>
          <p:nvPr/>
        </p:nvSpPr>
        <p:spPr>
          <a:xfrm>
            <a:off x="694944" y="1271016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1" dirty="0">
                <a:solidFill>
                  <a:srgbClr val="FFAA91"/>
                </a:solidFill>
                <a:latin typeface="Aptos"/>
              </a:rPr>
              <a:t>Subliminal message: there are several good answers. Really, lots of them.</a:t>
            </a:r>
            <a:endParaRPr sz="1300" b="0" i="1" dirty="0">
              <a:solidFill>
                <a:srgbClr val="FFAA91"/>
              </a:solidFill>
              <a:latin typeface="Aptos"/>
            </a:endParaRPr>
          </a:p>
        </p:txBody>
      </p:sp>
      <p:sp>
        <p:nvSpPr>
          <p:cNvPr id="8" name="Layout number">
            <a:extLst>
              <a:ext uri="{FF2B5EF4-FFF2-40B4-BE49-F238E27FC236}">
                <a16:creationId xmlns:a16="http://schemas.microsoft.com/office/drawing/2014/main" id="{40373DAD-7763-D580-7666-6CCB422649BC}"/>
              </a:ext>
            </a:extLst>
          </p:cNvPr>
          <p:cNvSpPr txBox="1"/>
          <p:nvPr/>
        </p:nvSpPr>
        <p:spPr>
          <a:xfrm>
            <a:off x="10744200" y="758952"/>
            <a:ext cx="7498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500" b="1" i="0" dirty="0">
                <a:solidFill>
                  <a:srgbClr val="5BF2D3"/>
                </a:solidFill>
                <a:latin typeface="CarbonType"/>
              </a:rPr>
              <a:t>02</a:t>
            </a:r>
            <a:endParaRPr sz="1500" b="1" i="0" dirty="0">
              <a:solidFill>
                <a:srgbClr val="5BF2D3"/>
              </a:solidFill>
              <a:latin typeface="CarbonTyp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C640E7-F5D6-76BC-6152-7FD0A7E58B6C}"/>
              </a:ext>
            </a:extLst>
          </p:cNvPr>
          <p:cNvSpPr/>
          <p:nvPr/>
        </p:nvSpPr>
        <p:spPr>
          <a:xfrm>
            <a:off x="658368" y="6272784"/>
            <a:ext cx="10872216" cy="16459"/>
          </a:xfrm>
          <a:prstGeom prst="rect">
            <a:avLst/>
          </a:prstGeom>
          <a:solidFill>
            <a:srgbClr val="63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ub footer">
            <a:extLst>
              <a:ext uri="{FF2B5EF4-FFF2-40B4-BE49-F238E27FC236}">
                <a16:creationId xmlns:a16="http://schemas.microsoft.com/office/drawing/2014/main" id="{59818906-B168-8DBF-95B5-143BE1312C5E}"/>
              </a:ext>
            </a:extLst>
          </p:cNvPr>
          <p:cNvSpPr txBox="1"/>
          <p:nvPr/>
        </p:nvSpPr>
        <p:spPr>
          <a:xfrm>
            <a:off x="7315200" y="63825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F2D3"/>
                </a:solidFill>
                <a:latin typeface="Aptos"/>
              </a:rPr>
              <a:t>CEDAR RAPIDS AREA  /  4000hmSk1llz</a:t>
            </a:r>
          </a:p>
        </p:txBody>
      </p:sp>
      <p:sp>
        <p:nvSpPr>
          <p:cNvPr id="11" name="Slide type">
            <a:extLst>
              <a:ext uri="{FF2B5EF4-FFF2-40B4-BE49-F238E27FC236}">
                <a16:creationId xmlns:a16="http://schemas.microsoft.com/office/drawing/2014/main" id="{61CA0FAA-D943-F5D6-BBC5-22DF41EEF9BC}"/>
              </a:ext>
            </a:extLst>
          </p:cNvPr>
          <p:cNvSpPr txBox="1"/>
          <p:nvPr/>
        </p:nvSpPr>
        <p:spPr>
          <a:xfrm>
            <a:off x="658368" y="6382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AB9D2"/>
                </a:solidFill>
                <a:latin typeface="Aptos"/>
              </a:rPr>
              <a:t>TWO-COLUMN POINTS</a:t>
            </a:r>
          </a:p>
        </p:txBody>
      </p:sp>
      <p:sp>
        <p:nvSpPr>
          <p:cNvPr id="12" name="Left column heading">
            <a:extLst>
              <a:ext uri="{FF2B5EF4-FFF2-40B4-BE49-F238E27FC236}">
                <a16:creationId xmlns:a16="http://schemas.microsoft.com/office/drawing/2014/main" id="{8DA0FD64-AD34-80C7-8E92-B96A1D820011}"/>
              </a:ext>
            </a:extLst>
          </p:cNvPr>
          <p:cNvSpPr txBox="1"/>
          <p:nvPr/>
        </p:nvSpPr>
        <p:spPr>
          <a:xfrm>
            <a:off x="841248" y="1719072"/>
            <a:ext cx="8849980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FAA91"/>
                </a:solidFill>
                <a:latin typeface="CarbonType"/>
              </a:rPr>
              <a:t>Team member: </a:t>
            </a:r>
            <a:br>
              <a:rPr lang="en-US" sz="1600" b="1" dirty="0">
                <a:solidFill>
                  <a:srgbClr val="FFAA91"/>
                </a:solidFill>
                <a:latin typeface="CarbonType"/>
              </a:rPr>
            </a:br>
            <a:br>
              <a:rPr lang="en-US" sz="1600" b="1" dirty="0">
                <a:solidFill>
                  <a:srgbClr val="FFAA91"/>
                </a:solidFill>
                <a:latin typeface="CarbonType"/>
              </a:rPr>
            </a:br>
            <a:r>
              <a:rPr lang="en-US" sz="1600" dirty="0">
                <a:solidFill>
                  <a:srgbClr val="FFAA91"/>
                </a:solidFill>
                <a:latin typeface="CarbonType"/>
              </a:rPr>
              <a:t>I was still in presentation mode, so I didn't record answers here. But the answers had a common theme: teamwork.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AA91"/>
                </a:solidFill>
                <a:latin typeface="CarbonType"/>
              </a:rPr>
              <a:t>Helping each other when needed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AA91"/>
                </a:solidFill>
                <a:latin typeface="CarbonType"/>
              </a:rPr>
              <a:t>Knowing everyone's strengths to coordinate knowledge sharing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rgbClr val="FFAA91"/>
                </a:solidFill>
                <a:latin typeface="CarbonType"/>
              </a:rPr>
              <a:t>Working together on in-class exercises and homework to maintain and grow teamwork</a:t>
            </a:r>
            <a:endParaRPr sz="1600" i="0" dirty="0">
              <a:solidFill>
                <a:srgbClr val="FFAA91"/>
              </a:solidFill>
              <a:latin typeface="CarbonType"/>
            </a:endParaRPr>
          </a:p>
        </p:txBody>
      </p:sp>
    </p:spTree>
    <p:extLst>
      <p:ext uri="{BB962C8B-B14F-4D97-AF65-F5344CB8AC3E}">
        <p14:creationId xmlns:p14="http://schemas.microsoft.com/office/powerpoint/2010/main" val="2604028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A0A2-A6EA-90BC-0817-A743AE737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C9A08-BF2C-1336-3F24-4A2A2A9BD23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5EA6A7-B039-4BD8-7949-44E9FC5807B1}"/>
              </a:ext>
            </a:extLst>
          </p:cNvPr>
          <p:cNvSpPr/>
          <p:nvPr/>
        </p:nvSpPr>
        <p:spPr>
          <a:xfrm>
            <a:off x="658368" y="438912"/>
            <a:ext cx="2286000" cy="32004"/>
          </a:xfrm>
          <a:prstGeom prst="rect">
            <a:avLst/>
          </a:prstGeom>
          <a:solidFill>
            <a:srgbClr val="5B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49AC8-829E-667B-1158-4B81A9474BF7}"/>
              </a:ext>
            </a:extLst>
          </p:cNvPr>
          <p:cNvSpPr/>
          <p:nvPr/>
        </p:nvSpPr>
        <p:spPr>
          <a:xfrm>
            <a:off x="2944368" y="438912"/>
            <a:ext cx="777240" cy="32004"/>
          </a:xfrm>
          <a:prstGeom prst="rect">
            <a:avLst/>
          </a:prstGeom>
          <a:solidFill>
            <a:srgbClr val="C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ason marker">
            <a:extLst>
              <a:ext uri="{FF2B5EF4-FFF2-40B4-BE49-F238E27FC236}">
                <a16:creationId xmlns:a16="http://schemas.microsoft.com/office/drawing/2014/main" id="{B99CBFE1-3C74-3377-9482-0546DA9D0330}"/>
              </a:ext>
            </a:extLst>
          </p:cNvPr>
          <p:cNvSpPr txBox="1"/>
          <p:nvPr/>
        </p:nvSpPr>
        <p:spPr>
          <a:xfrm>
            <a:off x="658368" y="1645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458BFEB4-132D-8835-3E21-75C5829EBA1B}"/>
              </a:ext>
            </a:extLst>
          </p:cNvPr>
          <p:cNvSpPr txBox="1"/>
          <p:nvPr/>
        </p:nvSpPr>
        <p:spPr>
          <a:xfrm>
            <a:off x="658368" y="698510"/>
            <a:ext cx="99669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400" b="1" i="0" dirty="0">
                <a:solidFill>
                  <a:srgbClr val="F5F8FF"/>
                </a:solidFill>
                <a:latin typeface="CarbonType"/>
              </a:rPr>
              <a:t>Pop quiz: what makes a team member valuable?</a:t>
            </a:r>
            <a:endParaRPr sz="3400" b="1" i="0" dirty="0">
              <a:solidFill>
                <a:srgbClr val="F5F8FF"/>
              </a:solidFill>
              <a:latin typeface="CarbonType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DD3BBDC8-8A36-9DA2-5A28-42A75D39D1B4}"/>
              </a:ext>
            </a:extLst>
          </p:cNvPr>
          <p:cNvSpPr txBox="1"/>
          <p:nvPr/>
        </p:nvSpPr>
        <p:spPr>
          <a:xfrm>
            <a:off x="694944" y="1271016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1" dirty="0">
                <a:solidFill>
                  <a:srgbClr val="FFAA91"/>
                </a:solidFill>
                <a:latin typeface="Aptos"/>
              </a:rPr>
              <a:t>Subliminal message: there are several good answers. Really, lots of them.</a:t>
            </a:r>
            <a:endParaRPr sz="1300" b="0" i="1" dirty="0">
              <a:solidFill>
                <a:srgbClr val="FFAA91"/>
              </a:solidFill>
              <a:latin typeface="Aptos"/>
            </a:endParaRPr>
          </a:p>
        </p:txBody>
      </p:sp>
      <p:sp>
        <p:nvSpPr>
          <p:cNvPr id="8" name="Layout number">
            <a:extLst>
              <a:ext uri="{FF2B5EF4-FFF2-40B4-BE49-F238E27FC236}">
                <a16:creationId xmlns:a16="http://schemas.microsoft.com/office/drawing/2014/main" id="{51635E62-9361-17AA-F83E-E8C8DB2CBEF6}"/>
              </a:ext>
            </a:extLst>
          </p:cNvPr>
          <p:cNvSpPr txBox="1"/>
          <p:nvPr/>
        </p:nvSpPr>
        <p:spPr>
          <a:xfrm>
            <a:off x="10744200" y="758952"/>
            <a:ext cx="7498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500" b="1" i="0" dirty="0">
                <a:solidFill>
                  <a:srgbClr val="5BF2D3"/>
                </a:solidFill>
                <a:latin typeface="CarbonType"/>
              </a:rPr>
              <a:t>02</a:t>
            </a:r>
            <a:endParaRPr sz="1500" b="1" i="0" dirty="0">
              <a:solidFill>
                <a:srgbClr val="5BF2D3"/>
              </a:solidFill>
              <a:latin typeface="CarbonTyp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F4AEB2-4B72-4580-3A81-67FCA5E2B843}"/>
              </a:ext>
            </a:extLst>
          </p:cNvPr>
          <p:cNvSpPr/>
          <p:nvPr/>
        </p:nvSpPr>
        <p:spPr>
          <a:xfrm>
            <a:off x="658368" y="6272784"/>
            <a:ext cx="10872216" cy="16459"/>
          </a:xfrm>
          <a:prstGeom prst="rect">
            <a:avLst/>
          </a:prstGeom>
          <a:solidFill>
            <a:srgbClr val="63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ub footer">
            <a:extLst>
              <a:ext uri="{FF2B5EF4-FFF2-40B4-BE49-F238E27FC236}">
                <a16:creationId xmlns:a16="http://schemas.microsoft.com/office/drawing/2014/main" id="{BAF17AC5-BE40-629B-B8AB-6BE2736FA386}"/>
              </a:ext>
            </a:extLst>
          </p:cNvPr>
          <p:cNvSpPr txBox="1"/>
          <p:nvPr/>
        </p:nvSpPr>
        <p:spPr>
          <a:xfrm>
            <a:off x="7315200" y="63825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F2D3"/>
                </a:solidFill>
                <a:latin typeface="Aptos"/>
              </a:rPr>
              <a:t>CEDAR RAPIDS AREA  /  4000hmSk1llz</a:t>
            </a:r>
          </a:p>
        </p:txBody>
      </p:sp>
      <p:sp>
        <p:nvSpPr>
          <p:cNvPr id="11" name="Slide type">
            <a:extLst>
              <a:ext uri="{FF2B5EF4-FFF2-40B4-BE49-F238E27FC236}">
                <a16:creationId xmlns:a16="http://schemas.microsoft.com/office/drawing/2014/main" id="{B21D280C-74D4-82C2-1609-42384E05D5FA}"/>
              </a:ext>
            </a:extLst>
          </p:cNvPr>
          <p:cNvSpPr txBox="1"/>
          <p:nvPr/>
        </p:nvSpPr>
        <p:spPr>
          <a:xfrm>
            <a:off x="658368" y="6382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AB9D2"/>
                </a:solidFill>
                <a:latin typeface="Aptos"/>
              </a:rPr>
              <a:t>TWO-COLUMN POINTS</a:t>
            </a:r>
          </a:p>
        </p:txBody>
      </p:sp>
      <p:sp>
        <p:nvSpPr>
          <p:cNvPr id="12" name="Left column heading">
            <a:extLst>
              <a:ext uri="{FF2B5EF4-FFF2-40B4-BE49-F238E27FC236}">
                <a16:creationId xmlns:a16="http://schemas.microsoft.com/office/drawing/2014/main" id="{A9D45917-BCB5-384C-A574-D6AFBD24A456}"/>
              </a:ext>
            </a:extLst>
          </p:cNvPr>
          <p:cNvSpPr txBox="1"/>
          <p:nvPr/>
        </p:nvSpPr>
        <p:spPr>
          <a:xfrm>
            <a:off x="841248" y="1719072"/>
            <a:ext cx="8920480" cy="224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AA91"/>
                </a:solidFill>
                <a:latin typeface="CarbonType"/>
              </a:rPr>
              <a:t>Curiosity:</a:t>
            </a:r>
            <a:r>
              <a:rPr lang="en-US" sz="1600" dirty="0">
                <a:solidFill>
                  <a:srgbClr val="FFAA91"/>
                </a:solidFill>
                <a:latin typeface="CarbonType"/>
              </a:rPr>
              <a:t> in tech, this is probably the most important trait to </a:t>
            </a:r>
            <a:r>
              <a:rPr lang="en-US" sz="1600" dirty="0" err="1">
                <a:solidFill>
                  <a:srgbClr val="FFAA91"/>
                </a:solidFill>
                <a:latin typeface="CarbonType"/>
              </a:rPr>
              <a:t>have</a:t>
            </a:r>
            <a:r>
              <a:rPr lang="en-US" sz="1600" b="1" dirty="0" err="1">
                <a:solidFill>
                  <a:srgbClr val="FFAA91"/>
                </a:solidFill>
                <a:latin typeface="CarbonType"/>
              </a:rPr>
              <a:t>Regular</a:t>
            </a:r>
            <a:r>
              <a:rPr lang="en-US" sz="1600" b="1" dirty="0">
                <a:solidFill>
                  <a:srgbClr val="FFAA91"/>
                </a:solidFill>
                <a:latin typeface="CarbonType"/>
              </a:rPr>
              <a:t> attendance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AA91"/>
                </a:solidFill>
                <a:latin typeface="CarbonType"/>
              </a:rPr>
              <a:t>Putting effort into learning the material</a:t>
            </a:r>
            <a:r>
              <a:rPr lang="en-US" sz="1600" dirty="0">
                <a:solidFill>
                  <a:srgbClr val="FFAA91"/>
                </a:solidFill>
                <a:latin typeface="CarbonType"/>
              </a:rPr>
              <a:t>: the more you invest in the class, the more you'll benefit</a:t>
            </a:r>
            <a:endParaRPr lang="en-US" sz="1600" b="1" dirty="0">
              <a:solidFill>
                <a:srgbClr val="FFAA91"/>
              </a:solidFill>
              <a:latin typeface="CarbonType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AA91"/>
                </a:solidFill>
                <a:latin typeface="CarbonType"/>
              </a:rPr>
              <a:t>Teamwork: </a:t>
            </a:r>
            <a:r>
              <a:rPr lang="en-US" sz="1600" dirty="0">
                <a:solidFill>
                  <a:srgbClr val="FFAA91"/>
                </a:solidFill>
                <a:latin typeface="CarbonType"/>
              </a:rPr>
              <a:t>see previous slide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AA91"/>
                </a:solidFill>
                <a:latin typeface="CarbonType"/>
              </a:rPr>
              <a:t>Know how to do a bunch of this stuff already</a:t>
            </a:r>
            <a:r>
              <a:rPr lang="en-US" sz="1600" dirty="0">
                <a:solidFill>
                  <a:srgbClr val="FFAA91"/>
                </a:solidFill>
                <a:latin typeface="CarbonType"/>
              </a:rPr>
              <a:t>: kind of obvious</a:t>
            </a:r>
            <a:endParaRPr lang="en-US" sz="1600" b="1" dirty="0">
              <a:solidFill>
                <a:srgbClr val="FFAA91"/>
              </a:solidFill>
              <a:latin typeface="CarbonType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AA91"/>
                </a:solidFill>
                <a:latin typeface="CarbonType"/>
              </a:rPr>
              <a:t>Don't know how to do any of this yet</a:t>
            </a:r>
            <a:r>
              <a:rPr lang="en-US" sz="1600" dirty="0">
                <a:solidFill>
                  <a:srgbClr val="FFAA91"/>
                </a:solidFill>
                <a:latin typeface="CarbonType"/>
              </a:rPr>
              <a:t>: a team member with less skills has a higher potential gain</a:t>
            </a:r>
            <a:endParaRPr lang="en-US" sz="1600" b="1" dirty="0">
              <a:solidFill>
                <a:srgbClr val="FFAA91"/>
              </a:solidFill>
              <a:latin typeface="CarbonTyp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600" b="1" i="0" dirty="0">
              <a:solidFill>
                <a:srgbClr val="FFAA91"/>
              </a:solidFill>
              <a:latin typeface="CarbonType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2C90C1-FC1C-3DB8-0F31-30DED37B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53" y="3793132"/>
            <a:ext cx="6926432" cy="223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08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38912"/>
            <a:ext cx="2286000" cy="32004"/>
          </a:xfrm>
          <a:prstGeom prst="rect">
            <a:avLst/>
          </a:prstGeom>
          <a:solidFill>
            <a:srgbClr val="5B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44368" y="438912"/>
            <a:ext cx="777240" cy="32004"/>
          </a:xfrm>
          <a:prstGeom prst="rect">
            <a:avLst/>
          </a:prstGeom>
          <a:solidFill>
            <a:srgbClr val="C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ason marker"/>
          <p:cNvSpPr txBox="1"/>
          <p:nvPr/>
        </p:nvSpPr>
        <p:spPr>
          <a:xfrm>
            <a:off x="658368" y="1645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6" name="Slide title"/>
          <p:cNvSpPr txBox="1"/>
          <p:nvPr/>
        </p:nvSpPr>
        <p:spPr>
          <a:xfrm>
            <a:off x="658368" y="698510"/>
            <a:ext cx="99669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400" b="1" i="0" dirty="0">
                <a:solidFill>
                  <a:srgbClr val="F5F8FF"/>
                </a:solidFill>
                <a:latin typeface="CarbonType"/>
              </a:rPr>
              <a:t>Welcome to the club!</a:t>
            </a:r>
            <a:endParaRPr sz="3400" b="1" i="0" dirty="0">
              <a:solidFill>
                <a:srgbClr val="F5F8FF"/>
              </a:solidFill>
              <a:latin typeface="CarbonType"/>
            </a:endParaRPr>
          </a:p>
        </p:txBody>
      </p:sp>
      <p:sp>
        <p:nvSpPr>
          <p:cNvPr id="7" name="Subtitle"/>
          <p:cNvSpPr txBox="1"/>
          <p:nvPr/>
        </p:nvSpPr>
        <p:spPr>
          <a:xfrm>
            <a:off x="694944" y="1271016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i="1" dirty="0">
                <a:solidFill>
                  <a:srgbClr val="FFAA91"/>
                </a:solidFill>
                <a:latin typeface="Aptos"/>
              </a:rPr>
              <a:t>s</a:t>
            </a:r>
            <a:r>
              <a:rPr lang="en-US" sz="1300" b="0" i="1" dirty="0">
                <a:solidFill>
                  <a:srgbClr val="FFAA91"/>
                </a:solidFill>
                <a:latin typeface="Aptos"/>
              </a:rPr>
              <a:t>ubliminal message: see subliminal message to the right</a:t>
            </a:r>
            <a:endParaRPr sz="1300" b="0" i="1" dirty="0">
              <a:solidFill>
                <a:srgbClr val="FFAA91"/>
              </a:solidFill>
              <a:latin typeface="Aptos"/>
            </a:endParaRPr>
          </a:p>
        </p:txBody>
      </p:sp>
      <p:sp>
        <p:nvSpPr>
          <p:cNvPr id="8" name="Layout number"/>
          <p:cNvSpPr txBox="1"/>
          <p:nvPr/>
        </p:nvSpPr>
        <p:spPr>
          <a:xfrm>
            <a:off x="10744200" y="758952"/>
            <a:ext cx="7498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500" b="1" i="0" dirty="0">
                <a:solidFill>
                  <a:srgbClr val="5BF2D3"/>
                </a:solidFill>
                <a:latin typeface="CarbonType"/>
              </a:rPr>
              <a:t>04</a:t>
            </a:r>
            <a:endParaRPr sz="1500" b="1" i="0" dirty="0">
              <a:solidFill>
                <a:srgbClr val="5BF2D3"/>
              </a:solidFill>
              <a:latin typeface="CarbonType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368" y="6272784"/>
            <a:ext cx="10872216" cy="16459"/>
          </a:xfrm>
          <a:prstGeom prst="rect">
            <a:avLst/>
          </a:prstGeom>
          <a:solidFill>
            <a:srgbClr val="63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ub footer"/>
          <p:cNvSpPr txBox="1"/>
          <p:nvPr/>
        </p:nvSpPr>
        <p:spPr>
          <a:xfrm>
            <a:off x="7315200" y="63825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F2D3"/>
                </a:solidFill>
                <a:latin typeface="Aptos"/>
              </a:rPr>
              <a:t>CEDAR RAPIDS AREA  /  4000hmSk1llz</a:t>
            </a:r>
          </a:p>
        </p:txBody>
      </p:sp>
      <p:sp>
        <p:nvSpPr>
          <p:cNvPr id="11" name="Slide type"/>
          <p:cNvSpPr txBox="1"/>
          <p:nvPr/>
        </p:nvSpPr>
        <p:spPr>
          <a:xfrm>
            <a:off x="658368" y="6382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AB9D2"/>
                </a:solidFill>
                <a:latin typeface="Aptos"/>
              </a:rPr>
              <a:t>BULLET POINTS</a:t>
            </a:r>
          </a:p>
        </p:txBody>
      </p:sp>
      <p:sp>
        <p:nvSpPr>
          <p:cNvPr id="12" name="Visual anchor"/>
          <p:cNvSpPr txBox="1"/>
          <p:nvPr/>
        </p:nvSpPr>
        <p:spPr>
          <a:xfrm>
            <a:off x="8221538" y="1633224"/>
            <a:ext cx="333358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4800" b="1" i="0" dirty="0">
                <a:solidFill>
                  <a:srgbClr val="C14DFF"/>
                </a:solidFill>
                <a:latin typeface="CarbonType"/>
              </a:rPr>
              <a:t>SUBLIMINAL MESSAGE</a:t>
            </a:r>
            <a:endParaRPr sz="4800" b="1" i="0" dirty="0">
              <a:solidFill>
                <a:srgbClr val="C14DFF"/>
              </a:solidFill>
              <a:latin typeface="CarbonType"/>
            </a:endParaRPr>
          </a:p>
        </p:txBody>
      </p:sp>
      <p:sp>
        <p:nvSpPr>
          <p:cNvPr id="13" name="Takeaway prompt"/>
          <p:cNvSpPr txBox="1"/>
          <p:nvPr/>
        </p:nvSpPr>
        <p:spPr>
          <a:xfrm>
            <a:off x="8915400" y="3193451"/>
            <a:ext cx="26060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800" b="0" i="0" dirty="0">
                <a:solidFill>
                  <a:srgbClr val="AAB9D2"/>
                </a:solidFill>
                <a:latin typeface="Aptos"/>
              </a:rPr>
              <a:t>You love working </a:t>
            </a:r>
            <a:r>
              <a:rPr lang="en-US" dirty="0">
                <a:solidFill>
                  <a:srgbClr val="AAB9D2"/>
                </a:solidFill>
                <a:latin typeface="Aptos"/>
              </a:rPr>
              <a:t>with terminals</a:t>
            </a:r>
            <a:endParaRPr lang="en-US" sz="1800" b="0" i="0" dirty="0">
              <a:solidFill>
                <a:srgbClr val="AAB9D2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65008" y="1764792"/>
            <a:ext cx="22860" cy="3639312"/>
          </a:xfrm>
          <a:prstGeom prst="rect">
            <a:avLst/>
          </a:prstGeom>
          <a:solidFill>
            <a:srgbClr val="FF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ditable bullet list"/>
          <p:cNvSpPr txBox="1"/>
          <p:nvPr/>
        </p:nvSpPr>
        <p:spPr>
          <a:xfrm>
            <a:off x="841248" y="1719072"/>
            <a:ext cx="6629400" cy="383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</a:pPr>
            <a:r>
              <a:rPr lang="en-US" sz="2300" b="1" dirty="0">
                <a:solidFill>
                  <a:srgbClr val="5BF2D3"/>
                </a:solidFill>
                <a:latin typeface="Aptos"/>
              </a:rPr>
              <a:t>•  </a:t>
            </a:r>
            <a:r>
              <a:rPr lang="en-US" sz="2300" dirty="0">
                <a:solidFill>
                  <a:srgbClr val="F5F8FF"/>
                </a:solidFill>
                <a:latin typeface="Aptos"/>
              </a:rPr>
              <a:t>Who are we? </a:t>
            </a:r>
          </a:p>
          <a:p>
            <a:pPr marL="800100" lvl="1" indent="-342900"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Team 5. Always.</a:t>
            </a:r>
          </a:p>
          <a:p>
            <a:pPr marL="800100" lvl="1" indent="-342900"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A class that studies computer stuff.</a:t>
            </a:r>
          </a:p>
          <a:p>
            <a:pPr marL="800100" lvl="1" indent="-342900"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We study Linux, Windows, cyber </a:t>
            </a:r>
            <a:r>
              <a:rPr lang="en-US" sz="2300" i="1" dirty="0">
                <a:solidFill>
                  <a:schemeClr val="bg1"/>
                </a:solidFill>
                <a:latin typeface="Aptos"/>
              </a:rPr>
              <a:t>defense</a:t>
            </a:r>
            <a:r>
              <a:rPr lang="en-US" sz="2300" dirty="0">
                <a:solidFill>
                  <a:schemeClr val="bg1"/>
                </a:solidFill>
                <a:latin typeface="Aptos"/>
              </a:rPr>
              <a:t>, and related topics.</a:t>
            </a:r>
          </a:p>
          <a:p>
            <a:pPr marL="800100" lvl="1" indent="-342900"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We compete in two competitions in the spring.</a:t>
            </a:r>
          </a:p>
          <a:p>
            <a:pPr marL="800100" lvl="1" indent="-342900">
              <a:lnSpc>
                <a:spcPct val="105000"/>
              </a:lnSpc>
              <a:spcBef>
                <a:spcPts val="1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endParaRPr sz="2300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B7C30-A9C1-AA83-CB35-8082F036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4E9765-BC6C-C2EA-68C1-1249B1FF85D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50E13E-95DF-F6B3-AE6E-F244D90AC4B6}"/>
              </a:ext>
            </a:extLst>
          </p:cNvPr>
          <p:cNvSpPr/>
          <p:nvPr/>
        </p:nvSpPr>
        <p:spPr>
          <a:xfrm>
            <a:off x="658368" y="438912"/>
            <a:ext cx="2286000" cy="32004"/>
          </a:xfrm>
          <a:prstGeom prst="rect">
            <a:avLst/>
          </a:prstGeom>
          <a:solidFill>
            <a:srgbClr val="5B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1A046-CDFF-1B03-AF1B-26DCECA18E4D}"/>
              </a:ext>
            </a:extLst>
          </p:cNvPr>
          <p:cNvSpPr/>
          <p:nvPr/>
        </p:nvSpPr>
        <p:spPr>
          <a:xfrm>
            <a:off x="2944368" y="438912"/>
            <a:ext cx="777240" cy="32004"/>
          </a:xfrm>
          <a:prstGeom prst="rect">
            <a:avLst/>
          </a:prstGeom>
          <a:solidFill>
            <a:srgbClr val="C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ason marker">
            <a:extLst>
              <a:ext uri="{FF2B5EF4-FFF2-40B4-BE49-F238E27FC236}">
                <a16:creationId xmlns:a16="http://schemas.microsoft.com/office/drawing/2014/main" id="{4A340F8C-37CE-20DE-03BF-5DE2A5D3A7A6}"/>
              </a:ext>
            </a:extLst>
          </p:cNvPr>
          <p:cNvSpPr txBox="1"/>
          <p:nvPr/>
        </p:nvSpPr>
        <p:spPr>
          <a:xfrm>
            <a:off x="658368" y="1645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A1E2090-4280-FEB4-3A1F-AC8451D0306A}"/>
              </a:ext>
            </a:extLst>
          </p:cNvPr>
          <p:cNvSpPr txBox="1"/>
          <p:nvPr/>
        </p:nvSpPr>
        <p:spPr>
          <a:xfrm>
            <a:off x="658368" y="698510"/>
            <a:ext cx="99669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400" b="1" i="0" dirty="0">
                <a:solidFill>
                  <a:srgbClr val="F5F8FF"/>
                </a:solidFill>
                <a:latin typeface="CarbonType"/>
              </a:rPr>
              <a:t>Welcome to the club!</a:t>
            </a:r>
            <a:endParaRPr sz="3400" b="1" i="0" dirty="0">
              <a:solidFill>
                <a:srgbClr val="F5F8FF"/>
              </a:solidFill>
              <a:latin typeface="CarbonType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364F7E0-5F18-BB78-9FC6-389376FCB959}"/>
              </a:ext>
            </a:extLst>
          </p:cNvPr>
          <p:cNvSpPr txBox="1"/>
          <p:nvPr/>
        </p:nvSpPr>
        <p:spPr>
          <a:xfrm>
            <a:off x="694944" y="1271016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i="1" dirty="0">
                <a:solidFill>
                  <a:srgbClr val="FFAA91"/>
                </a:solidFill>
                <a:latin typeface="Aptos"/>
              </a:rPr>
              <a:t>s</a:t>
            </a:r>
            <a:r>
              <a:rPr lang="en-US" sz="1300" b="0" i="1" dirty="0">
                <a:solidFill>
                  <a:srgbClr val="FFAA91"/>
                </a:solidFill>
                <a:latin typeface="Aptos"/>
              </a:rPr>
              <a:t>ubliminal message: see subliminal message to the right</a:t>
            </a:r>
            <a:endParaRPr sz="1300" b="0" i="1" dirty="0">
              <a:solidFill>
                <a:srgbClr val="FFAA91"/>
              </a:solidFill>
              <a:latin typeface="Aptos"/>
            </a:endParaRPr>
          </a:p>
        </p:txBody>
      </p:sp>
      <p:sp>
        <p:nvSpPr>
          <p:cNvPr id="8" name="Layout number">
            <a:extLst>
              <a:ext uri="{FF2B5EF4-FFF2-40B4-BE49-F238E27FC236}">
                <a16:creationId xmlns:a16="http://schemas.microsoft.com/office/drawing/2014/main" id="{7E6A6761-81EE-A017-483A-BBCE0EF5E619}"/>
              </a:ext>
            </a:extLst>
          </p:cNvPr>
          <p:cNvSpPr txBox="1"/>
          <p:nvPr/>
        </p:nvSpPr>
        <p:spPr>
          <a:xfrm>
            <a:off x="10744200" y="758952"/>
            <a:ext cx="7498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500" b="1" i="0" dirty="0">
                <a:solidFill>
                  <a:srgbClr val="5BF2D3"/>
                </a:solidFill>
                <a:latin typeface="CarbonType"/>
              </a:rPr>
              <a:t>02</a:t>
            </a:r>
            <a:endParaRPr sz="1500" b="1" i="0" dirty="0">
              <a:solidFill>
                <a:srgbClr val="5BF2D3"/>
              </a:solidFill>
              <a:latin typeface="CarbonTyp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93F4D0-292D-9E83-AD90-B29FAFC6F5C6}"/>
              </a:ext>
            </a:extLst>
          </p:cNvPr>
          <p:cNvSpPr/>
          <p:nvPr/>
        </p:nvSpPr>
        <p:spPr>
          <a:xfrm>
            <a:off x="658368" y="6272784"/>
            <a:ext cx="10872216" cy="16459"/>
          </a:xfrm>
          <a:prstGeom prst="rect">
            <a:avLst/>
          </a:prstGeom>
          <a:solidFill>
            <a:srgbClr val="63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ub footer">
            <a:extLst>
              <a:ext uri="{FF2B5EF4-FFF2-40B4-BE49-F238E27FC236}">
                <a16:creationId xmlns:a16="http://schemas.microsoft.com/office/drawing/2014/main" id="{DD4EEF54-F467-21C4-3B78-D7FF0DE0FC51}"/>
              </a:ext>
            </a:extLst>
          </p:cNvPr>
          <p:cNvSpPr txBox="1"/>
          <p:nvPr/>
        </p:nvSpPr>
        <p:spPr>
          <a:xfrm>
            <a:off x="7315200" y="63825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F2D3"/>
                </a:solidFill>
                <a:latin typeface="Aptos"/>
              </a:rPr>
              <a:t>CEDAR RAPIDS AREA  /  4000hmSk1llz</a:t>
            </a:r>
          </a:p>
        </p:txBody>
      </p:sp>
      <p:sp>
        <p:nvSpPr>
          <p:cNvPr id="11" name="Slide type">
            <a:extLst>
              <a:ext uri="{FF2B5EF4-FFF2-40B4-BE49-F238E27FC236}">
                <a16:creationId xmlns:a16="http://schemas.microsoft.com/office/drawing/2014/main" id="{0B375C73-568F-FBAD-F3A1-C95C205966FC}"/>
              </a:ext>
            </a:extLst>
          </p:cNvPr>
          <p:cNvSpPr txBox="1"/>
          <p:nvPr/>
        </p:nvSpPr>
        <p:spPr>
          <a:xfrm>
            <a:off x="658368" y="6382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AB9D2"/>
                </a:solidFill>
                <a:latin typeface="Aptos"/>
              </a:rPr>
              <a:t>BULLET POINTS</a:t>
            </a:r>
          </a:p>
        </p:txBody>
      </p:sp>
      <p:sp>
        <p:nvSpPr>
          <p:cNvPr id="12" name="Visual anchor">
            <a:extLst>
              <a:ext uri="{FF2B5EF4-FFF2-40B4-BE49-F238E27FC236}">
                <a16:creationId xmlns:a16="http://schemas.microsoft.com/office/drawing/2014/main" id="{D293A367-21D5-CE69-28E7-844CEB6742EF}"/>
              </a:ext>
            </a:extLst>
          </p:cNvPr>
          <p:cNvSpPr txBox="1"/>
          <p:nvPr/>
        </p:nvSpPr>
        <p:spPr>
          <a:xfrm>
            <a:off x="8221538" y="1633224"/>
            <a:ext cx="333358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4800" b="1" i="0" dirty="0">
                <a:solidFill>
                  <a:srgbClr val="C14DFF"/>
                </a:solidFill>
                <a:latin typeface="CarbonType"/>
              </a:rPr>
              <a:t>SUBLIMINAL MESSAGE</a:t>
            </a:r>
            <a:endParaRPr sz="4800" b="1" i="0" dirty="0">
              <a:solidFill>
                <a:srgbClr val="C14DFF"/>
              </a:solidFill>
              <a:latin typeface="CarbonType"/>
            </a:endParaRPr>
          </a:p>
        </p:txBody>
      </p:sp>
      <p:sp>
        <p:nvSpPr>
          <p:cNvPr id="13" name="Takeaway prompt">
            <a:extLst>
              <a:ext uri="{FF2B5EF4-FFF2-40B4-BE49-F238E27FC236}">
                <a16:creationId xmlns:a16="http://schemas.microsoft.com/office/drawing/2014/main" id="{E8D97F10-4DB6-544C-6FE7-28862F86A603}"/>
              </a:ext>
            </a:extLst>
          </p:cNvPr>
          <p:cNvSpPr txBox="1"/>
          <p:nvPr/>
        </p:nvSpPr>
        <p:spPr>
          <a:xfrm>
            <a:off x="8915400" y="3193451"/>
            <a:ext cx="2606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800" b="0" i="0" dirty="0">
                <a:solidFill>
                  <a:srgbClr val="AAB9D2"/>
                </a:solidFill>
                <a:latin typeface="Aptos"/>
              </a:rPr>
              <a:t>We can't study everything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DBABC7-6294-AA5B-0363-83F191D51E28}"/>
              </a:ext>
            </a:extLst>
          </p:cNvPr>
          <p:cNvSpPr/>
          <p:nvPr/>
        </p:nvSpPr>
        <p:spPr>
          <a:xfrm>
            <a:off x="8065008" y="1764792"/>
            <a:ext cx="22860" cy="3639312"/>
          </a:xfrm>
          <a:prstGeom prst="rect">
            <a:avLst/>
          </a:prstGeom>
          <a:solidFill>
            <a:srgbClr val="FF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ditable bullet list">
            <a:extLst>
              <a:ext uri="{FF2B5EF4-FFF2-40B4-BE49-F238E27FC236}">
                <a16:creationId xmlns:a16="http://schemas.microsoft.com/office/drawing/2014/main" id="{E133629B-CDAE-44E8-9D33-B2118D336DA1}"/>
              </a:ext>
            </a:extLst>
          </p:cNvPr>
          <p:cNvSpPr txBox="1"/>
          <p:nvPr/>
        </p:nvSpPr>
        <p:spPr>
          <a:xfrm>
            <a:off x="841248" y="1719072"/>
            <a:ext cx="6629400" cy="27084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</a:pPr>
            <a:r>
              <a:rPr lang="en-US" sz="2300" b="1" dirty="0">
                <a:solidFill>
                  <a:srgbClr val="5BF2D3"/>
                </a:solidFill>
                <a:latin typeface="Aptos"/>
              </a:rPr>
              <a:t>•  </a:t>
            </a:r>
            <a:r>
              <a:rPr lang="en-US" sz="2300" dirty="0">
                <a:solidFill>
                  <a:srgbClr val="F5F8FF"/>
                </a:solidFill>
                <a:latin typeface="Aptos"/>
              </a:rPr>
              <a:t>What are we not? </a:t>
            </a:r>
          </a:p>
          <a:p>
            <a:pPr marL="800100" lvl="1" indent="-342900"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A programming class</a:t>
            </a:r>
          </a:p>
          <a:p>
            <a:pPr marL="800100" lvl="1" indent="-342900"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An A.I. workshop (though we will touch on this at times)</a:t>
            </a:r>
          </a:p>
          <a:p>
            <a:pPr marL="800100" lvl="1" indent="-342900"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A cyber </a:t>
            </a:r>
            <a:r>
              <a:rPr lang="en-US" sz="2300" i="1" dirty="0">
                <a:solidFill>
                  <a:schemeClr val="bg1"/>
                </a:solidFill>
                <a:latin typeface="Aptos"/>
              </a:rPr>
              <a:t>offense</a:t>
            </a:r>
            <a:r>
              <a:rPr lang="en-US" sz="2300" dirty="0">
                <a:solidFill>
                  <a:schemeClr val="bg1"/>
                </a:solidFill>
                <a:latin typeface="Aptos"/>
              </a:rPr>
              <a:t> team (though we will touch on some techniques)</a:t>
            </a:r>
            <a:endParaRPr sz="2300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3118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88E3-A3C2-0BFE-FDEA-5D014CEC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AC9181-968E-EA33-E2CE-7E245A9ACE9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7606EF-7CF7-B78E-4241-11035A06F208}"/>
              </a:ext>
            </a:extLst>
          </p:cNvPr>
          <p:cNvSpPr/>
          <p:nvPr/>
        </p:nvSpPr>
        <p:spPr>
          <a:xfrm>
            <a:off x="658368" y="438912"/>
            <a:ext cx="2286000" cy="32004"/>
          </a:xfrm>
          <a:prstGeom prst="rect">
            <a:avLst/>
          </a:prstGeom>
          <a:solidFill>
            <a:srgbClr val="5B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0CD53-8E38-E883-4DBB-82767001E0D2}"/>
              </a:ext>
            </a:extLst>
          </p:cNvPr>
          <p:cNvSpPr/>
          <p:nvPr/>
        </p:nvSpPr>
        <p:spPr>
          <a:xfrm>
            <a:off x="2944368" y="438912"/>
            <a:ext cx="777240" cy="32004"/>
          </a:xfrm>
          <a:prstGeom prst="rect">
            <a:avLst/>
          </a:prstGeom>
          <a:solidFill>
            <a:srgbClr val="C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ason marker">
            <a:extLst>
              <a:ext uri="{FF2B5EF4-FFF2-40B4-BE49-F238E27FC236}">
                <a16:creationId xmlns:a16="http://schemas.microsoft.com/office/drawing/2014/main" id="{91B0EDD9-586B-2F4B-4A7D-4C6DC9C4BAE1}"/>
              </a:ext>
            </a:extLst>
          </p:cNvPr>
          <p:cNvSpPr txBox="1"/>
          <p:nvPr/>
        </p:nvSpPr>
        <p:spPr>
          <a:xfrm>
            <a:off x="658368" y="1645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F2D3"/>
                </a:solidFill>
                <a:latin typeface="CarbonType"/>
              </a:rPr>
              <a:t>CEDAR RAPIDS AREA CYBER CLUB  /  2026–2027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F4C88094-3D90-717A-5376-B3AC191CE6CA}"/>
              </a:ext>
            </a:extLst>
          </p:cNvPr>
          <p:cNvSpPr txBox="1"/>
          <p:nvPr/>
        </p:nvSpPr>
        <p:spPr>
          <a:xfrm>
            <a:off x="658368" y="698510"/>
            <a:ext cx="996696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400" b="1" i="0" dirty="0">
                <a:solidFill>
                  <a:srgbClr val="F5F8FF"/>
                </a:solidFill>
                <a:latin typeface="CarbonType"/>
              </a:rPr>
              <a:t>Let's talk about the Internet</a:t>
            </a:r>
            <a:endParaRPr sz="3400" b="1" i="0" dirty="0">
              <a:solidFill>
                <a:srgbClr val="F5F8FF"/>
              </a:solidFill>
              <a:latin typeface="CarbonType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79C948CF-E869-F6CC-93AF-0EE39204D572}"/>
              </a:ext>
            </a:extLst>
          </p:cNvPr>
          <p:cNvSpPr txBox="1"/>
          <p:nvPr/>
        </p:nvSpPr>
        <p:spPr>
          <a:xfrm>
            <a:off x="694944" y="1271016"/>
            <a:ext cx="9418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i="1" dirty="0">
                <a:solidFill>
                  <a:srgbClr val="FFAA91"/>
                </a:solidFill>
                <a:latin typeface="Aptos"/>
              </a:rPr>
              <a:t>s</a:t>
            </a:r>
            <a:r>
              <a:rPr lang="en-US" sz="1300" b="0" i="1" dirty="0">
                <a:solidFill>
                  <a:srgbClr val="FFAA91"/>
                </a:solidFill>
                <a:latin typeface="Aptos"/>
              </a:rPr>
              <a:t>ubliminal message: see subliminal message to the right</a:t>
            </a:r>
            <a:endParaRPr sz="1300" b="0" i="1" dirty="0">
              <a:solidFill>
                <a:srgbClr val="FFAA91"/>
              </a:solidFill>
              <a:latin typeface="Aptos"/>
            </a:endParaRPr>
          </a:p>
        </p:txBody>
      </p:sp>
      <p:sp>
        <p:nvSpPr>
          <p:cNvPr id="8" name="Layout number">
            <a:extLst>
              <a:ext uri="{FF2B5EF4-FFF2-40B4-BE49-F238E27FC236}">
                <a16:creationId xmlns:a16="http://schemas.microsoft.com/office/drawing/2014/main" id="{7ADFCE7F-47B5-9473-8E89-B86495A21C85}"/>
              </a:ext>
            </a:extLst>
          </p:cNvPr>
          <p:cNvSpPr txBox="1"/>
          <p:nvPr/>
        </p:nvSpPr>
        <p:spPr>
          <a:xfrm>
            <a:off x="10744200" y="758952"/>
            <a:ext cx="74980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500" b="1" i="0" dirty="0">
                <a:solidFill>
                  <a:srgbClr val="5BF2D3"/>
                </a:solidFill>
                <a:latin typeface="CarbonType"/>
              </a:rPr>
              <a:t>05</a:t>
            </a:r>
            <a:endParaRPr sz="1500" b="1" i="0" dirty="0">
              <a:solidFill>
                <a:srgbClr val="5BF2D3"/>
              </a:solidFill>
              <a:latin typeface="CarbonTyp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52C61-C6A7-9EFC-35D0-EDDFB780B96B}"/>
              </a:ext>
            </a:extLst>
          </p:cNvPr>
          <p:cNvSpPr/>
          <p:nvPr/>
        </p:nvSpPr>
        <p:spPr>
          <a:xfrm>
            <a:off x="658368" y="6272784"/>
            <a:ext cx="10872216" cy="16459"/>
          </a:xfrm>
          <a:prstGeom prst="rect">
            <a:avLst/>
          </a:prstGeom>
          <a:solidFill>
            <a:srgbClr val="63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ub footer">
            <a:extLst>
              <a:ext uri="{FF2B5EF4-FFF2-40B4-BE49-F238E27FC236}">
                <a16:creationId xmlns:a16="http://schemas.microsoft.com/office/drawing/2014/main" id="{9F46CCBA-45D7-24F4-C285-E84AF122D195}"/>
              </a:ext>
            </a:extLst>
          </p:cNvPr>
          <p:cNvSpPr txBox="1"/>
          <p:nvPr/>
        </p:nvSpPr>
        <p:spPr>
          <a:xfrm>
            <a:off x="7315200" y="638251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5BF2D3"/>
                </a:solidFill>
                <a:latin typeface="Aptos"/>
              </a:rPr>
              <a:t>CEDAR RAPIDS AREA  /  4000hmSk1llz</a:t>
            </a:r>
          </a:p>
        </p:txBody>
      </p:sp>
      <p:sp>
        <p:nvSpPr>
          <p:cNvPr id="11" name="Slide type">
            <a:extLst>
              <a:ext uri="{FF2B5EF4-FFF2-40B4-BE49-F238E27FC236}">
                <a16:creationId xmlns:a16="http://schemas.microsoft.com/office/drawing/2014/main" id="{72447BBD-01C2-1199-C995-6BAAA3D98E28}"/>
              </a:ext>
            </a:extLst>
          </p:cNvPr>
          <p:cNvSpPr txBox="1"/>
          <p:nvPr/>
        </p:nvSpPr>
        <p:spPr>
          <a:xfrm>
            <a:off x="658368" y="6382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AB9D2"/>
                </a:solidFill>
                <a:latin typeface="Aptos"/>
              </a:rPr>
              <a:t>BULLET POINTS</a:t>
            </a:r>
          </a:p>
        </p:txBody>
      </p:sp>
      <p:sp>
        <p:nvSpPr>
          <p:cNvPr id="12" name="Visual anchor">
            <a:extLst>
              <a:ext uri="{FF2B5EF4-FFF2-40B4-BE49-F238E27FC236}">
                <a16:creationId xmlns:a16="http://schemas.microsoft.com/office/drawing/2014/main" id="{1558F08E-0475-4355-4190-390B9EC0B815}"/>
              </a:ext>
            </a:extLst>
          </p:cNvPr>
          <p:cNvSpPr txBox="1"/>
          <p:nvPr/>
        </p:nvSpPr>
        <p:spPr>
          <a:xfrm>
            <a:off x="8221538" y="1633224"/>
            <a:ext cx="333358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4800" b="1" i="0" dirty="0">
                <a:solidFill>
                  <a:srgbClr val="C14DFF"/>
                </a:solidFill>
                <a:latin typeface="CarbonType"/>
              </a:rPr>
              <a:t>SUBLIMINAL MESSAGE</a:t>
            </a:r>
            <a:endParaRPr sz="4800" b="1" i="0" dirty="0">
              <a:solidFill>
                <a:srgbClr val="C14DFF"/>
              </a:solidFill>
              <a:latin typeface="CarbonType"/>
            </a:endParaRPr>
          </a:p>
        </p:txBody>
      </p:sp>
      <p:sp>
        <p:nvSpPr>
          <p:cNvPr id="13" name="Takeaway prompt">
            <a:extLst>
              <a:ext uri="{FF2B5EF4-FFF2-40B4-BE49-F238E27FC236}">
                <a16:creationId xmlns:a16="http://schemas.microsoft.com/office/drawing/2014/main" id="{09455B7B-BB27-2FC0-138C-FC98A314EE61}"/>
              </a:ext>
            </a:extLst>
          </p:cNvPr>
          <p:cNvSpPr txBox="1"/>
          <p:nvPr/>
        </p:nvSpPr>
        <p:spPr>
          <a:xfrm>
            <a:off x="8915400" y="3193451"/>
            <a:ext cx="26060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800" b="0" i="0" dirty="0">
                <a:solidFill>
                  <a:srgbClr val="AAB9D2"/>
                </a:solidFill>
                <a:latin typeface="Aptos"/>
              </a:rPr>
              <a:t>The Internet is big but simple to understand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EBDE2E-672A-B12B-F039-BC26395759B0}"/>
              </a:ext>
            </a:extLst>
          </p:cNvPr>
          <p:cNvSpPr/>
          <p:nvPr/>
        </p:nvSpPr>
        <p:spPr>
          <a:xfrm>
            <a:off x="8065008" y="1764792"/>
            <a:ext cx="22860" cy="3639312"/>
          </a:xfrm>
          <a:prstGeom prst="rect">
            <a:avLst/>
          </a:prstGeom>
          <a:solidFill>
            <a:srgbClr val="FF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ditable bullet list">
            <a:extLst>
              <a:ext uri="{FF2B5EF4-FFF2-40B4-BE49-F238E27FC236}">
                <a16:creationId xmlns:a16="http://schemas.microsoft.com/office/drawing/2014/main" id="{2E84946C-2756-6CF3-3B8C-FDBBDF1603BF}"/>
              </a:ext>
            </a:extLst>
          </p:cNvPr>
          <p:cNvSpPr txBox="1"/>
          <p:nvPr/>
        </p:nvSpPr>
        <p:spPr>
          <a:xfrm>
            <a:off x="841248" y="1719072"/>
            <a:ext cx="6629400" cy="2354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</a:pPr>
            <a:r>
              <a:rPr lang="en-US" sz="2300" b="1" dirty="0">
                <a:solidFill>
                  <a:srgbClr val="5BF2D3"/>
                </a:solidFill>
                <a:latin typeface="Aptos"/>
              </a:rPr>
              <a:t>•  </a:t>
            </a:r>
            <a:r>
              <a:rPr lang="en-US" sz="2300" dirty="0">
                <a:solidFill>
                  <a:srgbClr val="F5F8FF"/>
                </a:solidFill>
                <a:latin typeface="Aptos"/>
              </a:rPr>
              <a:t>We have a nifty diagram</a:t>
            </a:r>
          </a:p>
          <a:p>
            <a:pPr marL="800100" lvl="1" indent="-342900">
              <a:lnSpc>
                <a:spcPct val="15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We will look at as much of it as possible today</a:t>
            </a:r>
          </a:p>
          <a:p>
            <a:pPr marL="800100" lvl="1" indent="-342900"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We will try to keep this at a high level</a:t>
            </a:r>
          </a:p>
          <a:p>
            <a:pPr marL="800100" lvl="1" indent="-342900"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chemeClr val="bg1"/>
                </a:solidFill>
                <a:latin typeface="Aptos"/>
              </a:rPr>
              <a:t>The goal is for you to understand </a:t>
            </a:r>
            <a:r>
              <a:rPr lang="en-US" sz="2300" i="1" dirty="0">
                <a:solidFill>
                  <a:schemeClr val="bg1"/>
                </a:solidFill>
                <a:latin typeface="Aptos"/>
              </a:rPr>
              <a:t>what </a:t>
            </a:r>
            <a:r>
              <a:rPr lang="en-US" sz="2300" dirty="0">
                <a:solidFill>
                  <a:schemeClr val="bg1"/>
                </a:solidFill>
                <a:latin typeface="Aptos"/>
              </a:rPr>
              <a:t>happens, now </a:t>
            </a:r>
            <a:r>
              <a:rPr lang="en-US" sz="2300" i="1">
                <a:solidFill>
                  <a:schemeClr val="bg1"/>
                </a:solidFill>
                <a:latin typeface="Aptos"/>
              </a:rPr>
              <a:t>how</a:t>
            </a:r>
            <a:r>
              <a:rPr lang="en-US" sz="2300">
                <a:solidFill>
                  <a:schemeClr val="bg1"/>
                </a:solidFill>
                <a:latin typeface="Aptos"/>
              </a:rPr>
              <a:t> it happens.</a:t>
            </a:r>
            <a:endParaRPr sz="2300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52448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dc 2026 template.potx" id="{AB59AD7C-1AA4-42D3-9971-897B784B523F}" vid="{5FD16EE2-D0B8-4495-AA09-EF47959D2B5E}"/>
    </a:ext>
  </a:extLst>
</a:theme>
</file>

<file path=ppt/theme/theme2.xml><?xml version="1.0" encoding="utf-8"?>
<a:theme xmlns:a="http://schemas.openxmlformats.org/drawingml/2006/main" name="1_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dc 2026 template.potx" id="{AB59AD7C-1AA4-42D3-9971-897B784B523F}" vid="{4534B1DD-1345-4E4D-824D-C8EE404873C2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dc 2026 template.potx" id="{AB59AD7C-1AA4-42D3-9971-897B784B523F}" vid="{630F89B6-F053-4133-B101-8292E05CB2D5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dc 2026 template.potx" id="{AB59AD7C-1AA4-42D3-9971-897B784B523F}" vid="{A3577778-11B7-43F5-992E-13CB3CB7317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1989D7-CF02-4DC5-9433-98B600ACA0D7}">
  <ds:schemaRefs>
    <ds:schemaRef ds:uri="http://purl.org/dc/dcmitype/"/>
    <ds:schemaRef ds:uri="http://purl.org/dc/elements/1.1/"/>
    <ds:schemaRef ds:uri="http://purl.org/dc/terms/"/>
    <ds:schemaRef ds:uri="71af3243-3dd4-4a8d-8c0d-dd76da1f02a5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8A4BC3-D1CE-4BB2-9C42-D67FD92CA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cdc 2026 template</Template>
  <TotalTime>304</TotalTime>
  <Words>671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CarbonType</vt:lpstr>
      <vt:lpstr>Wingdings</vt:lpstr>
      <vt:lpstr>Office Theme</vt:lpstr>
      <vt:lpstr>1_Office Theme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Leonard</dc:creator>
  <cp:lastModifiedBy>Chris Leonard</cp:lastModifiedBy>
  <cp:revision>4</cp:revision>
  <dcterms:created xsi:type="dcterms:W3CDTF">2026-09-19T13:10:41Z</dcterms:created>
  <dcterms:modified xsi:type="dcterms:W3CDTF">2026-09-26T18:53:23Z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