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52" r:id="rId6"/>
    <p:sldMasterId id="2147483654" r:id="rId7"/>
  </p:sldMasterIdLst>
  <p:notesMasterIdLst>
    <p:notesMasterId r:id="rId18"/>
  </p:notesMasterIdLst>
  <p:handoutMasterIdLst>
    <p:handoutMasterId r:id="rId19"/>
  </p:handoutMasterIdLst>
  <p:sldIdLst>
    <p:sldId id="282" r:id="rId8"/>
    <p:sldId id="283" r:id="rId9"/>
    <p:sldId id="284" r:id="rId10"/>
    <p:sldId id="287" r:id="rId11"/>
    <p:sldId id="285" r:id="rId12"/>
    <p:sldId id="288" r:id="rId13"/>
    <p:sldId id="289" r:id="rId14"/>
    <p:sldId id="290" r:id="rId15"/>
    <p:sldId id="291" r:id="rId16"/>
    <p:sldId id="29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DCF8"/>
    <a:srgbClr val="E6E614"/>
    <a:srgbClr val="00B050"/>
    <a:srgbClr val="88C29D"/>
    <a:srgbClr val="A1CFB1"/>
    <a:srgbClr val="7DBD94"/>
    <a:srgbClr val="D97F7B"/>
    <a:srgbClr val="818181"/>
    <a:srgbClr val="0E1621"/>
    <a:srgbClr val="726B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86432" autoAdjust="0"/>
  </p:normalViewPr>
  <p:slideViewPr>
    <p:cSldViewPr snapToGrid="0">
      <p:cViewPr varScale="1">
        <p:scale>
          <a:sx n="88" d="100"/>
          <a:sy n="88" d="100"/>
        </p:scale>
        <p:origin x="62" y="4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A7818-9FD1-4A4A-BBB8-A8F7A885158A}" type="datetimeFigureOut">
              <a:rPr lang="en-US" smtClean="0"/>
              <a:t>10/3/2026</a:t>
            </a:fld>
            <a:endParaRPr lang="en-US" dirty="0"/>
          </a:p>
        </p:txBody>
      </p:sp>
      <p:sp>
        <p:nvSpPr>
          <p:cNvPr id="4" name="Footer Placeholder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B95B5C-AE81-486B-8299-C690ADF087B7}" type="slidenum">
              <a:rPr lang="en-US" smtClean="0"/>
              <a:t>‹#›</a:t>
            </a:fld>
            <a:endParaRPr lang="en-US" dirty="0"/>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68347-4327-4298-850E-31E39F309FB1}" type="datetimeFigureOut">
              <a:rPr lang="en-US" smtClean="0"/>
              <a:t>10/3/2026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D2F8-28A7-48E8-ADD3-E9583D47D83D}" type="slidenum">
              <a:rPr lang="en-US" smtClean="0"/>
              <a:t>‹#›</a:t>
            </a:fld>
            <a:endParaRPr lang="en-US" dirty="0"/>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978DCED-1B64-56B1-1CE7-4626F026761E}"/>
              </a:ext>
            </a:extLst>
          </p:cNvPr>
          <p:cNvSpPr>
            <a:spLocks noGrp="1"/>
          </p:cNvSpPr>
          <p:nvPr>
            <p:ph type="body" sz="quarter" idx="10" hasCustomPrompt="1"/>
          </p:nvPr>
        </p:nvSpPr>
        <p:spPr>
          <a:xfrm>
            <a:off x="806137" y="0"/>
            <a:ext cx="5518150" cy="2126093"/>
          </a:xfrm>
          <a:prstGeom prst="rect">
            <a:avLst/>
          </a:prstGeom>
        </p:spPr>
        <p:txBody>
          <a:bodyPr anchor="b"/>
          <a:lstStyle>
            <a:lvl1pPr marL="0" indent="0">
              <a:spcBef>
                <a:spcPts val="0"/>
              </a:spcBef>
              <a:buNone/>
              <a:defRPr sz="4800">
                <a:solidFill>
                  <a:srgbClr val="E7D2ED"/>
                </a:solidFill>
                <a:latin typeface="CarbonType" panose="02000000000000000000" pitchFamily="2" charset="0"/>
              </a:defRPr>
            </a:lvl1pPr>
          </a:lstStyle>
          <a:p>
            <a:pPr lvl="0"/>
            <a:r>
              <a:rPr lang="en-US" dirty="0"/>
              <a:t>CLICK TO ADD TITLE or SUFFER</a:t>
            </a:r>
          </a:p>
        </p:txBody>
      </p:sp>
      <p:sp>
        <p:nvSpPr>
          <p:cNvPr id="19" name="Text Placeholder 18">
            <a:extLst>
              <a:ext uri="{FF2B5EF4-FFF2-40B4-BE49-F238E27FC236}">
                <a16:creationId xmlns:a16="http://schemas.microsoft.com/office/drawing/2014/main" id="{F8458BA7-94A3-0DDA-DD86-675DBE274353}"/>
              </a:ext>
            </a:extLst>
          </p:cNvPr>
          <p:cNvSpPr>
            <a:spLocks noGrp="1"/>
          </p:cNvSpPr>
          <p:nvPr>
            <p:ph type="body" sz="quarter" idx="12" hasCustomPrompt="1"/>
          </p:nvPr>
        </p:nvSpPr>
        <p:spPr>
          <a:xfrm>
            <a:off x="806137" y="2135187"/>
            <a:ext cx="5053012" cy="1293813"/>
          </a:xfrm>
          <a:prstGeom prst="rect">
            <a:avLst/>
          </a:prstGeom>
        </p:spPr>
        <p:txBody>
          <a:bodyPr/>
          <a:lstStyle>
            <a:lvl1pPr marL="0" indent="0">
              <a:buFontTx/>
              <a:buNone/>
              <a:defRPr sz="1800">
                <a:solidFill>
                  <a:schemeClr val="accent1">
                    <a:lumMod val="10000"/>
                    <a:lumOff val="90000"/>
                  </a:schemeClr>
                </a:solidFill>
                <a:latin typeface="CarbonType"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Click to add subtitle</a:t>
            </a:r>
            <a:br>
              <a:rPr lang="en-US" dirty="0"/>
            </a:br>
            <a:r>
              <a:rPr lang="en-US" dirty="0"/>
              <a:t>2024-xx-xx</a:t>
            </a:r>
          </a:p>
          <a:p>
            <a:pPr lvl="0"/>
            <a:endParaRPr lang="en-US" dirty="0"/>
          </a:p>
        </p:txBody>
      </p:sp>
    </p:spTree>
    <p:extLst>
      <p:ext uri="{BB962C8B-B14F-4D97-AF65-F5344CB8AC3E}">
        <p14:creationId xmlns:p14="http://schemas.microsoft.com/office/powerpoint/2010/main" val="2221523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978DCED-1B64-56B1-1CE7-4626F026761E}"/>
              </a:ext>
            </a:extLst>
          </p:cNvPr>
          <p:cNvSpPr>
            <a:spLocks noGrp="1"/>
          </p:cNvSpPr>
          <p:nvPr>
            <p:ph type="body" sz="quarter" idx="10" hasCustomPrompt="1"/>
          </p:nvPr>
        </p:nvSpPr>
        <p:spPr>
          <a:xfrm>
            <a:off x="806137" y="0"/>
            <a:ext cx="5518150" cy="2126093"/>
          </a:xfrm>
          <a:prstGeom prst="rect">
            <a:avLst/>
          </a:prstGeom>
        </p:spPr>
        <p:txBody>
          <a:bodyPr anchor="b"/>
          <a:lstStyle>
            <a:lvl1pPr marL="0" indent="0">
              <a:spcBef>
                <a:spcPts val="0"/>
              </a:spcBef>
              <a:buNone/>
              <a:defRPr sz="4800">
                <a:solidFill>
                  <a:srgbClr val="E7D2ED"/>
                </a:solidFill>
                <a:latin typeface="CarbonType" panose="02000000000000000000" pitchFamily="2" charset="0"/>
              </a:defRPr>
            </a:lvl1pPr>
          </a:lstStyle>
          <a:p>
            <a:pPr lvl="0"/>
            <a:r>
              <a:rPr lang="en-US" dirty="0"/>
              <a:t>CLICK TO ADD TITLE or SUFFER</a:t>
            </a:r>
          </a:p>
        </p:txBody>
      </p:sp>
      <p:sp>
        <p:nvSpPr>
          <p:cNvPr id="19" name="Text Placeholder 18">
            <a:extLst>
              <a:ext uri="{FF2B5EF4-FFF2-40B4-BE49-F238E27FC236}">
                <a16:creationId xmlns:a16="http://schemas.microsoft.com/office/drawing/2014/main" id="{F8458BA7-94A3-0DDA-DD86-675DBE274353}"/>
              </a:ext>
            </a:extLst>
          </p:cNvPr>
          <p:cNvSpPr>
            <a:spLocks noGrp="1"/>
          </p:cNvSpPr>
          <p:nvPr>
            <p:ph type="body" sz="quarter" idx="12" hasCustomPrompt="1"/>
          </p:nvPr>
        </p:nvSpPr>
        <p:spPr>
          <a:xfrm>
            <a:off x="806137" y="2135187"/>
            <a:ext cx="5053012" cy="1293813"/>
          </a:xfrm>
          <a:prstGeom prst="rect">
            <a:avLst/>
          </a:prstGeom>
        </p:spPr>
        <p:txBody>
          <a:bodyPr/>
          <a:lstStyle>
            <a:lvl1pPr marL="0" indent="0">
              <a:buFontTx/>
              <a:buNone/>
              <a:defRPr sz="1800">
                <a:solidFill>
                  <a:schemeClr val="accent1">
                    <a:lumMod val="10000"/>
                    <a:lumOff val="90000"/>
                  </a:schemeClr>
                </a:solidFill>
                <a:latin typeface="CarbonType"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Click to add subtitle</a:t>
            </a:r>
            <a:br>
              <a:rPr lang="en-US" dirty="0"/>
            </a:br>
            <a:r>
              <a:rPr lang="en-US" dirty="0"/>
              <a:t>2024-xx-xx</a:t>
            </a:r>
          </a:p>
          <a:p>
            <a:pPr lvl="0"/>
            <a:endParaRPr lang="en-US" dirty="0"/>
          </a:p>
        </p:txBody>
      </p:sp>
    </p:spTree>
    <p:extLst>
      <p:ext uri="{BB962C8B-B14F-4D97-AF65-F5344CB8AC3E}">
        <p14:creationId xmlns:p14="http://schemas.microsoft.com/office/powerpoint/2010/main" val="343903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53ABCEFD-7393-E937-A09D-CB35F7CD3902}"/>
              </a:ext>
            </a:extLst>
          </p:cNvPr>
          <p:cNvSpPr>
            <a:spLocks noGrp="1"/>
          </p:cNvSpPr>
          <p:nvPr>
            <p:ph type="body" sz="quarter" idx="10" hasCustomPrompt="1"/>
          </p:nvPr>
        </p:nvSpPr>
        <p:spPr>
          <a:xfrm>
            <a:off x="601354" y="0"/>
            <a:ext cx="5518150" cy="2126093"/>
          </a:xfrm>
          <a:prstGeom prst="rect">
            <a:avLst/>
          </a:prstGeom>
        </p:spPr>
        <p:txBody>
          <a:bodyPr anchor="b"/>
          <a:lstStyle>
            <a:lvl1pPr marL="0" indent="0">
              <a:spcBef>
                <a:spcPts val="0"/>
              </a:spcBef>
              <a:buNone/>
              <a:defRPr sz="4800">
                <a:solidFill>
                  <a:srgbClr val="E7D2ED"/>
                </a:solidFill>
                <a:latin typeface="CarbonType" panose="02000000000000000000" pitchFamily="2" charset="0"/>
              </a:defRPr>
            </a:lvl1pPr>
          </a:lstStyle>
          <a:p>
            <a:pPr lvl="0"/>
            <a:r>
              <a:rPr lang="en-US" dirty="0"/>
              <a:t>CLICK TO ADD TITLE or SUFFER</a:t>
            </a:r>
          </a:p>
        </p:txBody>
      </p:sp>
      <p:sp>
        <p:nvSpPr>
          <p:cNvPr id="8" name="Text Placeholder 18">
            <a:extLst>
              <a:ext uri="{FF2B5EF4-FFF2-40B4-BE49-F238E27FC236}">
                <a16:creationId xmlns:a16="http://schemas.microsoft.com/office/drawing/2014/main" id="{A0EFB098-D7DF-F6A4-3B86-F79924A8E8E7}"/>
              </a:ext>
            </a:extLst>
          </p:cNvPr>
          <p:cNvSpPr>
            <a:spLocks noGrp="1"/>
          </p:cNvSpPr>
          <p:nvPr>
            <p:ph type="body" sz="quarter" idx="12" hasCustomPrompt="1"/>
          </p:nvPr>
        </p:nvSpPr>
        <p:spPr>
          <a:xfrm>
            <a:off x="601354" y="2135187"/>
            <a:ext cx="5053012" cy="1293813"/>
          </a:xfrm>
          <a:prstGeom prst="rect">
            <a:avLst/>
          </a:prstGeom>
        </p:spPr>
        <p:txBody>
          <a:bodyPr/>
          <a:lstStyle>
            <a:lvl1pPr marL="0" indent="0">
              <a:buFontTx/>
              <a:buNone/>
              <a:defRPr sz="1800">
                <a:solidFill>
                  <a:schemeClr val="accent1">
                    <a:lumMod val="10000"/>
                    <a:lumOff val="90000"/>
                  </a:schemeClr>
                </a:solidFill>
                <a:latin typeface="CarbonType" panose="02000000000000000000"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0F9ED5">
                    <a:lumMod val="40000"/>
                    <a:lumOff val="60000"/>
                  </a:srgbClr>
                </a:solidFill>
                <a:effectLst/>
                <a:uLnTx/>
                <a:uFillTx/>
                <a:latin typeface="CarbonType" panose="02000000000000000000" pitchFamily="2" charset="0"/>
                <a:ea typeface="+mn-ea"/>
                <a:cs typeface="+mn-cs"/>
              </a:rPr>
              <a:t>subtitle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err="1">
                <a:ln>
                  <a:noFill/>
                </a:ln>
                <a:solidFill>
                  <a:srgbClr val="0F9ED5">
                    <a:lumMod val="40000"/>
                    <a:lumOff val="60000"/>
                  </a:srgbClr>
                </a:solidFill>
                <a:effectLst/>
                <a:uLnTx/>
                <a:uFillTx/>
                <a:latin typeface="CarbonType" panose="02000000000000000000" pitchFamily="2" charset="0"/>
                <a:ea typeface="+mn-ea"/>
                <a:cs typeface="+mn-cs"/>
              </a:rPr>
              <a:t>yyyy</a:t>
            </a:r>
            <a:r>
              <a:rPr kumimoji="0" lang="en-US" sz="1600" b="0" i="1" u="none" strike="noStrike" kern="1200" cap="none" spc="0" normalizeH="0" baseline="0" noProof="0" dirty="0">
                <a:ln>
                  <a:noFill/>
                </a:ln>
                <a:solidFill>
                  <a:srgbClr val="0F9ED5">
                    <a:lumMod val="40000"/>
                    <a:lumOff val="60000"/>
                  </a:srgbClr>
                </a:solidFill>
                <a:effectLst/>
                <a:uLnTx/>
                <a:uFillTx/>
                <a:latin typeface="CarbonType" panose="02000000000000000000" pitchFamily="2" charset="0"/>
                <a:ea typeface="+mn-ea"/>
                <a:cs typeface="+mn-cs"/>
              </a:rPr>
              <a:t>-mm-dd</a:t>
            </a:r>
          </a:p>
          <a:p>
            <a:pPr lvl="0"/>
            <a:endParaRPr lang="en-US" dirty="0"/>
          </a:p>
        </p:txBody>
      </p:sp>
    </p:spTree>
    <p:extLst>
      <p:ext uri="{BB962C8B-B14F-4D97-AF65-F5344CB8AC3E}">
        <p14:creationId xmlns:p14="http://schemas.microsoft.com/office/powerpoint/2010/main" val="549152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EC5545AC-4A15-E50E-AE07-46FAB624EB29}"/>
              </a:ext>
            </a:extLst>
          </p:cNvPr>
          <p:cNvSpPr>
            <a:spLocks noGrp="1"/>
          </p:cNvSpPr>
          <p:nvPr>
            <p:ph type="body" sz="quarter" idx="10" hasCustomPrompt="1"/>
          </p:nvPr>
        </p:nvSpPr>
        <p:spPr>
          <a:xfrm>
            <a:off x="252402" y="0"/>
            <a:ext cx="5518150" cy="1624013"/>
          </a:xfrm>
          <a:prstGeom prst="rect">
            <a:avLst/>
          </a:prstGeom>
        </p:spPr>
        <p:txBody>
          <a:bodyPr anchor="b"/>
          <a:lstStyle>
            <a:lvl1pPr marL="0" indent="0">
              <a:spcBef>
                <a:spcPts val="0"/>
              </a:spcBef>
              <a:buNone/>
              <a:defRPr sz="4800">
                <a:solidFill>
                  <a:srgbClr val="7DBD94"/>
                </a:solidFill>
                <a:latin typeface="CarbonType" panose="02000000000000000000" pitchFamily="2" charset="0"/>
              </a:defRPr>
            </a:lvl1pPr>
          </a:lstStyle>
          <a:p>
            <a:pPr lvl="0"/>
            <a:r>
              <a:rPr lang="en-US" dirty="0"/>
              <a:t>CLICK TO ADD TITLE or SUFFER</a:t>
            </a:r>
          </a:p>
        </p:txBody>
      </p:sp>
      <p:sp>
        <p:nvSpPr>
          <p:cNvPr id="3" name="Text Placeholder 18">
            <a:extLst>
              <a:ext uri="{FF2B5EF4-FFF2-40B4-BE49-F238E27FC236}">
                <a16:creationId xmlns:a16="http://schemas.microsoft.com/office/drawing/2014/main" id="{894FE469-5F78-41A1-61E5-FB05E8C6F943}"/>
              </a:ext>
            </a:extLst>
          </p:cNvPr>
          <p:cNvSpPr>
            <a:spLocks noGrp="1"/>
          </p:cNvSpPr>
          <p:nvPr>
            <p:ph type="body" sz="quarter" idx="12" hasCustomPrompt="1"/>
          </p:nvPr>
        </p:nvSpPr>
        <p:spPr>
          <a:xfrm>
            <a:off x="252402" y="1624014"/>
            <a:ext cx="5053012" cy="1319212"/>
          </a:xfrm>
          <a:prstGeom prst="rect">
            <a:avLst/>
          </a:prstGeom>
        </p:spPr>
        <p:txBody>
          <a:bodyPr/>
          <a:lstStyle>
            <a:lvl1pPr marL="0" indent="0">
              <a:buFontTx/>
              <a:buNone/>
              <a:defRPr sz="1800">
                <a:solidFill>
                  <a:srgbClr val="7DBD94"/>
                </a:solidFill>
                <a:latin typeface="CarbonType" panose="02000000000000000000" pitchFamily="2" charset="0"/>
              </a:defRPr>
            </a:lvl1pPr>
          </a:lstStyle>
          <a:p>
            <a:r>
              <a:rPr lang="en-US" sz="1600" i="1" dirty="0">
                <a:solidFill>
                  <a:srgbClr val="00B050"/>
                </a:solidFill>
              </a:rPr>
              <a:t>Subtitle</a:t>
            </a:r>
            <a:br>
              <a:rPr lang="en-US" sz="1600" i="1" dirty="0">
                <a:solidFill>
                  <a:srgbClr val="00B050"/>
                </a:solidFill>
              </a:rPr>
            </a:br>
            <a:r>
              <a:rPr lang="en-US" sz="1600" i="1" dirty="0">
                <a:solidFill>
                  <a:srgbClr val="00B050"/>
                </a:solidFill>
              </a:rPr>
              <a:t>YYYY-MM-DD</a:t>
            </a:r>
          </a:p>
          <a:p>
            <a:pPr lvl="0"/>
            <a:endParaRPr lang="en-US" dirty="0"/>
          </a:p>
        </p:txBody>
      </p:sp>
    </p:spTree>
    <p:extLst>
      <p:ext uri="{BB962C8B-B14F-4D97-AF65-F5344CB8AC3E}">
        <p14:creationId xmlns:p14="http://schemas.microsoft.com/office/powerpoint/2010/main" val="13932405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 name="Picture 1" descr="A red and purple sky with planets&#10;&#10;Description automatically generated">
            <a:extLst>
              <a:ext uri="{FF2B5EF4-FFF2-40B4-BE49-F238E27FC236}">
                <a16:creationId xmlns:a16="http://schemas.microsoft.com/office/drawing/2014/main" id="{C1C0D8BD-5298-7A97-B5C6-7020CA0C101F}"/>
              </a:ext>
            </a:extLst>
          </p:cNvPr>
          <p:cNvPicPr>
            <a:picLocks noGrp="1" noRot="1" noMove="1" noResize="1" noEditPoints="1" noAdjustHandles="1" noChangeArrowheads="1" noChangeShapeType="1" noCrop="1"/>
          </p:cNvPicPr>
          <p:nvPr userDrawn="1"/>
        </p:nvPicPr>
        <p:blipFill>
          <a:blip r:embed="rId3"/>
          <a:stretch>
            <a:fillRect/>
          </a:stretch>
        </p:blipFill>
        <p:spPr>
          <a:xfrm>
            <a:off x="0" y="12560"/>
            <a:ext cx="12192000" cy="6832879"/>
          </a:xfrm>
          <a:prstGeom prst="rect">
            <a:avLst/>
          </a:prstGeom>
        </p:spPr>
      </p:pic>
      <p:sp>
        <p:nvSpPr>
          <p:cNvPr id="6" name="TextBox 5">
            <a:extLst>
              <a:ext uri="{FF2B5EF4-FFF2-40B4-BE49-F238E27FC236}">
                <a16:creationId xmlns:a16="http://schemas.microsoft.com/office/drawing/2014/main" id="{FBE64705-FC50-5464-73F3-8AC1F35D17C2}"/>
              </a:ext>
            </a:extLst>
          </p:cNvPr>
          <p:cNvSpPr txBox="1">
            <a:spLocks/>
          </p:cNvSpPr>
          <p:nvPr userDrawn="1"/>
        </p:nvSpPr>
        <p:spPr>
          <a:xfrm>
            <a:off x="6096001" y="4566739"/>
            <a:ext cx="5785964" cy="2231380"/>
          </a:xfrm>
          <a:prstGeom prst="rect">
            <a:avLst/>
          </a:prstGeom>
          <a:noFill/>
        </p:spPr>
        <p:txBody>
          <a:bodyPr wrap="square" rtlCol="0">
            <a:spAutoFit/>
          </a:bodyPr>
          <a:lstStyle/>
          <a:p>
            <a:r>
              <a:rPr lang="en-US" sz="1800" dirty="0">
                <a:solidFill>
                  <a:srgbClr val="E7D2ED"/>
                </a:solidFill>
                <a:latin typeface="CarbonType" panose="02000000000000000000" pitchFamily="2" charset="0"/>
              </a:rPr>
              <a:t>CEDAR RAPIDS AREA </a:t>
            </a:r>
          </a:p>
          <a:p>
            <a:r>
              <a:rPr lang="en-US" sz="1800" dirty="0">
                <a:solidFill>
                  <a:srgbClr val="E7D2ED"/>
                </a:solidFill>
                <a:latin typeface="CarbonType" panose="02000000000000000000" pitchFamily="2" charset="0"/>
              </a:rPr>
              <a:t>  4O0HM5KuULZ*</a:t>
            </a:r>
          </a:p>
          <a:p>
            <a:endParaRPr lang="en-US" sz="1800" dirty="0">
              <a:solidFill>
                <a:srgbClr val="E7D2ED"/>
              </a:solidFill>
              <a:latin typeface="CarbonType" panose="02000000000000000000" pitchFamily="2" charset="0"/>
            </a:endParaRPr>
          </a:p>
          <a:p>
            <a:r>
              <a:rPr lang="en-US" sz="1700" dirty="0">
                <a:solidFill>
                  <a:srgbClr val="E7D2ED"/>
                </a:solidFill>
                <a:latin typeface="CarbonType" panose="02000000000000000000" pitchFamily="2" charset="0"/>
              </a:rPr>
              <a:t>   i.t. club - cyber defense</a:t>
            </a:r>
          </a:p>
          <a:p>
            <a:r>
              <a:rPr lang="en-US" sz="1700" dirty="0">
                <a:solidFill>
                  <a:srgbClr val="E7D2ED"/>
                </a:solidFill>
                <a:latin typeface="CarbonType" panose="02000000000000000000" pitchFamily="2" charset="0"/>
              </a:rPr>
              <a:t>     2024-2025 edition</a:t>
            </a:r>
            <a:br>
              <a:rPr lang="en-US" sz="1700" dirty="0">
                <a:solidFill>
                  <a:srgbClr val="E7D2ED"/>
                </a:solidFill>
                <a:latin typeface="CarbonType" panose="02000000000000000000" pitchFamily="2" charset="0"/>
              </a:rPr>
            </a:br>
            <a:r>
              <a:rPr lang="en-US" sz="1700" dirty="0">
                <a:solidFill>
                  <a:srgbClr val="E7D2ED"/>
                </a:solidFill>
                <a:latin typeface="CarbonType" panose="02000000000000000000" pitchFamily="2" charset="0"/>
              </a:rPr>
              <a:t>       direct queries (at)</a:t>
            </a:r>
            <a:r>
              <a:rPr lang="en-US" sz="1700" dirty="0" err="1">
                <a:solidFill>
                  <a:srgbClr val="E7D2ED"/>
                </a:solidFill>
                <a:latin typeface="CarbonType" panose="02000000000000000000" pitchFamily="2" charset="0"/>
              </a:rPr>
              <a:t>sql-sith</a:t>
            </a:r>
            <a:endParaRPr lang="en-US" sz="1700" dirty="0">
              <a:solidFill>
                <a:srgbClr val="E7D2ED"/>
              </a:solidFill>
              <a:latin typeface="CarbonType" panose="02000000000000000000" pitchFamily="2" charset="0"/>
            </a:endParaRPr>
          </a:p>
          <a:p>
            <a:endParaRPr lang="en-US" sz="1700" dirty="0">
              <a:solidFill>
                <a:srgbClr val="E7D2ED"/>
              </a:solidFill>
              <a:latin typeface="CarbonType" panose="02000000000000000000" pitchFamily="2" charset="0"/>
            </a:endParaRPr>
          </a:p>
          <a:p>
            <a:r>
              <a:rPr lang="en-US" sz="1700" dirty="0">
                <a:solidFill>
                  <a:srgbClr val="E7D2ED"/>
                </a:solidFill>
                <a:latin typeface="CarbonType" panose="02000000000000000000" pitchFamily="2" charset="0"/>
              </a:rPr>
              <a:t>  *note: not a spelling bee team</a:t>
            </a:r>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C59FC4-6517-B863-9A02-4E38DB9BBC7D}"/>
              </a:ext>
            </a:extLst>
          </p:cNvPr>
          <p:cNvPicPr>
            <a:picLocks noChangeAspect="1"/>
          </p:cNvPicPr>
          <p:nvPr userDrawn="1"/>
        </p:nvPicPr>
        <p:blipFill>
          <a:blip r:embed="rId3"/>
          <a:stretch>
            <a:fillRect/>
          </a:stretch>
        </p:blipFill>
        <p:spPr>
          <a:xfrm>
            <a:off x="0" y="0"/>
            <a:ext cx="12242202" cy="6858000"/>
          </a:xfrm>
          <a:prstGeom prst="rect">
            <a:avLst/>
          </a:prstGeom>
        </p:spPr>
      </p:pic>
      <p:sp>
        <p:nvSpPr>
          <p:cNvPr id="9" name="Parallelogram 8">
            <a:extLst>
              <a:ext uri="{FF2B5EF4-FFF2-40B4-BE49-F238E27FC236}">
                <a16:creationId xmlns:a16="http://schemas.microsoft.com/office/drawing/2014/main" id="{5F24396A-986F-E1A8-B1EE-7BA33B63FCB9}"/>
              </a:ext>
            </a:extLst>
          </p:cNvPr>
          <p:cNvSpPr/>
          <p:nvPr userDrawn="1"/>
        </p:nvSpPr>
        <p:spPr>
          <a:xfrm>
            <a:off x="5803751" y="5050716"/>
            <a:ext cx="5491778" cy="1807284"/>
          </a:xfrm>
          <a:prstGeom prst="parallelogram">
            <a:avLst>
              <a:gd name="adj" fmla="val 133640"/>
            </a:avLst>
          </a:prstGeom>
          <a:solidFill>
            <a:schemeClr val="tx1">
              <a:alpha val="2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BE64705-FC50-5464-73F3-8AC1F35D17C2}"/>
              </a:ext>
            </a:extLst>
          </p:cNvPr>
          <p:cNvSpPr txBox="1">
            <a:spLocks/>
          </p:cNvSpPr>
          <p:nvPr userDrawn="1"/>
        </p:nvSpPr>
        <p:spPr>
          <a:xfrm>
            <a:off x="5357308" y="4365010"/>
            <a:ext cx="7046259" cy="2492990"/>
          </a:xfrm>
          <a:prstGeom prst="rect">
            <a:avLst/>
          </a:prstGeom>
          <a:noFill/>
        </p:spPr>
        <p:txBody>
          <a:bodyPr wrap="square" rtlCol="0">
            <a:spAutoFit/>
          </a:bodyPr>
          <a:lstStyle/>
          <a:p>
            <a:r>
              <a:rPr lang="en-US" sz="1800" dirty="0">
                <a:solidFill>
                  <a:schemeClr val="accent5">
                    <a:lumMod val="40000"/>
                    <a:lumOff val="60000"/>
                  </a:schemeClr>
                </a:solidFill>
                <a:latin typeface="CarbonType" panose="02000000000000000000" pitchFamily="2" charset="0"/>
              </a:rPr>
              <a:t>         CEDAR RAPIDS AREA </a:t>
            </a:r>
          </a:p>
          <a:p>
            <a:r>
              <a:rPr lang="en-US" sz="1800" dirty="0">
                <a:solidFill>
                  <a:schemeClr val="accent5">
                    <a:lumMod val="40000"/>
                    <a:lumOff val="60000"/>
                  </a:schemeClr>
                </a:solidFill>
                <a:latin typeface="CarbonType" panose="02000000000000000000" pitchFamily="2" charset="0"/>
              </a:rPr>
              <a:t>      4O0HM5KuULZ*</a:t>
            </a:r>
          </a:p>
          <a:p>
            <a:endParaRPr lang="en-US" sz="1800" dirty="0">
              <a:solidFill>
                <a:schemeClr val="accent5">
                  <a:lumMod val="40000"/>
                  <a:lumOff val="60000"/>
                </a:schemeClr>
              </a:solidFill>
              <a:latin typeface="CarbonType" panose="02000000000000000000" pitchFamily="2" charset="0"/>
            </a:endParaRPr>
          </a:p>
          <a:p>
            <a:r>
              <a:rPr lang="en-US" sz="1700" dirty="0">
                <a:solidFill>
                  <a:schemeClr val="accent5">
                    <a:lumMod val="40000"/>
                    <a:lumOff val="60000"/>
                  </a:schemeClr>
                </a:solidFill>
                <a:latin typeface="CarbonType" panose="02000000000000000000" pitchFamily="2" charset="0"/>
              </a:rPr>
              <a:t> i.t. club - cyber defense</a:t>
            </a:r>
          </a:p>
          <a:p>
            <a:r>
              <a:rPr lang="en-US" sz="1700" dirty="0">
                <a:solidFill>
                  <a:schemeClr val="accent5">
                    <a:lumMod val="40000"/>
                    <a:lumOff val="60000"/>
                  </a:schemeClr>
                </a:solidFill>
                <a:latin typeface="CarbonType" panose="02000000000000000000" pitchFamily="2" charset="0"/>
              </a:rPr>
              <a:t>  2024-2025 edition</a:t>
            </a:r>
            <a:br>
              <a:rPr lang="en-US" sz="1700" dirty="0">
                <a:solidFill>
                  <a:schemeClr val="accent5">
                    <a:lumMod val="40000"/>
                    <a:lumOff val="60000"/>
                  </a:schemeClr>
                </a:solidFill>
                <a:latin typeface="CarbonType" panose="02000000000000000000" pitchFamily="2" charset="0"/>
              </a:rPr>
            </a:br>
            <a:r>
              <a:rPr lang="en-US" sz="1700" dirty="0">
                <a:solidFill>
                  <a:schemeClr val="accent5">
                    <a:lumMod val="40000"/>
                    <a:lumOff val="60000"/>
                  </a:schemeClr>
                </a:solidFill>
                <a:latin typeface="CarbonType" panose="02000000000000000000" pitchFamily="2" charset="0"/>
              </a:rPr>
              <a:t>   direct queries (at)</a:t>
            </a:r>
            <a:r>
              <a:rPr lang="en-US" sz="1700" dirty="0" err="1">
                <a:solidFill>
                  <a:schemeClr val="accent5">
                    <a:lumMod val="40000"/>
                    <a:lumOff val="60000"/>
                  </a:schemeClr>
                </a:solidFill>
                <a:latin typeface="CarbonType" panose="02000000000000000000" pitchFamily="2" charset="0"/>
              </a:rPr>
              <a:t>sql-sith</a:t>
            </a:r>
            <a:endParaRPr lang="en-US" sz="1700" dirty="0">
              <a:solidFill>
                <a:schemeClr val="accent5">
                  <a:lumMod val="40000"/>
                  <a:lumOff val="60000"/>
                </a:schemeClr>
              </a:solidFill>
              <a:latin typeface="CarbonType" panose="02000000000000000000" pitchFamily="2" charset="0"/>
            </a:endParaRPr>
          </a:p>
          <a:p>
            <a:endParaRPr lang="en-US" sz="1700" dirty="0">
              <a:solidFill>
                <a:schemeClr val="accent5">
                  <a:lumMod val="40000"/>
                  <a:lumOff val="60000"/>
                </a:schemeClr>
              </a:solidFill>
              <a:latin typeface="CarbonType" panose="02000000000000000000" pitchFamily="2" charset="0"/>
            </a:endParaRPr>
          </a:p>
          <a:p>
            <a:r>
              <a:rPr lang="en-US" sz="1700" dirty="0">
                <a:solidFill>
                  <a:schemeClr val="accent5">
                    <a:lumMod val="40000"/>
                    <a:lumOff val="60000"/>
                  </a:schemeClr>
                </a:solidFill>
                <a:latin typeface="CarbonType" panose="02000000000000000000" pitchFamily="2" charset="0"/>
              </a:rPr>
              <a:t>*note: not a fan club </a:t>
            </a:r>
          </a:p>
          <a:p>
            <a:r>
              <a:rPr lang="en-US" sz="1700" dirty="0">
                <a:solidFill>
                  <a:schemeClr val="accent5">
                    <a:lumMod val="40000"/>
                    <a:lumOff val="60000"/>
                  </a:schemeClr>
                </a:solidFill>
                <a:latin typeface="CarbonType" panose="02000000000000000000" pitchFamily="2" charset="0"/>
              </a:rPr>
              <a:t>for bats or spiders</a:t>
            </a:r>
          </a:p>
        </p:txBody>
      </p:sp>
    </p:spTree>
    <p:extLst>
      <p:ext uri="{BB962C8B-B14F-4D97-AF65-F5344CB8AC3E}">
        <p14:creationId xmlns:p14="http://schemas.microsoft.com/office/powerpoint/2010/main" val="2552082234"/>
      </p:ext>
    </p:extLst>
  </p:cSld>
  <p:clrMap bg1="lt1" tx1="dk1" bg2="lt2" tx2="dk2" accent1="accent1" accent2="accent2" accent3="accent3" accent4="accent4" accent5="accent5" accent6="accent6" hlink="hlink" folHlink="folHlink"/>
  <p:sldLayoutIdLst>
    <p:sldLayoutId id="2147483651"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B84AC1-AA13-654C-9198-92C8A8177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4F7D86-81E6-01DC-96AF-B0B2EC92A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en-US" dirty="0"/>
          </a:p>
        </p:txBody>
      </p:sp>
      <p:sp>
        <p:nvSpPr>
          <p:cNvPr id="4" name="Date Placeholder 3">
            <a:extLst>
              <a:ext uri="{FF2B5EF4-FFF2-40B4-BE49-F238E27FC236}">
                <a16:creationId xmlns:a16="http://schemas.microsoft.com/office/drawing/2014/main" id="{9DCC8BE2-7F73-D8A9-79CE-9BC62C3BCC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E56144-319F-4396-90A3-D605D1C502A6}" type="datetimeFigureOut">
              <a:rPr lang="en-US" smtClean="0"/>
              <a:t>10/3/2026</a:t>
            </a:fld>
            <a:endParaRPr lang="en-US"/>
          </a:p>
        </p:txBody>
      </p:sp>
      <p:sp>
        <p:nvSpPr>
          <p:cNvPr id="5" name="Footer Placeholder 4">
            <a:extLst>
              <a:ext uri="{FF2B5EF4-FFF2-40B4-BE49-F238E27FC236}">
                <a16:creationId xmlns:a16="http://schemas.microsoft.com/office/drawing/2014/main" id="{63403B2D-079C-1212-69E6-F6360534ED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1862E3-F901-3A1A-F0ED-57373348FD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A04A4E-E326-4D31-BE8C-A1BE06835329}" type="slidenum">
              <a:rPr lang="en-US" smtClean="0"/>
              <a:t>‹#›</a:t>
            </a:fld>
            <a:endParaRPr lang="en-US"/>
          </a:p>
        </p:txBody>
      </p:sp>
      <p:pic>
        <p:nvPicPr>
          <p:cNvPr id="1028" name="Picture 4" descr="Image">
            <a:extLst>
              <a:ext uri="{FF2B5EF4-FFF2-40B4-BE49-F238E27FC236}">
                <a16:creationId xmlns:a16="http://schemas.microsoft.com/office/drawing/2014/main" id="{B161F92E-F5E8-3436-75D3-8C444E2D170A}"/>
              </a:ext>
            </a:extLst>
          </p:cNvPr>
          <p:cNvPicPr>
            <a:picLocks noChangeArrowheads="1"/>
          </p:cNvPicPr>
          <p:nvPr userDrawn="1"/>
        </p:nvPicPr>
        <p:blipFill rotWithShape="1">
          <a:blip r:embed="rId3">
            <a:extLst>
              <a:ext uri="{28A0092B-C50C-407E-A947-70E740481C1C}">
                <a14:useLocalDpi xmlns:a14="http://schemas.microsoft.com/office/drawing/2010/main" val="0"/>
              </a:ext>
            </a:extLst>
          </a:blip>
          <a:srcRect l="222" r="222"/>
          <a:stretch>
            <a:fillRect/>
          </a:stretch>
        </p:blipFill>
        <p:spPr bwMode="auto">
          <a:xfrm>
            <a:off x="-4763" y="-7750"/>
            <a:ext cx="12289536" cy="692505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4799CF-13C7-A9C2-897B-9BD9DB5F4D69}"/>
              </a:ext>
            </a:extLst>
          </p:cNvPr>
          <p:cNvSpPr txBox="1">
            <a:spLocks/>
          </p:cNvSpPr>
          <p:nvPr userDrawn="1"/>
        </p:nvSpPr>
        <p:spPr>
          <a:xfrm>
            <a:off x="4433676" y="4425310"/>
            <a:ext cx="7713564" cy="2416046"/>
          </a:xfrm>
          <a:prstGeom prst="rect">
            <a:avLst/>
          </a:prstGeom>
          <a:noFill/>
        </p:spPr>
        <p:txBody>
          <a:bodyPr wrap="square" rtlCol="0">
            <a:spAutoFit/>
          </a:bodyPr>
          <a:lstStyle/>
          <a:p>
            <a:pPr algn="r"/>
            <a:r>
              <a:rPr lang="en-US" sz="1800" dirty="0">
                <a:solidFill>
                  <a:schemeClr val="accent5">
                    <a:lumMod val="40000"/>
                    <a:lumOff val="60000"/>
                  </a:schemeClr>
                </a:solidFill>
                <a:latin typeface="CarbonType" panose="02000000000000000000" pitchFamily="2" charset="0"/>
              </a:rPr>
              <a:t>CEDAR RAPIDS AREA </a:t>
            </a:r>
          </a:p>
          <a:p>
            <a:pPr algn="r"/>
            <a:r>
              <a:rPr lang="en-US" sz="1800" dirty="0">
                <a:solidFill>
                  <a:schemeClr val="accent5">
                    <a:lumMod val="40000"/>
                    <a:lumOff val="60000"/>
                  </a:schemeClr>
                </a:solidFill>
                <a:latin typeface="CarbonType" panose="02000000000000000000" pitchFamily="2" charset="0"/>
              </a:rPr>
              <a:t>4O0ohm5kkl88LZ</a:t>
            </a:r>
            <a:r>
              <a:rPr lang="en-US" sz="1800" baseline="30000" dirty="0">
                <a:solidFill>
                  <a:schemeClr val="accent5">
                    <a:lumMod val="40000"/>
                    <a:lumOff val="60000"/>
                  </a:schemeClr>
                </a:solidFill>
                <a:latin typeface="CarbonType" panose="02000000000000000000" pitchFamily="2" charset="0"/>
              </a:rPr>
              <a:t>*</a:t>
            </a:r>
          </a:p>
          <a:p>
            <a:pPr algn="r"/>
            <a:endParaRPr lang="en-US" sz="1800" dirty="0">
              <a:solidFill>
                <a:schemeClr val="accent5">
                  <a:lumMod val="40000"/>
                  <a:lumOff val="60000"/>
                </a:schemeClr>
              </a:solidFill>
              <a:latin typeface="CarbonType" panose="02000000000000000000" pitchFamily="2" charset="0"/>
            </a:endParaRPr>
          </a:p>
          <a:p>
            <a:pPr algn="r"/>
            <a:r>
              <a:rPr lang="en-US" sz="1700" dirty="0">
                <a:solidFill>
                  <a:schemeClr val="accent5">
                    <a:lumMod val="40000"/>
                    <a:lumOff val="60000"/>
                  </a:schemeClr>
                </a:solidFill>
                <a:latin typeface="CarbonType" panose="02000000000000000000" pitchFamily="2" charset="0"/>
              </a:rPr>
              <a:t>i.t. club - cyber defense</a:t>
            </a:r>
          </a:p>
          <a:p>
            <a:pPr algn="r"/>
            <a:r>
              <a:rPr lang="en-US" sz="1700" dirty="0">
                <a:solidFill>
                  <a:schemeClr val="accent5">
                    <a:lumMod val="40000"/>
                    <a:lumOff val="60000"/>
                  </a:schemeClr>
                </a:solidFill>
                <a:latin typeface="CarbonType" panose="02000000000000000000" pitchFamily="2" charset="0"/>
              </a:rPr>
              <a:t>2025-2026 edition</a:t>
            </a:r>
          </a:p>
          <a:p>
            <a:pPr algn="r"/>
            <a:r>
              <a:rPr lang="en-US" sz="1700" dirty="0" err="1">
                <a:solidFill>
                  <a:schemeClr val="accent5">
                    <a:lumMod val="40000"/>
                    <a:lumOff val="60000"/>
                  </a:schemeClr>
                </a:solidFill>
                <a:latin typeface="CarbonType" panose="02000000000000000000" pitchFamily="2" charset="0"/>
              </a:rPr>
              <a:t>sql</a:t>
            </a:r>
            <a:r>
              <a:rPr lang="en-US" sz="1700" dirty="0">
                <a:solidFill>
                  <a:schemeClr val="accent5">
                    <a:lumMod val="40000"/>
                    <a:lumOff val="60000"/>
                  </a:schemeClr>
                </a:solidFill>
                <a:latin typeface="CarbonType" panose="02000000000000000000" pitchFamily="2" charset="0"/>
              </a:rPr>
              <a:t> </a:t>
            </a:r>
            <a:r>
              <a:rPr lang="en-US" sz="1700" dirty="0" err="1">
                <a:solidFill>
                  <a:schemeClr val="accent5">
                    <a:lumMod val="40000"/>
                    <a:lumOff val="60000"/>
                  </a:schemeClr>
                </a:solidFill>
                <a:latin typeface="CarbonType" panose="02000000000000000000" pitchFamily="2" charset="0"/>
              </a:rPr>
              <a:t>sith</a:t>
            </a:r>
            <a:r>
              <a:rPr lang="en-US" sz="1700" dirty="0">
                <a:solidFill>
                  <a:schemeClr val="accent5">
                    <a:lumMod val="40000"/>
                    <a:lumOff val="60000"/>
                  </a:schemeClr>
                </a:solidFill>
                <a:latin typeface="CarbonType" panose="02000000000000000000" pitchFamily="2" charset="0"/>
              </a:rPr>
              <a:t>, giga </a:t>
            </a:r>
            <a:r>
              <a:rPr lang="en-US" sz="1700" dirty="0" err="1">
                <a:solidFill>
                  <a:schemeClr val="accent5">
                    <a:lumMod val="40000"/>
                    <a:lumOff val="60000"/>
                  </a:schemeClr>
                </a:solidFill>
                <a:latin typeface="CarbonType" panose="02000000000000000000" pitchFamily="2" charset="0"/>
              </a:rPr>
              <a:t>chad</a:t>
            </a:r>
            <a:r>
              <a:rPr lang="en-US" sz="1700" dirty="0">
                <a:solidFill>
                  <a:schemeClr val="accent5">
                    <a:lumMod val="40000"/>
                    <a:lumOff val="60000"/>
                  </a:schemeClr>
                </a:solidFill>
                <a:latin typeface="CarbonType" panose="02000000000000000000" pitchFamily="2" charset="0"/>
              </a:rPr>
              <a:t>, captain dan, and </a:t>
            </a:r>
            <a:r>
              <a:rPr lang="en-US" sz="1700" dirty="0" err="1">
                <a:solidFill>
                  <a:schemeClr val="accent5">
                    <a:lumMod val="40000"/>
                    <a:lumOff val="60000"/>
                  </a:schemeClr>
                </a:solidFill>
                <a:latin typeface="CarbonType" panose="02000000000000000000" pitchFamily="2" charset="0"/>
              </a:rPr>
              <a:t>karl</a:t>
            </a:r>
            <a:r>
              <a:rPr lang="en-US" sz="1700" dirty="0">
                <a:solidFill>
                  <a:schemeClr val="accent5">
                    <a:lumMod val="40000"/>
                    <a:lumOff val="60000"/>
                  </a:schemeClr>
                </a:solidFill>
                <a:latin typeface="CarbonType" panose="02000000000000000000" pitchFamily="2" charset="0"/>
              </a:rPr>
              <a:t>: large and in charge</a:t>
            </a:r>
            <a:br>
              <a:rPr lang="en-US" sz="1700" dirty="0">
                <a:solidFill>
                  <a:schemeClr val="accent5">
                    <a:lumMod val="40000"/>
                    <a:lumOff val="60000"/>
                  </a:schemeClr>
                </a:solidFill>
                <a:latin typeface="CarbonType" panose="02000000000000000000" pitchFamily="2" charset="0"/>
              </a:rPr>
            </a:br>
            <a:r>
              <a:rPr lang="en-US" sz="1700" dirty="0">
                <a:solidFill>
                  <a:schemeClr val="accent5">
                    <a:lumMod val="40000"/>
                    <a:lumOff val="60000"/>
                  </a:schemeClr>
                </a:solidFill>
                <a:latin typeface="CarbonType" panose="02000000000000000000" pitchFamily="2" charset="0"/>
              </a:rPr>
              <a:t>direct queries (at)</a:t>
            </a:r>
            <a:r>
              <a:rPr lang="en-US" sz="1700" dirty="0" err="1">
                <a:solidFill>
                  <a:schemeClr val="accent5">
                    <a:lumMod val="40000"/>
                    <a:lumOff val="60000"/>
                  </a:schemeClr>
                </a:solidFill>
                <a:latin typeface="CarbonType" panose="02000000000000000000" pitchFamily="2" charset="0"/>
              </a:rPr>
              <a:t>sql-sith</a:t>
            </a:r>
            <a:r>
              <a:rPr lang="en-US" sz="1700" dirty="0">
                <a:solidFill>
                  <a:schemeClr val="accent5">
                    <a:lumMod val="40000"/>
                    <a:lumOff val="60000"/>
                  </a:schemeClr>
                </a:solidFill>
                <a:latin typeface="CarbonType" panose="02000000000000000000" pitchFamily="2" charset="0"/>
              </a:rPr>
              <a:t> on </a:t>
            </a:r>
            <a:r>
              <a:rPr lang="en-US" sz="1700" dirty="0" err="1">
                <a:solidFill>
                  <a:schemeClr val="accent5">
                    <a:lumMod val="40000"/>
                    <a:lumOff val="60000"/>
                  </a:schemeClr>
                </a:solidFill>
                <a:latin typeface="CarbonType" panose="02000000000000000000" pitchFamily="2" charset="0"/>
              </a:rPr>
              <a:t>github</a:t>
            </a:r>
            <a:r>
              <a:rPr lang="en-US" sz="1700" dirty="0">
                <a:solidFill>
                  <a:schemeClr val="accent5">
                    <a:lumMod val="40000"/>
                    <a:lumOff val="60000"/>
                  </a:schemeClr>
                </a:solidFill>
                <a:latin typeface="CarbonType" panose="02000000000000000000" pitchFamily="2" charset="0"/>
              </a:rPr>
              <a:t>. it’s a website.</a:t>
            </a:r>
          </a:p>
          <a:p>
            <a:pPr algn="r"/>
            <a:endParaRPr lang="en-US" sz="1700" dirty="0">
              <a:solidFill>
                <a:schemeClr val="accent5">
                  <a:lumMod val="40000"/>
                  <a:lumOff val="60000"/>
                </a:schemeClr>
              </a:solidFill>
              <a:latin typeface="CarbonType" panose="02000000000000000000" pitchFamily="2" charset="0"/>
            </a:endParaRPr>
          </a:p>
          <a:p>
            <a:pPr algn="r"/>
            <a:r>
              <a:rPr lang="en-US" sz="1200" i="1" baseline="30000" dirty="0">
                <a:solidFill>
                  <a:schemeClr val="accent5">
                    <a:lumMod val="40000"/>
                    <a:lumOff val="60000"/>
                  </a:schemeClr>
                </a:solidFill>
                <a:latin typeface="CarbonType" panose="02000000000000000000" pitchFamily="2" charset="0"/>
              </a:rPr>
              <a:t>*</a:t>
            </a:r>
            <a:r>
              <a:rPr lang="en-US" sz="1200" i="1" dirty="0">
                <a:solidFill>
                  <a:schemeClr val="accent5">
                    <a:lumMod val="40000"/>
                    <a:lumOff val="60000"/>
                  </a:schemeClr>
                </a:solidFill>
                <a:latin typeface="CarbonType" panose="02000000000000000000" pitchFamily="2" charset="0"/>
              </a:rPr>
              <a:t>note: not a fan club for spelling bees, bats, spiders, snakes, cardinals, cyclones, </a:t>
            </a:r>
            <a:r>
              <a:rPr lang="en-US" sz="1200" i="1" dirty="0" err="1">
                <a:solidFill>
                  <a:schemeClr val="accent5">
                    <a:lumMod val="40000"/>
                    <a:lumOff val="60000"/>
                  </a:schemeClr>
                </a:solidFill>
                <a:latin typeface="CarbonType" panose="02000000000000000000" pitchFamily="2" charset="0"/>
              </a:rPr>
              <a:t>vikings</a:t>
            </a:r>
            <a:r>
              <a:rPr lang="en-US" sz="1200" i="1" dirty="0">
                <a:solidFill>
                  <a:schemeClr val="accent5">
                    <a:lumMod val="40000"/>
                    <a:lumOff val="60000"/>
                  </a:schemeClr>
                </a:solidFill>
                <a:latin typeface="CarbonType" panose="02000000000000000000" pitchFamily="2" charset="0"/>
              </a:rPr>
              <a:t> or packers.</a:t>
            </a:r>
          </a:p>
        </p:txBody>
      </p:sp>
    </p:spTree>
    <p:extLst>
      <p:ext uri="{BB962C8B-B14F-4D97-AF65-F5344CB8AC3E}">
        <p14:creationId xmlns:p14="http://schemas.microsoft.com/office/powerpoint/2010/main" val="2430676025"/>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3D49CB4-96AE-A42B-6382-75ABD7FD6AF6}"/>
              </a:ext>
            </a:extLst>
          </p:cNvPr>
          <p:cNvPicPr>
            <a:picLocks noChangeAspect="1"/>
          </p:cNvPicPr>
          <p:nvPr userDrawn="1"/>
        </p:nvPicPr>
        <p:blipFill>
          <a:blip r:embed="rId3"/>
          <a:srcRect l="980" r="196" b="7082"/>
          <a:stretch>
            <a:fillRect/>
          </a:stretch>
        </p:blipFill>
        <p:spPr>
          <a:xfrm>
            <a:off x="-48768" y="-32004"/>
            <a:ext cx="12289536" cy="6922008"/>
          </a:xfrm>
          <a:prstGeom prst="rect">
            <a:avLst/>
          </a:prstGeom>
        </p:spPr>
      </p:pic>
      <p:sp>
        <p:nvSpPr>
          <p:cNvPr id="10" name="TextBox 9">
            <a:extLst>
              <a:ext uri="{FF2B5EF4-FFF2-40B4-BE49-F238E27FC236}">
                <a16:creationId xmlns:a16="http://schemas.microsoft.com/office/drawing/2014/main" id="{B84799CF-13C7-A9C2-897B-9BD9DB5F4D69}"/>
              </a:ext>
            </a:extLst>
          </p:cNvPr>
          <p:cNvSpPr txBox="1">
            <a:spLocks/>
          </p:cNvSpPr>
          <p:nvPr userDrawn="1"/>
        </p:nvSpPr>
        <p:spPr>
          <a:xfrm>
            <a:off x="4860166" y="1944699"/>
            <a:ext cx="7378837" cy="4955203"/>
          </a:xfrm>
          <a:prstGeom prst="rect">
            <a:avLst/>
          </a:prstGeom>
          <a:noFill/>
        </p:spPr>
        <p:txBody>
          <a:bodyPr wrap="square" rtlCol="0">
            <a:spAutoFit/>
          </a:bodyPr>
          <a:lstStyle/>
          <a:p>
            <a:pPr algn="r"/>
            <a:r>
              <a:rPr lang="en-US" sz="1800" b="1" dirty="0">
                <a:ln w="6350" cmpd="sng">
                  <a:noFill/>
                </a:ln>
                <a:solidFill>
                  <a:srgbClr val="92D050"/>
                </a:solidFill>
                <a:latin typeface="CarbonType" panose="02000000000000000000" pitchFamily="2" charset="0"/>
              </a:rPr>
              <a:t>CEDAR RAPIDS AREA </a:t>
            </a:r>
          </a:p>
          <a:p>
            <a:pPr algn="r"/>
            <a:r>
              <a:rPr lang="en-US" sz="1800" b="1" dirty="0">
                <a:ln w="6350" cmpd="sng">
                  <a:noFill/>
                </a:ln>
                <a:solidFill>
                  <a:srgbClr val="92D050"/>
                </a:solidFill>
                <a:latin typeface="CarbonType" panose="02000000000000000000" pitchFamily="2" charset="0"/>
              </a:rPr>
              <a:t>hHO0omM5S$scCKkullz</a:t>
            </a:r>
            <a:r>
              <a:rPr lang="en-US" sz="1800" b="1" baseline="30000" dirty="0">
                <a:ln w="6350" cmpd="sng">
                  <a:noFill/>
                </a:ln>
                <a:solidFill>
                  <a:srgbClr val="92D050"/>
                </a:solidFill>
                <a:latin typeface="CarbonType" panose="02000000000000000000" pitchFamily="2" charset="0"/>
              </a:rPr>
              <a:t>*</a:t>
            </a:r>
          </a:p>
          <a:p>
            <a:pPr algn="r"/>
            <a:endParaRPr lang="en-US" sz="1800" b="1" dirty="0">
              <a:ln w="6350" cmpd="sng">
                <a:noFill/>
              </a:ln>
              <a:solidFill>
                <a:srgbClr val="92D050"/>
              </a:solidFill>
              <a:latin typeface="CarbonType" panose="02000000000000000000" pitchFamily="2" charset="0"/>
            </a:endParaRPr>
          </a:p>
          <a:p>
            <a:pPr algn="r"/>
            <a:r>
              <a:rPr lang="en-US" sz="1700" b="1" dirty="0">
                <a:ln w="6350" cmpd="sng">
                  <a:noFill/>
                </a:ln>
                <a:solidFill>
                  <a:srgbClr val="92D050"/>
                </a:solidFill>
                <a:latin typeface="CarbonType" panose="02000000000000000000" pitchFamily="2" charset="0"/>
              </a:rPr>
              <a:t>i.t. club - cyber defense</a:t>
            </a:r>
          </a:p>
          <a:p>
            <a:pPr algn="r"/>
            <a:r>
              <a:rPr lang="en-US" sz="1700" b="1" dirty="0">
                <a:ln w="6350" cmpd="sng">
                  <a:noFill/>
                </a:ln>
                <a:solidFill>
                  <a:srgbClr val="92D050"/>
                </a:solidFill>
                <a:latin typeface="CarbonType" panose="02000000000000000000" pitchFamily="2" charset="0"/>
              </a:rPr>
              <a:t>2025-2026 edition</a:t>
            </a:r>
          </a:p>
          <a:p>
            <a:pPr algn="r"/>
            <a:endParaRPr lang="en-US" sz="1700" b="1" dirty="0">
              <a:ln w="6350" cmpd="sng">
                <a:noFill/>
              </a:ln>
              <a:solidFill>
                <a:srgbClr val="92D050"/>
              </a:solidFill>
              <a:latin typeface="CarbonType" panose="02000000000000000000" pitchFamily="2" charset="0"/>
            </a:endParaRPr>
          </a:p>
          <a:p>
            <a:pPr algn="r"/>
            <a:endParaRPr lang="en-US" sz="1700" b="1" dirty="0">
              <a:ln w="6350" cmpd="sng">
                <a:noFill/>
              </a:ln>
              <a:solidFill>
                <a:srgbClr val="92D050"/>
              </a:solidFill>
              <a:latin typeface="CarbonType" panose="02000000000000000000" pitchFamily="2" charset="0"/>
            </a:endParaRPr>
          </a:p>
          <a:p>
            <a:pPr algn="r"/>
            <a:endParaRPr lang="en-US" sz="1700" b="1" dirty="0">
              <a:ln w="6350" cmpd="sng">
                <a:noFill/>
              </a:ln>
              <a:solidFill>
                <a:srgbClr val="92D050"/>
              </a:solidFill>
              <a:latin typeface="CarbonType" panose="02000000000000000000" pitchFamily="2" charset="0"/>
            </a:endParaRPr>
          </a:p>
          <a:p>
            <a:pPr algn="r"/>
            <a:endParaRPr lang="en-US" sz="1700" b="1" dirty="0">
              <a:ln w="6350" cmpd="sng">
                <a:noFill/>
              </a:ln>
              <a:solidFill>
                <a:srgbClr val="92D050"/>
              </a:solidFill>
              <a:latin typeface="CarbonType" panose="02000000000000000000" pitchFamily="2" charset="0"/>
            </a:endParaRPr>
          </a:p>
          <a:p>
            <a:pPr algn="r"/>
            <a:endParaRPr lang="en-US" sz="1700" b="1" dirty="0">
              <a:ln w="6350" cmpd="sng">
                <a:noFill/>
              </a:ln>
              <a:solidFill>
                <a:srgbClr val="92D050"/>
              </a:solidFill>
              <a:latin typeface="CarbonType" panose="02000000000000000000" pitchFamily="2" charset="0"/>
            </a:endParaRPr>
          </a:p>
          <a:p>
            <a:pPr algn="r"/>
            <a:r>
              <a:rPr lang="en-US" sz="1700" b="1" dirty="0">
                <a:ln w="6350" cmpd="sng">
                  <a:noFill/>
                </a:ln>
                <a:solidFill>
                  <a:srgbClr val="92D050"/>
                </a:solidFill>
                <a:latin typeface="CarbonType" panose="02000000000000000000" pitchFamily="2" charset="0"/>
              </a:rPr>
              <a:t>mentors:</a:t>
            </a:r>
          </a:p>
          <a:p>
            <a:pPr algn="r"/>
            <a:r>
              <a:rPr lang="en-US" sz="1700" b="1" dirty="0" err="1">
                <a:ln w="6350" cmpd="sng">
                  <a:noFill/>
                </a:ln>
                <a:solidFill>
                  <a:srgbClr val="92D050"/>
                </a:solidFill>
                <a:latin typeface="CarbonType" panose="02000000000000000000" pitchFamily="2" charset="0"/>
              </a:rPr>
              <a:t>sql</a:t>
            </a:r>
            <a:r>
              <a:rPr lang="en-US" sz="1700" b="1" dirty="0">
                <a:ln w="6350" cmpd="sng">
                  <a:noFill/>
                </a:ln>
                <a:solidFill>
                  <a:srgbClr val="92D050"/>
                </a:solidFill>
                <a:latin typeface="CarbonType" panose="02000000000000000000" pitchFamily="2" charset="0"/>
              </a:rPr>
              <a:t> </a:t>
            </a:r>
            <a:r>
              <a:rPr lang="en-US" sz="1700" b="1" dirty="0" err="1">
                <a:ln w="6350" cmpd="sng">
                  <a:noFill/>
                </a:ln>
                <a:solidFill>
                  <a:srgbClr val="92D050"/>
                </a:solidFill>
                <a:latin typeface="CarbonType" panose="02000000000000000000" pitchFamily="2" charset="0"/>
              </a:rPr>
              <a:t>sith</a:t>
            </a:r>
            <a:r>
              <a:rPr lang="en-US" sz="1700" b="1" dirty="0">
                <a:ln w="6350" cmpd="sng">
                  <a:noFill/>
                </a:ln>
                <a:solidFill>
                  <a:srgbClr val="92D050"/>
                </a:solidFill>
                <a:latin typeface="CarbonType" panose="02000000000000000000" pitchFamily="2" charset="0"/>
              </a:rPr>
              <a:t>! </a:t>
            </a:r>
            <a:r>
              <a:rPr lang="en-US" sz="1700" b="1" dirty="0" err="1">
                <a:ln w="6350" cmpd="sng">
                  <a:noFill/>
                </a:ln>
                <a:solidFill>
                  <a:srgbClr val="92D050"/>
                </a:solidFill>
                <a:latin typeface="CarbonType" panose="02000000000000000000" pitchFamily="2" charset="0"/>
              </a:rPr>
              <a:t>gigachad</a:t>
            </a:r>
            <a:r>
              <a:rPr lang="en-US" sz="1700" b="1" dirty="0">
                <a:ln w="6350" cmpd="sng">
                  <a:noFill/>
                </a:ln>
                <a:solidFill>
                  <a:srgbClr val="92D050"/>
                </a:solidFill>
                <a:latin typeface="CarbonType" panose="02000000000000000000" pitchFamily="2" charset="0"/>
              </a:rPr>
              <a:t>! captain dan!</a:t>
            </a:r>
            <a:br>
              <a:rPr lang="en-US" sz="1700" b="1" dirty="0">
                <a:ln w="6350" cmpd="sng">
                  <a:noFill/>
                </a:ln>
                <a:solidFill>
                  <a:srgbClr val="92D050"/>
                </a:solidFill>
                <a:latin typeface="CarbonType" panose="02000000000000000000" pitchFamily="2" charset="0"/>
              </a:rPr>
            </a:br>
            <a:r>
              <a:rPr lang="en-US" sz="1700" b="1" dirty="0" err="1">
                <a:ln w="6350" cmpd="sng">
                  <a:noFill/>
                </a:ln>
                <a:solidFill>
                  <a:srgbClr val="92D050"/>
                </a:solidFill>
                <a:latin typeface="CarbonType" panose="02000000000000000000" pitchFamily="2" charset="0"/>
              </a:rPr>
              <a:t>karl</a:t>
            </a:r>
            <a:r>
              <a:rPr lang="en-US" sz="1700" b="1" dirty="0">
                <a:ln w="6350" cmpd="sng">
                  <a:noFill/>
                </a:ln>
                <a:solidFill>
                  <a:srgbClr val="92D050"/>
                </a:solidFill>
                <a:latin typeface="CarbonType" panose="02000000000000000000" pitchFamily="2" charset="0"/>
              </a:rPr>
              <a:t>!</a:t>
            </a:r>
          </a:p>
          <a:p>
            <a:pPr algn="r"/>
            <a:endParaRPr lang="en-US" sz="1700" b="1" dirty="0">
              <a:ln w="6350" cmpd="sng">
                <a:noFill/>
              </a:ln>
              <a:solidFill>
                <a:srgbClr val="92D050"/>
              </a:solidFill>
              <a:latin typeface="CarbonType" panose="02000000000000000000" pitchFamily="2" charset="0"/>
            </a:endParaRPr>
          </a:p>
          <a:p>
            <a:pPr algn="r"/>
            <a:r>
              <a:rPr lang="en-US" sz="1700" b="1" dirty="0">
                <a:ln w="6350" cmpd="sng">
                  <a:noFill/>
                </a:ln>
                <a:solidFill>
                  <a:srgbClr val="92D050"/>
                </a:solidFill>
                <a:latin typeface="CarbonType" panose="02000000000000000000" pitchFamily="2" charset="0"/>
              </a:rPr>
              <a:t>direct queries (at)</a:t>
            </a:r>
            <a:r>
              <a:rPr lang="en-US" sz="1700" b="1" dirty="0" err="1">
                <a:ln w="6350" cmpd="sng">
                  <a:noFill/>
                </a:ln>
                <a:solidFill>
                  <a:srgbClr val="92D050"/>
                </a:solidFill>
                <a:latin typeface="CarbonType" panose="02000000000000000000" pitchFamily="2" charset="0"/>
              </a:rPr>
              <a:t>sql-sith</a:t>
            </a:r>
            <a:r>
              <a:rPr lang="en-US" sz="1700" b="1" dirty="0">
                <a:ln w="6350" cmpd="sng">
                  <a:noFill/>
                </a:ln>
                <a:solidFill>
                  <a:srgbClr val="92D050"/>
                </a:solidFill>
                <a:latin typeface="CarbonType" panose="02000000000000000000" pitchFamily="2" charset="0"/>
              </a:rPr>
              <a:t> on </a:t>
            </a:r>
            <a:r>
              <a:rPr lang="en-US" sz="1700" b="1" dirty="0" err="1">
                <a:ln w="6350" cmpd="sng">
                  <a:noFill/>
                </a:ln>
                <a:solidFill>
                  <a:srgbClr val="92D050"/>
                </a:solidFill>
                <a:latin typeface="CarbonType" panose="02000000000000000000" pitchFamily="2" charset="0"/>
              </a:rPr>
              <a:t>github</a:t>
            </a:r>
            <a:r>
              <a:rPr lang="en-US" sz="1700" b="1" dirty="0">
                <a:ln w="6350" cmpd="sng">
                  <a:noFill/>
                </a:ln>
                <a:solidFill>
                  <a:srgbClr val="92D050"/>
                </a:solidFill>
                <a:latin typeface="CarbonType" panose="02000000000000000000" pitchFamily="2" charset="0"/>
              </a:rPr>
              <a:t>.</a:t>
            </a:r>
          </a:p>
          <a:p>
            <a:pPr algn="r"/>
            <a:r>
              <a:rPr lang="en-US" sz="1700" b="1" dirty="0">
                <a:ln w="6350" cmpd="sng">
                  <a:noFill/>
                </a:ln>
                <a:solidFill>
                  <a:srgbClr val="92D050"/>
                </a:solidFill>
                <a:latin typeface="CarbonType" panose="02000000000000000000" pitchFamily="2" charset="0"/>
              </a:rPr>
              <a:t>it’s a website.</a:t>
            </a:r>
          </a:p>
          <a:p>
            <a:pPr algn="r"/>
            <a:endParaRPr lang="en-US" sz="1700" b="1" dirty="0">
              <a:ln w="6350" cmpd="sng">
                <a:noFill/>
              </a:ln>
              <a:solidFill>
                <a:srgbClr val="92D050"/>
              </a:solidFill>
              <a:latin typeface="CarbonType" panose="02000000000000000000" pitchFamily="2" charset="0"/>
            </a:endParaRPr>
          </a:p>
          <a:p>
            <a:pPr algn="r"/>
            <a:r>
              <a:rPr lang="en-US" sz="1200" b="1" i="1" baseline="30000" dirty="0">
                <a:ln w="6350" cmpd="sng">
                  <a:noFill/>
                </a:ln>
                <a:solidFill>
                  <a:srgbClr val="92D050"/>
                </a:solidFill>
                <a:latin typeface="CarbonType" panose="02000000000000000000" pitchFamily="2" charset="0"/>
              </a:rPr>
              <a:t>*</a:t>
            </a:r>
            <a:r>
              <a:rPr lang="en-US" sz="1200" b="1" i="1" dirty="0">
                <a:ln w="6350" cmpd="sng">
                  <a:noFill/>
                </a:ln>
                <a:solidFill>
                  <a:srgbClr val="92D050"/>
                </a:solidFill>
                <a:latin typeface="CarbonType" panose="02000000000000000000" pitchFamily="2" charset="0"/>
              </a:rPr>
              <a:t>note: not a fan club for spelling bees, bats, spiders,</a:t>
            </a:r>
            <a:br>
              <a:rPr lang="en-US" sz="1200" b="1" i="1" dirty="0">
                <a:ln w="6350" cmpd="sng">
                  <a:noFill/>
                </a:ln>
                <a:solidFill>
                  <a:srgbClr val="92D050"/>
                </a:solidFill>
                <a:latin typeface="CarbonType" panose="02000000000000000000" pitchFamily="2" charset="0"/>
              </a:rPr>
            </a:br>
            <a:r>
              <a:rPr lang="en-US" sz="1200" b="1" i="1" dirty="0">
                <a:ln w="6350" cmpd="sng">
                  <a:noFill/>
                </a:ln>
                <a:solidFill>
                  <a:srgbClr val="92D050"/>
                </a:solidFill>
                <a:latin typeface="CarbonType" panose="02000000000000000000" pitchFamily="2" charset="0"/>
              </a:rPr>
              <a:t>snakes, cardinals, cyclones, </a:t>
            </a:r>
            <a:r>
              <a:rPr lang="en-US" sz="1200" b="1" i="1" dirty="0" err="1">
                <a:ln w="6350" cmpd="sng">
                  <a:noFill/>
                </a:ln>
                <a:solidFill>
                  <a:srgbClr val="92D050"/>
                </a:solidFill>
                <a:latin typeface="CarbonType" panose="02000000000000000000" pitchFamily="2" charset="0"/>
              </a:rPr>
              <a:t>vikings</a:t>
            </a:r>
            <a:r>
              <a:rPr lang="en-US" sz="1200" b="1" i="1" dirty="0">
                <a:ln w="6350" cmpd="sng">
                  <a:noFill/>
                </a:ln>
                <a:solidFill>
                  <a:srgbClr val="92D050"/>
                </a:solidFill>
                <a:latin typeface="CarbonType" panose="02000000000000000000" pitchFamily="2" charset="0"/>
              </a:rPr>
              <a:t> or packers.</a:t>
            </a:r>
          </a:p>
        </p:txBody>
      </p:sp>
    </p:spTree>
    <p:extLst>
      <p:ext uri="{BB962C8B-B14F-4D97-AF65-F5344CB8AC3E}">
        <p14:creationId xmlns:p14="http://schemas.microsoft.com/office/powerpoint/2010/main" val="253456622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rgbClr val="7DBD94"/>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bitwarden.com/pricing/"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playground.iseage.org/"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2026–2027 cinematic cyber-city background" descr="Cinematic science-fiction cyber-city at night with packet-like light trails and a distant planet."/>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5989320"/>
            <a:ext cx="12192000" cy="868680"/>
          </a:xfrm>
          <a:prstGeom prst="rect">
            <a:avLst/>
          </a:prstGeom>
          <a:solidFill>
            <a:srgbClr val="040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eason marker"/>
          <p:cNvSpPr txBox="1"/>
          <p:nvPr/>
        </p:nvSpPr>
        <p:spPr>
          <a:xfrm>
            <a:off x="658368" y="438912"/>
            <a:ext cx="7498079" cy="320040"/>
          </a:xfrm>
          <a:prstGeom prst="rect">
            <a:avLst/>
          </a:prstGeom>
          <a:noFill/>
        </p:spPr>
        <p:txBody>
          <a:bodyPr wrap="square">
            <a:spAutoFit/>
          </a:bodyPr>
          <a:lstStyle/>
          <a:p>
            <a:pPr algn="l"/>
            <a:r>
              <a:rPr sz="1400" b="1">
                <a:solidFill>
                  <a:srgbClr val="5BF2D3"/>
                </a:solidFill>
                <a:latin typeface="CarbonType"/>
              </a:rPr>
              <a:t>CEDAR RAPIDS AREA CYBER CLUB  /  2026–2027</a:t>
            </a:r>
          </a:p>
        </p:txBody>
      </p:sp>
      <p:sp>
        <p:nvSpPr>
          <p:cNvPr id="7" name="Editable video title"/>
          <p:cNvSpPr txBox="1"/>
          <p:nvPr/>
        </p:nvSpPr>
        <p:spPr>
          <a:xfrm>
            <a:off x="658368" y="780467"/>
            <a:ext cx="9784080" cy="1538883"/>
          </a:xfrm>
          <a:prstGeom prst="rect">
            <a:avLst/>
          </a:prstGeom>
          <a:noFill/>
        </p:spPr>
        <p:txBody>
          <a:bodyPr wrap="square" anchor="ctr">
            <a:spAutoFit/>
          </a:bodyPr>
          <a:lstStyle/>
          <a:p>
            <a:pPr algn="l"/>
            <a:r>
              <a:rPr lang="en-US" sz="4700" b="1" dirty="0" err="1">
                <a:solidFill>
                  <a:srgbClr val="F5F8FF"/>
                </a:solidFill>
                <a:latin typeface="CarbonType"/>
              </a:rPr>
              <a:t>vm</a:t>
            </a:r>
            <a:r>
              <a:rPr lang="en-US" sz="4700" b="1" dirty="0">
                <a:solidFill>
                  <a:srgbClr val="F5F8FF"/>
                </a:solidFill>
                <a:latin typeface="CarbonType"/>
              </a:rPr>
              <a:t> destruct-a-</a:t>
            </a:r>
            <a:r>
              <a:rPr lang="en-US" sz="4700" b="1" dirty="0" err="1">
                <a:solidFill>
                  <a:srgbClr val="F5F8FF"/>
                </a:solidFill>
                <a:latin typeface="CarbonType"/>
              </a:rPr>
              <a:t>rama</a:t>
            </a:r>
            <a:r>
              <a:rPr lang="en-US" sz="4700" b="1" dirty="0">
                <a:solidFill>
                  <a:srgbClr val="F5F8FF"/>
                </a:solidFill>
                <a:latin typeface="CarbonType"/>
              </a:rPr>
              <a:t>, </a:t>
            </a:r>
            <a:r>
              <a:rPr lang="en-US" sz="4700" b="1" dirty="0" err="1">
                <a:solidFill>
                  <a:srgbClr val="F5F8FF"/>
                </a:solidFill>
                <a:latin typeface="CarbonType"/>
              </a:rPr>
              <a:t>vm</a:t>
            </a:r>
            <a:r>
              <a:rPr lang="en-US" sz="4700" b="1" dirty="0">
                <a:solidFill>
                  <a:srgbClr val="F5F8FF"/>
                </a:solidFill>
                <a:latin typeface="CarbonType"/>
              </a:rPr>
              <a:t> no-create-o,</a:t>
            </a:r>
            <a:br>
              <a:rPr lang="en-US" sz="4700" b="1" dirty="0">
                <a:solidFill>
                  <a:srgbClr val="F5F8FF"/>
                </a:solidFill>
                <a:latin typeface="CarbonType"/>
              </a:rPr>
            </a:br>
            <a:r>
              <a:rPr lang="en-US" sz="4700" b="1" dirty="0" err="1">
                <a:solidFill>
                  <a:srgbClr val="F5F8FF"/>
                </a:solidFill>
                <a:latin typeface="CarbonType"/>
              </a:rPr>
              <a:t>bitwarden</a:t>
            </a:r>
            <a:r>
              <a:rPr lang="en-US" sz="4700" b="1" dirty="0">
                <a:solidFill>
                  <a:srgbClr val="F5F8FF"/>
                </a:solidFill>
                <a:latin typeface="CarbonType"/>
              </a:rPr>
              <a:t>, and </a:t>
            </a:r>
            <a:r>
              <a:rPr lang="en-US" sz="4700" b="1" dirty="0" err="1">
                <a:solidFill>
                  <a:srgbClr val="F5F8FF"/>
                </a:solidFill>
                <a:latin typeface="CarbonType"/>
              </a:rPr>
              <a:t>hans'</a:t>
            </a:r>
            <a:r>
              <a:rPr lang="en-US" sz="4700" b="1" dirty="0">
                <a:solidFill>
                  <a:srgbClr val="F5F8FF"/>
                </a:solidFill>
                <a:latin typeface="CarbonType"/>
              </a:rPr>
              <a:t> home network</a:t>
            </a:r>
            <a:endParaRPr sz="4700" b="1" dirty="0">
              <a:solidFill>
                <a:srgbClr val="F5F8FF"/>
              </a:solidFill>
              <a:latin typeface="CarbonType"/>
            </a:endParaRPr>
          </a:p>
        </p:txBody>
      </p:sp>
      <p:sp>
        <p:nvSpPr>
          <p:cNvPr id="8" name="Editable hook and date"/>
          <p:cNvSpPr txBox="1"/>
          <p:nvPr/>
        </p:nvSpPr>
        <p:spPr>
          <a:xfrm>
            <a:off x="694944" y="2286000"/>
            <a:ext cx="7040880" cy="677108"/>
          </a:xfrm>
          <a:prstGeom prst="rect">
            <a:avLst/>
          </a:prstGeom>
          <a:noFill/>
        </p:spPr>
        <p:txBody>
          <a:bodyPr wrap="square">
            <a:spAutoFit/>
          </a:bodyPr>
          <a:lstStyle/>
          <a:p>
            <a:pPr algn="l"/>
            <a:r>
              <a:rPr lang="en-US" sz="1900" i="1" dirty="0">
                <a:solidFill>
                  <a:srgbClr val="FFAA91"/>
                </a:solidFill>
                <a:latin typeface="Aptos"/>
              </a:rPr>
              <a:t>the day </a:t>
            </a:r>
            <a:r>
              <a:rPr lang="en-US" sz="1900" i="1" dirty="0" err="1">
                <a:solidFill>
                  <a:srgbClr val="FFAA91"/>
                </a:solidFill>
                <a:latin typeface="Aptos"/>
              </a:rPr>
              <a:t>proxmox</a:t>
            </a:r>
            <a:r>
              <a:rPr lang="en-US" sz="1900" i="1" dirty="0">
                <a:solidFill>
                  <a:srgbClr val="FFAA91"/>
                </a:solidFill>
                <a:latin typeface="Aptos"/>
              </a:rPr>
              <a:t> stood still</a:t>
            </a:r>
            <a:endParaRPr sz="1900" i="1" dirty="0">
              <a:solidFill>
                <a:srgbClr val="FFAA91"/>
              </a:solidFill>
              <a:latin typeface="Aptos"/>
            </a:endParaRPr>
          </a:p>
          <a:p>
            <a:pPr>
              <a:spcBef>
                <a:spcPts val="600"/>
              </a:spcBef>
            </a:pPr>
            <a:r>
              <a:rPr sz="1400" b="1" dirty="0">
                <a:solidFill>
                  <a:srgbClr val="F5F8FF"/>
                </a:solidFill>
                <a:latin typeface="Aptos"/>
              </a:rPr>
              <a:t>2026-</a:t>
            </a:r>
            <a:r>
              <a:rPr lang="en-US" sz="1400" b="1" dirty="0">
                <a:solidFill>
                  <a:srgbClr val="F5F8FF"/>
                </a:solidFill>
                <a:latin typeface="Aptos"/>
              </a:rPr>
              <a:t>10-03</a:t>
            </a:r>
            <a:endParaRPr sz="1400" b="1" dirty="0">
              <a:solidFill>
                <a:srgbClr val="F5F8FF"/>
              </a:solidFill>
              <a:latin typeface="Aptos"/>
            </a:endParaRPr>
          </a:p>
        </p:txBody>
      </p:sp>
      <p:sp>
        <p:nvSpPr>
          <p:cNvPr id="9" name="Club and season details"/>
          <p:cNvSpPr txBox="1"/>
          <p:nvPr/>
        </p:nvSpPr>
        <p:spPr>
          <a:xfrm>
            <a:off x="8183879" y="4892040"/>
            <a:ext cx="3310128" cy="969264"/>
          </a:xfrm>
          <a:prstGeom prst="rect">
            <a:avLst/>
          </a:prstGeom>
          <a:noFill/>
        </p:spPr>
        <p:txBody>
          <a:bodyPr wrap="square" lIns="0" rIns="0">
            <a:spAutoFit/>
          </a:bodyPr>
          <a:lstStyle/>
          <a:p>
            <a:pPr algn="r">
              <a:spcBef>
                <a:spcPts val="0"/>
              </a:spcBef>
              <a:spcAft>
                <a:spcPts val="0"/>
              </a:spcAft>
            </a:pPr>
            <a:r>
              <a:rPr sz="1200" b="1">
                <a:solidFill>
                  <a:srgbClr val="5BF2D3"/>
                </a:solidFill>
                <a:latin typeface="Aptos"/>
              </a:rPr>
              <a:t>CEDAR RAPIDS AREA</a:t>
            </a:r>
          </a:p>
          <a:p>
            <a:pPr algn="r">
              <a:spcBef>
                <a:spcPts val="0"/>
              </a:spcBef>
              <a:spcAft>
                <a:spcPts val="0"/>
              </a:spcAft>
            </a:pPr>
            <a:r>
              <a:rPr sz="1100" b="1">
                <a:solidFill>
                  <a:srgbClr val="F5F8FF"/>
                </a:solidFill>
                <a:latin typeface="Aptos"/>
              </a:rPr>
              <a:t>4000hmSk1llz</a:t>
            </a:r>
          </a:p>
          <a:p>
            <a:pPr algn="r">
              <a:spcBef>
                <a:spcPts val="0"/>
              </a:spcBef>
              <a:spcAft>
                <a:spcPts val="0"/>
              </a:spcAft>
            </a:pPr>
            <a:r>
              <a:rPr sz="1000" b="0">
                <a:solidFill>
                  <a:srgbClr val="F5F8FF"/>
                </a:solidFill>
                <a:latin typeface="Aptos"/>
              </a:rPr>
              <a:t>Lt. club • cyber defense</a:t>
            </a:r>
          </a:p>
          <a:p>
            <a:pPr algn="r">
              <a:spcBef>
                <a:spcPts val="0"/>
              </a:spcBef>
              <a:spcAft>
                <a:spcPts val="0"/>
              </a:spcAft>
            </a:pPr>
            <a:r>
              <a:rPr sz="1000" b="1">
                <a:solidFill>
                  <a:srgbClr val="FFAA91"/>
                </a:solidFill>
                <a:latin typeface="Aptos"/>
              </a:rPr>
              <a:t>2026–2027 edition</a:t>
            </a:r>
          </a:p>
        </p:txBody>
      </p:sp>
      <p:sp>
        <p:nvSpPr>
          <p:cNvPr id="10" name="Mentor and contact footer"/>
          <p:cNvSpPr txBox="1"/>
          <p:nvPr/>
        </p:nvSpPr>
        <p:spPr>
          <a:xfrm>
            <a:off x="6656832" y="6117336"/>
            <a:ext cx="4846320" cy="366767"/>
          </a:xfrm>
          <a:prstGeom prst="rect">
            <a:avLst/>
          </a:prstGeom>
          <a:noFill/>
        </p:spPr>
        <p:txBody>
          <a:bodyPr wrap="square" lIns="0" rIns="0">
            <a:spAutoFit/>
          </a:bodyPr>
          <a:lstStyle/>
          <a:p>
            <a:pPr algn="r"/>
            <a:r>
              <a:rPr sz="900" b="1" dirty="0">
                <a:solidFill>
                  <a:srgbClr val="5BF2D3"/>
                </a:solidFill>
                <a:latin typeface="Aptos"/>
              </a:rPr>
              <a:t>mentors:  </a:t>
            </a:r>
            <a:r>
              <a:rPr sz="900" b="1" dirty="0" err="1">
                <a:solidFill>
                  <a:srgbClr val="5BF2D3"/>
                </a:solidFill>
                <a:latin typeface="Aptos"/>
              </a:rPr>
              <a:t>sql</a:t>
            </a:r>
            <a:r>
              <a:rPr sz="900" b="1" dirty="0">
                <a:solidFill>
                  <a:srgbClr val="5BF2D3"/>
                </a:solidFill>
                <a:latin typeface="Aptos"/>
              </a:rPr>
              <a:t> </a:t>
            </a:r>
            <a:r>
              <a:rPr sz="900" b="1" dirty="0" err="1">
                <a:solidFill>
                  <a:srgbClr val="5BF2D3"/>
                </a:solidFill>
                <a:latin typeface="Aptos"/>
              </a:rPr>
              <a:t>slth</a:t>
            </a:r>
            <a:r>
              <a:rPr sz="900" b="1" dirty="0">
                <a:solidFill>
                  <a:srgbClr val="5BF2D3"/>
                </a:solidFill>
                <a:latin typeface="Aptos"/>
              </a:rPr>
              <a:t>  |  </a:t>
            </a:r>
            <a:r>
              <a:rPr lang="en-US" sz="900" b="1" dirty="0" err="1">
                <a:solidFill>
                  <a:srgbClr val="5BF2D3"/>
                </a:solidFill>
                <a:latin typeface="Aptos"/>
              </a:rPr>
              <a:t>chad</a:t>
            </a:r>
            <a:r>
              <a:rPr sz="900" b="1" dirty="0">
                <a:solidFill>
                  <a:srgbClr val="5BF2D3"/>
                </a:solidFill>
                <a:latin typeface="Aptos"/>
              </a:rPr>
              <a:t>  |  </a:t>
            </a:r>
            <a:r>
              <a:rPr sz="900" b="1" dirty="0" err="1">
                <a:solidFill>
                  <a:srgbClr val="5BF2D3"/>
                </a:solidFill>
                <a:latin typeface="Aptos"/>
              </a:rPr>
              <a:t>karl</a:t>
            </a:r>
            <a:r>
              <a:rPr lang="en-US" sz="900" b="1" dirty="0">
                <a:solidFill>
                  <a:srgbClr val="5BF2D3"/>
                </a:solidFill>
                <a:latin typeface="Aptos"/>
              </a:rPr>
              <a:t> | </a:t>
            </a:r>
            <a:r>
              <a:rPr lang="en-US" sz="900" b="1" dirty="0" err="1">
                <a:solidFill>
                  <a:srgbClr val="5BF2D3"/>
                </a:solidFill>
                <a:latin typeface="Aptos"/>
              </a:rPr>
              <a:t>jon</a:t>
            </a:r>
            <a:r>
              <a:rPr lang="en-US" sz="900" b="1" dirty="0">
                <a:solidFill>
                  <a:srgbClr val="5BF2D3"/>
                </a:solidFill>
                <a:latin typeface="Aptos"/>
              </a:rPr>
              <a:t> | jimmy | josh | and a host of </a:t>
            </a:r>
            <a:r>
              <a:rPr lang="en-US" sz="900" b="1" dirty="0" err="1">
                <a:solidFill>
                  <a:srgbClr val="5BF2D3"/>
                </a:solidFill>
                <a:latin typeface="Aptos"/>
              </a:rPr>
              <a:t>isaacs</a:t>
            </a:r>
            <a:endParaRPr sz="900" b="1" dirty="0">
              <a:solidFill>
                <a:srgbClr val="5BF2D3"/>
              </a:solidFill>
              <a:latin typeface="Aptos"/>
            </a:endParaRPr>
          </a:p>
          <a:p>
            <a:pPr algn="r">
              <a:spcBef>
                <a:spcPts val="100"/>
              </a:spcBef>
            </a:pPr>
            <a:r>
              <a:rPr sz="800" i="1" dirty="0">
                <a:solidFill>
                  <a:srgbClr val="E1E8F4"/>
                </a:solidFill>
                <a:latin typeface="Aptos"/>
              </a:rPr>
              <a:t>direct queries (at) </a:t>
            </a:r>
            <a:r>
              <a:rPr sz="800" i="1" dirty="0" err="1">
                <a:solidFill>
                  <a:srgbClr val="E1E8F4"/>
                </a:solidFill>
                <a:latin typeface="Aptos"/>
              </a:rPr>
              <a:t>sql-slth</a:t>
            </a:r>
            <a:r>
              <a:rPr sz="800" i="1" dirty="0">
                <a:solidFill>
                  <a:srgbClr val="E1E8F4"/>
                </a:solidFill>
                <a:latin typeface="Aptos"/>
              </a:rPr>
              <a:t> on </a:t>
            </a:r>
            <a:r>
              <a:rPr sz="800" i="1" dirty="0" err="1">
                <a:solidFill>
                  <a:srgbClr val="E1E8F4"/>
                </a:solidFill>
                <a:latin typeface="Aptos"/>
              </a:rPr>
              <a:t>github</a:t>
            </a:r>
            <a:r>
              <a:rPr sz="800" i="1" dirty="0">
                <a:solidFill>
                  <a:srgbClr val="E1E8F4"/>
                </a:solidFill>
                <a:latin typeface="Aptos"/>
              </a:rPr>
              <a:t>, it's a website.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p:cNvSpPr txBox="1"/>
          <p:nvPr/>
        </p:nvSpPr>
        <p:spPr>
          <a:xfrm>
            <a:off x="658368" y="698510"/>
            <a:ext cx="9966960" cy="523220"/>
          </a:xfrm>
          <a:prstGeom prst="rect">
            <a:avLst/>
          </a:prstGeom>
          <a:noFill/>
        </p:spPr>
        <p:txBody>
          <a:bodyPr wrap="square" lIns="0" tIns="0" rIns="0" bIns="0" anchor="ctr">
            <a:spAutoFit/>
          </a:bodyPr>
          <a:lstStyle/>
          <a:p>
            <a:pPr algn="l"/>
            <a:r>
              <a:rPr lang="en-US" sz="3400" b="1" dirty="0">
                <a:solidFill>
                  <a:srgbClr val="F5F8FF"/>
                </a:solidFill>
                <a:latin typeface="CarbonType"/>
              </a:rPr>
              <a:t>What happened during our meeting today</a:t>
            </a:r>
            <a:endParaRPr sz="3400" b="1" i="0" dirty="0">
              <a:solidFill>
                <a:srgbClr val="F5F8FF"/>
              </a:solidFill>
              <a:latin typeface="CarbonType"/>
            </a:endParaRPr>
          </a:p>
        </p:txBody>
      </p:sp>
      <p:sp>
        <p:nvSpPr>
          <p:cNvPr id="7" name="Subtitle"/>
          <p:cNvSpPr txBox="1"/>
          <p:nvPr/>
        </p:nvSpPr>
        <p:spPr>
          <a:xfrm>
            <a:off x="694944" y="1271016"/>
            <a:ext cx="9418320" cy="200055"/>
          </a:xfrm>
          <a:prstGeom prst="rect">
            <a:avLst/>
          </a:prstGeom>
          <a:noFill/>
        </p:spPr>
        <p:txBody>
          <a:bodyPr wrap="square" lIns="0" tIns="0" rIns="0" bIns="0" anchor="t">
            <a:spAutoFit/>
          </a:bodyPr>
          <a:lstStyle/>
          <a:p>
            <a:pPr algn="l"/>
            <a:r>
              <a:rPr lang="en-US" sz="1300" b="0" i="1" dirty="0">
                <a:solidFill>
                  <a:srgbClr val="FFAA91"/>
                </a:solidFill>
                <a:latin typeface="Aptos"/>
              </a:rPr>
              <a:t>Why? Why? </a:t>
            </a:r>
            <a:r>
              <a:rPr lang="en-US" sz="1300" i="1" dirty="0">
                <a:solidFill>
                  <a:srgbClr val="FFAA91"/>
                </a:solidFill>
                <a:latin typeface="Aptos"/>
              </a:rPr>
              <a:t>Why? See "Why?" to the right.</a:t>
            </a:r>
            <a:endParaRPr sz="1300" b="0" i="1" dirty="0">
              <a:solidFill>
                <a:srgbClr val="FFAA91"/>
              </a:solidFill>
              <a:latin typeface="Aptos"/>
            </a:endParaRPr>
          </a:p>
        </p:txBody>
      </p:sp>
      <p:sp>
        <p:nvSpPr>
          <p:cNvPr id="8" name="Layout number"/>
          <p:cNvSpPr txBox="1"/>
          <p:nvPr/>
        </p:nvSpPr>
        <p:spPr>
          <a:xfrm>
            <a:off x="10744200" y="758952"/>
            <a:ext cx="749808" cy="274320"/>
          </a:xfrm>
          <a:prstGeom prst="rect">
            <a:avLst/>
          </a:prstGeom>
          <a:noFill/>
        </p:spPr>
        <p:txBody>
          <a:bodyPr wrap="square" lIns="0" tIns="0" rIns="0" bIns="0" anchor="t">
            <a:spAutoFit/>
          </a:bodyPr>
          <a:lstStyle/>
          <a:p>
            <a:pPr algn="r"/>
            <a:r>
              <a:rPr sz="1500" b="1" i="0" dirty="0">
                <a:solidFill>
                  <a:srgbClr val="5BF2D3"/>
                </a:solidFill>
                <a:latin typeface="CarbonType"/>
              </a:rPr>
              <a:t>01</a:t>
            </a:r>
          </a:p>
        </p:txBody>
      </p:sp>
      <p:sp>
        <p:nvSpPr>
          <p:cNvPr id="9" name="Rectangle 8"/>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2" name="Visual anchor"/>
          <p:cNvSpPr txBox="1"/>
          <p:nvPr/>
        </p:nvSpPr>
        <p:spPr>
          <a:xfrm>
            <a:off x="8887968" y="1719072"/>
            <a:ext cx="2194560" cy="738664"/>
          </a:xfrm>
          <a:prstGeom prst="rect">
            <a:avLst/>
          </a:prstGeom>
          <a:noFill/>
        </p:spPr>
        <p:txBody>
          <a:bodyPr wrap="square" lIns="0" tIns="0" rIns="0" bIns="0" anchor="t">
            <a:spAutoFit/>
          </a:bodyPr>
          <a:lstStyle/>
          <a:p>
            <a:pPr algn="r"/>
            <a:r>
              <a:rPr sz="4800" b="1" i="0" dirty="0">
                <a:solidFill>
                  <a:srgbClr val="C14DFF"/>
                </a:solidFill>
                <a:latin typeface="CarbonType"/>
              </a:rPr>
              <a:t>WHY</a:t>
            </a:r>
            <a:r>
              <a:rPr lang="en-US" sz="4800" b="1" i="0" dirty="0">
                <a:solidFill>
                  <a:srgbClr val="C14DFF"/>
                </a:solidFill>
                <a:latin typeface="CarbonType"/>
              </a:rPr>
              <a:t>?</a:t>
            </a:r>
            <a:endParaRPr sz="4800" b="1" i="0" dirty="0">
              <a:solidFill>
                <a:srgbClr val="C14DFF"/>
              </a:solidFill>
              <a:latin typeface="CarbonType"/>
            </a:endParaRPr>
          </a:p>
        </p:txBody>
      </p:sp>
      <p:sp>
        <p:nvSpPr>
          <p:cNvPr id="13" name="Takeaway prompt"/>
          <p:cNvSpPr txBox="1"/>
          <p:nvPr/>
        </p:nvSpPr>
        <p:spPr>
          <a:xfrm>
            <a:off x="8458200" y="2487168"/>
            <a:ext cx="2606040" cy="1938992"/>
          </a:xfrm>
          <a:prstGeom prst="rect">
            <a:avLst/>
          </a:prstGeom>
          <a:noFill/>
        </p:spPr>
        <p:txBody>
          <a:bodyPr wrap="square" lIns="0" tIns="0" rIns="0" bIns="0" anchor="t">
            <a:spAutoFit/>
          </a:bodyPr>
          <a:lstStyle/>
          <a:p>
            <a:pPr algn="r"/>
            <a:r>
              <a:rPr lang="en-US" sz="1800" b="0" i="0" dirty="0" err="1">
                <a:solidFill>
                  <a:srgbClr val="AAB9D2"/>
                </a:solidFill>
                <a:latin typeface="Aptos"/>
              </a:rPr>
              <a:t>Proxmox</a:t>
            </a:r>
            <a:r>
              <a:rPr lang="en-US" sz="1800" b="0" i="0" dirty="0">
                <a:solidFill>
                  <a:srgbClr val="AAB9D2"/>
                </a:solidFill>
                <a:latin typeface="Aptos"/>
              </a:rPr>
              <a:t> was no match for the sheer volume of requests we were able to generate.</a:t>
            </a:r>
            <a:br>
              <a:rPr lang="en-US" sz="1800" b="0" i="0" dirty="0">
                <a:solidFill>
                  <a:srgbClr val="AAB9D2"/>
                </a:solidFill>
                <a:latin typeface="Aptos"/>
              </a:rPr>
            </a:br>
            <a:br>
              <a:rPr lang="en-US" sz="1800" b="0" i="0" dirty="0">
                <a:solidFill>
                  <a:srgbClr val="AAB9D2"/>
                </a:solidFill>
                <a:latin typeface="Aptos"/>
              </a:rPr>
            </a:br>
            <a:r>
              <a:rPr lang="en-US" sz="1800" b="1" i="0" dirty="0">
                <a:solidFill>
                  <a:srgbClr val="AAB9D2"/>
                </a:solidFill>
                <a:latin typeface="Aptos"/>
              </a:rPr>
              <a:t>Team 5: 1</a:t>
            </a:r>
            <a:br>
              <a:rPr lang="en-US" sz="1800" b="1" i="0" dirty="0">
                <a:solidFill>
                  <a:srgbClr val="AAB9D2"/>
                </a:solidFill>
                <a:latin typeface="Aptos"/>
              </a:rPr>
            </a:br>
            <a:r>
              <a:rPr lang="en-US" sz="1800" b="1" i="0" dirty="0" err="1">
                <a:solidFill>
                  <a:srgbClr val="AAB9D2"/>
                </a:solidFill>
                <a:latin typeface="Aptos"/>
              </a:rPr>
              <a:t>Proxmox</a:t>
            </a:r>
            <a:r>
              <a:rPr lang="en-US" sz="1800" b="1" i="0" dirty="0">
                <a:solidFill>
                  <a:srgbClr val="AAB9D2"/>
                </a:solidFill>
                <a:latin typeface="Aptos"/>
              </a:rPr>
              <a:t>: 0</a:t>
            </a:r>
            <a:endParaRPr sz="1800" b="0" i="0" dirty="0">
              <a:solidFill>
                <a:srgbClr val="AAB9D2"/>
              </a:solidFill>
              <a:latin typeface="Aptos"/>
            </a:endParaRPr>
          </a:p>
        </p:txBody>
      </p:sp>
      <p:sp>
        <p:nvSpPr>
          <p:cNvPr id="14" name="Rectangle 13"/>
          <p:cNvSpPr/>
          <p:nvPr/>
        </p:nvSpPr>
        <p:spPr>
          <a:xfrm>
            <a:off x="8065008" y="1764792"/>
            <a:ext cx="22860" cy="3639312"/>
          </a:xfrm>
          <a:prstGeom prst="rect">
            <a:avLst/>
          </a:prstGeom>
          <a:solidFill>
            <a:srgbClr val="FFA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ditable bullet list"/>
          <p:cNvSpPr txBox="1"/>
          <p:nvPr/>
        </p:nvSpPr>
        <p:spPr>
          <a:xfrm>
            <a:off x="841248" y="1719072"/>
            <a:ext cx="6629400" cy="2090893"/>
          </a:xfrm>
          <a:prstGeom prst="rect">
            <a:avLst/>
          </a:prstGeom>
          <a:noFill/>
        </p:spPr>
        <p:txBody>
          <a:bodyPr wrap="square" lIns="0" tIns="0" rIns="0" bIns="0">
            <a:spAutoFit/>
          </a:bodyPr>
          <a:lstStyle/>
          <a:p>
            <a:pPr>
              <a:lnSpc>
                <a:spcPct val="105000"/>
              </a:lnSpc>
              <a:spcBef>
                <a:spcPts val="500"/>
              </a:spcBef>
              <a:spcAft>
                <a:spcPts val="100"/>
              </a:spcAft>
            </a:pPr>
            <a:r>
              <a:rPr sz="2300" b="1" dirty="0">
                <a:solidFill>
                  <a:srgbClr val="5BF2D3"/>
                </a:solidFill>
                <a:latin typeface="Aptos"/>
              </a:rPr>
              <a:t>•  </a:t>
            </a:r>
            <a:r>
              <a:rPr lang="en-US" sz="2300" dirty="0">
                <a:solidFill>
                  <a:srgbClr val="F5F8FF"/>
                </a:solidFill>
                <a:latin typeface="Aptos"/>
              </a:rPr>
              <a:t>We deleted all of last year's VMs</a:t>
            </a:r>
            <a:endParaRPr sz="2300" dirty="0">
              <a:solidFill>
                <a:srgbClr val="F5F8FF"/>
              </a:solidFill>
              <a:latin typeface="Aptos"/>
            </a:endParaRPr>
          </a:p>
          <a:p>
            <a:pPr>
              <a:lnSpc>
                <a:spcPct val="105000"/>
              </a:lnSpc>
              <a:spcBef>
                <a:spcPts val="1500"/>
              </a:spcBef>
              <a:spcAft>
                <a:spcPts val="100"/>
              </a:spcAft>
            </a:pPr>
            <a:r>
              <a:rPr sz="2300" b="1" dirty="0">
                <a:solidFill>
                  <a:srgbClr val="5BF2D3"/>
                </a:solidFill>
                <a:latin typeface="Aptos"/>
              </a:rPr>
              <a:t>•  </a:t>
            </a:r>
            <a:r>
              <a:rPr lang="en-US" sz="2300" dirty="0">
                <a:solidFill>
                  <a:srgbClr val="F5F8FF"/>
                </a:solidFill>
                <a:latin typeface="Aptos"/>
              </a:rPr>
              <a:t>Each of us created a new Ubuntu VM</a:t>
            </a:r>
            <a:endParaRPr sz="2300" dirty="0">
              <a:solidFill>
                <a:srgbClr val="F5F8FF"/>
              </a:solidFill>
              <a:latin typeface="Aptos"/>
            </a:endParaRPr>
          </a:p>
          <a:p>
            <a:pPr>
              <a:lnSpc>
                <a:spcPct val="105000"/>
              </a:lnSpc>
              <a:spcBef>
                <a:spcPts val="1500"/>
              </a:spcBef>
              <a:spcAft>
                <a:spcPts val="100"/>
              </a:spcAft>
            </a:pPr>
            <a:r>
              <a:rPr sz="2300" b="1" dirty="0">
                <a:solidFill>
                  <a:srgbClr val="5BF2D3"/>
                </a:solidFill>
                <a:latin typeface="Aptos"/>
              </a:rPr>
              <a:t>•  </a:t>
            </a:r>
            <a:r>
              <a:rPr lang="en-US" sz="2300" dirty="0">
                <a:solidFill>
                  <a:srgbClr val="F5F8FF"/>
                </a:solidFill>
                <a:latin typeface="Aptos"/>
              </a:rPr>
              <a:t>Each of us created a free </a:t>
            </a:r>
            <a:r>
              <a:rPr lang="en-US" sz="2300" dirty="0" err="1">
                <a:solidFill>
                  <a:srgbClr val="F5F8FF"/>
                </a:solidFill>
                <a:latin typeface="Aptos"/>
              </a:rPr>
              <a:t>Bitwarden</a:t>
            </a:r>
            <a:r>
              <a:rPr lang="en-US" sz="2300" dirty="0">
                <a:solidFill>
                  <a:srgbClr val="F5F8FF"/>
                </a:solidFill>
                <a:latin typeface="Aptos"/>
              </a:rPr>
              <a:t> account</a:t>
            </a:r>
            <a:endParaRPr sz="2300" dirty="0">
              <a:solidFill>
                <a:srgbClr val="F5F8FF"/>
              </a:solidFill>
              <a:latin typeface="Aptos"/>
            </a:endParaRPr>
          </a:p>
          <a:p>
            <a:pPr>
              <a:lnSpc>
                <a:spcPct val="105000"/>
              </a:lnSpc>
              <a:spcBef>
                <a:spcPts val="1500"/>
              </a:spcBef>
              <a:spcAft>
                <a:spcPts val="100"/>
              </a:spcAft>
            </a:pPr>
            <a:r>
              <a:rPr sz="2300" b="1" dirty="0">
                <a:solidFill>
                  <a:srgbClr val="5BF2D3"/>
                </a:solidFill>
                <a:latin typeface="Aptos"/>
              </a:rPr>
              <a:t>•  </a:t>
            </a:r>
            <a:r>
              <a:rPr lang="en-US" sz="2300" dirty="0">
                <a:solidFill>
                  <a:srgbClr val="F5F8FF"/>
                </a:solidFill>
                <a:latin typeface="Aptos"/>
              </a:rPr>
              <a:t>Or at least that was what was </a:t>
            </a:r>
            <a:r>
              <a:rPr lang="en-US" sz="2300" i="1" dirty="0">
                <a:solidFill>
                  <a:srgbClr val="F5F8FF"/>
                </a:solidFill>
                <a:latin typeface="Aptos"/>
              </a:rPr>
              <a:t>supposed to happen</a:t>
            </a:r>
            <a:endParaRPr sz="2300" i="1" dirty="0">
              <a:solidFill>
                <a:srgbClr val="F5F8FF"/>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p:cNvSpPr txBox="1"/>
          <p:nvPr/>
        </p:nvSpPr>
        <p:spPr>
          <a:xfrm>
            <a:off x="658368" y="698510"/>
            <a:ext cx="9966960" cy="523220"/>
          </a:xfrm>
          <a:prstGeom prst="rect">
            <a:avLst/>
          </a:prstGeom>
          <a:noFill/>
        </p:spPr>
        <p:txBody>
          <a:bodyPr wrap="square" lIns="0" tIns="0" rIns="0" bIns="0" anchor="ctr">
            <a:spAutoFit/>
          </a:bodyPr>
          <a:lstStyle/>
          <a:p>
            <a:pPr algn="l"/>
            <a:r>
              <a:rPr lang="en-US" sz="3400" b="1" dirty="0">
                <a:solidFill>
                  <a:srgbClr val="F5F8FF"/>
                </a:solidFill>
                <a:latin typeface="CarbonType"/>
              </a:rPr>
              <a:t>T</a:t>
            </a:r>
            <a:r>
              <a:rPr lang="en-US" sz="3400" b="1" i="0" dirty="0">
                <a:solidFill>
                  <a:srgbClr val="F5F8FF"/>
                </a:solidFill>
                <a:latin typeface="CarbonType"/>
              </a:rPr>
              <a:t>he best-slain plans</a:t>
            </a:r>
            <a:endParaRPr sz="3400" b="1" i="0" dirty="0">
              <a:solidFill>
                <a:srgbClr val="F5F8FF"/>
              </a:solidFill>
              <a:latin typeface="CarbonType"/>
            </a:endParaRPr>
          </a:p>
        </p:txBody>
      </p:sp>
      <p:sp>
        <p:nvSpPr>
          <p:cNvPr id="7" name="Subtitle"/>
          <p:cNvSpPr txBox="1"/>
          <p:nvPr/>
        </p:nvSpPr>
        <p:spPr>
          <a:xfrm>
            <a:off x="694944" y="1271016"/>
            <a:ext cx="9418320" cy="200055"/>
          </a:xfrm>
          <a:prstGeom prst="rect">
            <a:avLst/>
          </a:prstGeom>
          <a:noFill/>
        </p:spPr>
        <p:txBody>
          <a:bodyPr wrap="square" lIns="0" tIns="0" rIns="0" bIns="0" anchor="t">
            <a:spAutoFit/>
          </a:bodyPr>
          <a:lstStyle/>
          <a:p>
            <a:r>
              <a:rPr lang="en-US" sz="1300" i="1" dirty="0">
                <a:solidFill>
                  <a:srgbClr val="FFAA91"/>
                </a:solidFill>
                <a:latin typeface="Aptos"/>
              </a:rPr>
              <a:t>"The best laid schemes o’ Mice an’ Men gang aft agley."  Robert Burns</a:t>
            </a:r>
            <a:endParaRPr sz="1300" b="0" i="1" dirty="0">
              <a:solidFill>
                <a:srgbClr val="FFAA91"/>
              </a:solidFill>
              <a:latin typeface="Aptos"/>
            </a:endParaRPr>
          </a:p>
        </p:txBody>
      </p:sp>
      <p:sp>
        <p:nvSpPr>
          <p:cNvPr id="8" name="Layout number"/>
          <p:cNvSpPr txBox="1"/>
          <p:nvPr/>
        </p:nvSpPr>
        <p:spPr>
          <a:xfrm>
            <a:off x="10744200" y="758952"/>
            <a:ext cx="749808" cy="274320"/>
          </a:xfrm>
          <a:prstGeom prst="rect">
            <a:avLst/>
          </a:prstGeom>
          <a:noFill/>
        </p:spPr>
        <p:txBody>
          <a:bodyPr wrap="square" lIns="0" tIns="0" rIns="0" bIns="0" anchor="t">
            <a:spAutoFit/>
          </a:bodyPr>
          <a:lstStyle/>
          <a:p>
            <a:pPr algn="r"/>
            <a:r>
              <a:rPr sz="1500" b="1" i="0">
                <a:solidFill>
                  <a:srgbClr val="5BF2D3"/>
                </a:solidFill>
                <a:latin typeface="CarbonType"/>
              </a:rPr>
              <a:t>02</a:t>
            </a:r>
          </a:p>
        </p:txBody>
      </p:sp>
      <p:sp>
        <p:nvSpPr>
          <p:cNvPr id="9" name="Rectangle 8"/>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2" name="Left column heading"/>
          <p:cNvSpPr txBox="1"/>
          <p:nvPr/>
        </p:nvSpPr>
        <p:spPr>
          <a:xfrm>
            <a:off x="841248" y="1719072"/>
            <a:ext cx="4663440" cy="246221"/>
          </a:xfrm>
          <a:prstGeom prst="rect">
            <a:avLst/>
          </a:prstGeom>
          <a:noFill/>
        </p:spPr>
        <p:txBody>
          <a:bodyPr wrap="square" lIns="0" tIns="0" rIns="0" bIns="0" anchor="t">
            <a:spAutoFit/>
          </a:bodyPr>
          <a:lstStyle/>
          <a:p>
            <a:pPr algn="l"/>
            <a:r>
              <a:rPr sz="1600" b="1" i="0" dirty="0">
                <a:solidFill>
                  <a:srgbClr val="FFAA91"/>
                </a:solidFill>
                <a:latin typeface="CarbonType"/>
              </a:rPr>
              <a:t>WHAT WE EXPECT</a:t>
            </a:r>
            <a:r>
              <a:rPr lang="en-US" sz="1600" b="1" i="0" dirty="0">
                <a:solidFill>
                  <a:srgbClr val="FFAA91"/>
                </a:solidFill>
                <a:latin typeface="CarbonType"/>
              </a:rPr>
              <a:t>ED</a:t>
            </a:r>
            <a:endParaRPr sz="1600" b="1" i="0" dirty="0">
              <a:solidFill>
                <a:srgbClr val="FFAA91"/>
              </a:solidFill>
              <a:latin typeface="CarbonType"/>
            </a:endParaRPr>
          </a:p>
        </p:txBody>
      </p:sp>
      <p:sp>
        <p:nvSpPr>
          <p:cNvPr id="13" name="Right column heading"/>
          <p:cNvSpPr txBox="1"/>
          <p:nvPr/>
        </p:nvSpPr>
        <p:spPr>
          <a:xfrm>
            <a:off x="6355080" y="1719072"/>
            <a:ext cx="4663440" cy="246221"/>
          </a:xfrm>
          <a:prstGeom prst="rect">
            <a:avLst/>
          </a:prstGeom>
          <a:noFill/>
        </p:spPr>
        <p:txBody>
          <a:bodyPr wrap="square" lIns="0" tIns="0" rIns="0" bIns="0" anchor="t">
            <a:spAutoFit/>
          </a:bodyPr>
          <a:lstStyle/>
          <a:p>
            <a:pPr algn="l"/>
            <a:r>
              <a:rPr sz="1600" b="1" i="0" dirty="0">
                <a:solidFill>
                  <a:srgbClr val="5BF2D3"/>
                </a:solidFill>
                <a:latin typeface="CarbonType"/>
              </a:rPr>
              <a:t>WHAT ACTUALLY HAPPEN</a:t>
            </a:r>
            <a:r>
              <a:rPr lang="en-US" sz="1600" b="1" i="0" dirty="0">
                <a:solidFill>
                  <a:srgbClr val="5BF2D3"/>
                </a:solidFill>
                <a:latin typeface="CarbonType"/>
              </a:rPr>
              <a:t>ED</a:t>
            </a:r>
            <a:endParaRPr sz="1600" b="1" i="0" dirty="0">
              <a:solidFill>
                <a:srgbClr val="5BF2D3"/>
              </a:solidFill>
              <a:latin typeface="CarbonType"/>
            </a:endParaRPr>
          </a:p>
        </p:txBody>
      </p:sp>
      <p:sp>
        <p:nvSpPr>
          <p:cNvPr id="14" name="Rectangle 13"/>
          <p:cNvSpPr/>
          <p:nvPr/>
        </p:nvSpPr>
        <p:spPr>
          <a:xfrm>
            <a:off x="5888736" y="1700784"/>
            <a:ext cx="16459" cy="4224528"/>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ditable bullet list"/>
          <p:cNvSpPr txBox="1"/>
          <p:nvPr/>
        </p:nvSpPr>
        <p:spPr>
          <a:xfrm>
            <a:off x="841248" y="2167128"/>
            <a:ext cx="4617720" cy="2436051"/>
          </a:xfrm>
          <a:prstGeom prst="rect">
            <a:avLst/>
          </a:prstGeom>
          <a:noFill/>
        </p:spPr>
        <p:txBody>
          <a:bodyPr wrap="square" lIns="0" tIns="0" rIns="0" bIns="0">
            <a:spAutoFit/>
          </a:bodyPr>
          <a:lstStyle/>
          <a:p>
            <a:pPr>
              <a:lnSpc>
                <a:spcPct val="105000"/>
              </a:lnSpc>
              <a:spcBef>
                <a:spcPts val="500"/>
              </a:spcBef>
              <a:spcAft>
                <a:spcPts val="100"/>
              </a:spcAft>
            </a:pPr>
            <a:r>
              <a:rPr sz="2100" b="1" dirty="0">
                <a:solidFill>
                  <a:srgbClr val="FFAA91"/>
                </a:solidFill>
                <a:latin typeface="Aptos"/>
              </a:rPr>
              <a:t>•  </a:t>
            </a:r>
            <a:r>
              <a:rPr lang="en-US" sz="2100" dirty="0">
                <a:solidFill>
                  <a:srgbClr val="F5F8FF"/>
                </a:solidFill>
                <a:latin typeface="Aptos"/>
              </a:rPr>
              <a:t>We would remove VMs and they would just go bye-bye real quick like</a:t>
            </a:r>
            <a:endParaRPr sz="2100" dirty="0">
              <a:solidFill>
                <a:srgbClr val="F5F8FF"/>
              </a:solidFill>
              <a:latin typeface="Aptos"/>
            </a:endParaRPr>
          </a:p>
          <a:p>
            <a:pPr>
              <a:lnSpc>
                <a:spcPct val="105000"/>
              </a:lnSpc>
              <a:spcBef>
                <a:spcPts val="1500"/>
              </a:spcBef>
              <a:spcAft>
                <a:spcPts val="100"/>
              </a:spcAft>
            </a:pPr>
            <a:r>
              <a:rPr sz="2100" b="1" dirty="0">
                <a:solidFill>
                  <a:srgbClr val="FFAA91"/>
                </a:solidFill>
                <a:latin typeface="Aptos"/>
              </a:rPr>
              <a:t>•  </a:t>
            </a:r>
            <a:r>
              <a:rPr lang="en-US" sz="2100" dirty="0">
                <a:solidFill>
                  <a:srgbClr val="F5F8FF"/>
                </a:solidFill>
                <a:latin typeface="Aptos"/>
              </a:rPr>
              <a:t>Each of us would create an Ubuntu VM</a:t>
            </a:r>
          </a:p>
          <a:p>
            <a:pPr>
              <a:lnSpc>
                <a:spcPct val="105000"/>
              </a:lnSpc>
              <a:spcBef>
                <a:spcPts val="1500"/>
              </a:spcBef>
              <a:spcAft>
                <a:spcPts val="1200"/>
              </a:spcAft>
            </a:pPr>
            <a:r>
              <a:rPr sz="2100" b="1" dirty="0">
                <a:solidFill>
                  <a:srgbClr val="FFAA91"/>
                </a:solidFill>
                <a:latin typeface="Aptos"/>
              </a:rPr>
              <a:t>•  </a:t>
            </a:r>
            <a:r>
              <a:rPr lang="en-US" sz="2100" dirty="0">
                <a:solidFill>
                  <a:srgbClr val="F5F8FF"/>
                </a:solidFill>
                <a:latin typeface="Aptos"/>
              </a:rPr>
              <a:t>Each of us would create a </a:t>
            </a:r>
            <a:r>
              <a:rPr lang="en-US" sz="2100" dirty="0" err="1">
                <a:solidFill>
                  <a:srgbClr val="F5F8FF"/>
                </a:solidFill>
                <a:latin typeface="Aptos"/>
              </a:rPr>
              <a:t>Bitwarden</a:t>
            </a:r>
            <a:r>
              <a:rPr lang="en-US" sz="2100" dirty="0">
                <a:solidFill>
                  <a:srgbClr val="F5F8FF"/>
                </a:solidFill>
                <a:latin typeface="Aptos"/>
              </a:rPr>
              <a:t> account</a:t>
            </a:r>
            <a:endParaRPr sz="2100" dirty="0">
              <a:solidFill>
                <a:srgbClr val="F5F8FF"/>
              </a:solidFill>
              <a:latin typeface="Aptos"/>
            </a:endParaRPr>
          </a:p>
        </p:txBody>
      </p:sp>
      <p:sp>
        <p:nvSpPr>
          <p:cNvPr id="16" name="Editable bullet list"/>
          <p:cNvSpPr txBox="1"/>
          <p:nvPr/>
        </p:nvSpPr>
        <p:spPr>
          <a:xfrm>
            <a:off x="6355080" y="2167128"/>
            <a:ext cx="4617720" cy="2436051"/>
          </a:xfrm>
          <a:prstGeom prst="rect">
            <a:avLst/>
          </a:prstGeom>
          <a:noFill/>
        </p:spPr>
        <p:txBody>
          <a:bodyPr wrap="square" lIns="0" tIns="0" rIns="0" bIns="0">
            <a:spAutoFit/>
          </a:bodyPr>
          <a:lstStyle/>
          <a:p>
            <a:pPr>
              <a:lnSpc>
                <a:spcPct val="105000"/>
              </a:lnSpc>
              <a:spcBef>
                <a:spcPts val="500"/>
              </a:spcBef>
              <a:spcAft>
                <a:spcPts val="100"/>
              </a:spcAft>
            </a:pPr>
            <a:r>
              <a:rPr sz="2100" b="1" dirty="0">
                <a:solidFill>
                  <a:srgbClr val="5BF2D3"/>
                </a:solidFill>
                <a:latin typeface="Aptos"/>
              </a:rPr>
              <a:t>•  </a:t>
            </a:r>
            <a:r>
              <a:rPr lang="en-US" sz="2100" dirty="0">
                <a:solidFill>
                  <a:srgbClr val="F5F8FF"/>
                </a:solidFill>
                <a:latin typeface="Aptos"/>
              </a:rPr>
              <a:t>We removed VMs and they took forever to go bye-bye</a:t>
            </a:r>
            <a:endParaRPr sz="2100" dirty="0">
              <a:solidFill>
                <a:srgbClr val="F5F8FF"/>
              </a:solidFill>
              <a:latin typeface="Aptos"/>
            </a:endParaRPr>
          </a:p>
          <a:p>
            <a:pPr>
              <a:lnSpc>
                <a:spcPct val="105000"/>
              </a:lnSpc>
              <a:spcBef>
                <a:spcPts val="1500"/>
              </a:spcBef>
              <a:spcAft>
                <a:spcPts val="100"/>
              </a:spcAft>
            </a:pPr>
            <a:r>
              <a:rPr sz="2100" b="1" dirty="0">
                <a:solidFill>
                  <a:srgbClr val="5BF2D3"/>
                </a:solidFill>
                <a:latin typeface="Aptos"/>
              </a:rPr>
              <a:t>•  </a:t>
            </a:r>
            <a:r>
              <a:rPr lang="en-US" sz="2100" dirty="0">
                <a:solidFill>
                  <a:srgbClr val="F5F8FF"/>
                </a:solidFill>
                <a:latin typeface="Aptos"/>
              </a:rPr>
              <a:t>Our VM builds were backed up by the VM removals (lock contention)</a:t>
            </a:r>
            <a:endParaRPr sz="2100" dirty="0">
              <a:solidFill>
                <a:srgbClr val="F5F8FF"/>
              </a:solidFill>
              <a:latin typeface="Aptos"/>
            </a:endParaRPr>
          </a:p>
          <a:p>
            <a:pPr>
              <a:lnSpc>
                <a:spcPct val="105000"/>
              </a:lnSpc>
              <a:spcBef>
                <a:spcPts val="1500"/>
              </a:spcBef>
              <a:spcAft>
                <a:spcPts val="100"/>
              </a:spcAft>
            </a:pPr>
            <a:r>
              <a:rPr sz="2100" b="1" dirty="0">
                <a:solidFill>
                  <a:srgbClr val="5BF2D3"/>
                </a:solidFill>
                <a:latin typeface="Aptos"/>
              </a:rPr>
              <a:t>•  </a:t>
            </a:r>
            <a:r>
              <a:rPr lang="en-US" sz="2100" dirty="0">
                <a:solidFill>
                  <a:srgbClr val="F5F8FF"/>
                </a:solidFill>
                <a:latin typeface="Aptos"/>
              </a:rPr>
              <a:t>We created </a:t>
            </a:r>
            <a:r>
              <a:rPr lang="en-US" sz="2100" dirty="0" err="1">
                <a:solidFill>
                  <a:srgbClr val="F5F8FF"/>
                </a:solidFill>
                <a:latin typeface="Aptos"/>
              </a:rPr>
              <a:t>Bitwarden</a:t>
            </a:r>
            <a:r>
              <a:rPr lang="en-US" sz="2100" dirty="0">
                <a:solidFill>
                  <a:srgbClr val="F5F8FF"/>
                </a:solidFill>
                <a:latin typeface="Aptos"/>
              </a:rPr>
              <a:t> accounts, as planned</a:t>
            </a:r>
            <a:endParaRPr sz="2100" dirty="0">
              <a:solidFill>
                <a:srgbClr val="F5F8FF"/>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20D9-E87A-ACD5-7E33-5A6D6D8DFC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8F2347-5A40-E4B7-2758-8393AB5F362A}"/>
              </a:ext>
            </a:extLst>
          </p:cNvPr>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CBF3ED9-4638-7F5E-1C58-F7A9C6E37360}"/>
              </a:ext>
            </a:extLst>
          </p:cNvPr>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6BBB9B1-2D0F-269E-7C56-1EBA120DE3FC}"/>
              </a:ext>
            </a:extLst>
          </p:cNvPr>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a:extLst>
              <a:ext uri="{FF2B5EF4-FFF2-40B4-BE49-F238E27FC236}">
                <a16:creationId xmlns:a16="http://schemas.microsoft.com/office/drawing/2014/main" id="{AEAECBB1-808B-67EE-7032-FF3A7828F965}"/>
              </a:ext>
            </a:extLst>
          </p:cNvP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a:extLst>
              <a:ext uri="{FF2B5EF4-FFF2-40B4-BE49-F238E27FC236}">
                <a16:creationId xmlns:a16="http://schemas.microsoft.com/office/drawing/2014/main" id="{F9289E50-0845-5AFA-5394-C5AE9CDD8A3A}"/>
              </a:ext>
            </a:extLst>
          </p:cNvPr>
          <p:cNvSpPr txBox="1"/>
          <p:nvPr/>
        </p:nvSpPr>
        <p:spPr>
          <a:xfrm>
            <a:off x="658368" y="698510"/>
            <a:ext cx="9966960" cy="523220"/>
          </a:xfrm>
          <a:prstGeom prst="rect">
            <a:avLst/>
          </a:prstGeom>
          <a:noFill/>
        </p:spPr>
        <p:txBody>
          <a:bodyPr wrap="square" lIns="0" tIns="0" rIns="0" bIns="0" anchor="ctr">
            <a:spAutoFit/>
          </a:bodyPr>
          <a:lstStyle/>
          <a:p>
            <a:pPr algn="l"/>
            <a:r>
              <a:rPr lang="en-US" sz="3400" b="1" i="0" dirty="0">
                <a:solidFill>
                  <a:srgbClr val="F5F8FF"/>
                </a:solidFill>
                <a:latin typeface="CarbonType"/>
              </a:rPr>
              <a:t>Removing a VM in </a:t>
            </a:r>
            <a:r>
              <a:rPr lang="en-US" sz="3400" b="1" i="0" dirty="0" err="1">
                <a:solidFill>
                  <a:srgbClr val="F5F8FF"/>
                </a:solidFill>
                <a:latin typeface="CarbonType"/>
              </a:rPr>
              <a:t>Proxmox</a:t>
            </a:r>
            <a:endParaRPr sz="3400" b="1" i="0" dirty="0">
              <a:solidFill>
                <a:srgbClr val="F5F8FF"/>
              </a:solidFill>
              <a:latin typeface="CarbonType"/>
            </a:endParaRPr>
          </a:p>
        </p:txBody>
      </p:sp>
      <p:sp>
        <p:nvSpPr>
          <p:cNvPr id="7" name="Subtitle">
            <a:extLst>
              <a:ext uri="{FF2B5EF4-FFF2-40B4-BE49-F238E27FC236}">
                <a16:creationId xmlns:a16="http://schemas.microsoft.com/office/drawing/2014/main" id="{783EEFF2-09F8-6F58-0AA1-7022612AC460}"/>
              </a:ext>
            </a:extLst>
          </p:cNvPr>
          <p:cNvSpPr txBox="1"/>
          <p:nvPr/>
        </p:nvSpPr>
        <p:spPr>
          <a:xfrm>
            <a:off x="694944" y="1271016"/>
            <a:ext cx="9418320" cy="200055"/>
          </a:xfrm>
          <a:prstGeom prst="rect">
            <a:avLst/>
          </a:prstGeom>
          <a:noFill/>
        </p:spPr>
        <p:txBody>
          <a:bodyPr wrap="square" lIns="0" tIns="0" rIns="0" bIns="0" anchor="t">
            <a:spAutoFit/>
          </a:bodyPr>
          <a:lstStyle/>
          <a:p>
            <a:pPr algn="l"/>
            <a:r>
              <a:rPr lang="en-US" sz="1300" i="1" dirty="0">
                <a:solidFill>
                  <a:srgbClr val="FFAA91"/>
                </a:solidFill>
                <a:latin typeface="Aptos"/>
              </a:rPr>
              <a:t>Time to clean up last year's leftovers</a:t>
            </a:r>
            <a:endParaRPr sz="1300" b="0" i="1" dirty="0">
              <a:solidFill>
                <a:srgbClr val="FFAA91"/>
              </a:solidFill>
              <a:latin typeface="Aptos"/>
            </a:endParaRPr>
          </a:p>
        </p:txBody>
      </p:sp>
      <p:sp>
        <p:nvSpPr>
          <p:cNvPr id="8" name="Layout number">
            <a:extLst>
              <a:ext uri="{FF2B5EF4-FFF2-40B4-BE49-F238E27FC236}">
                <a16:creationId xmlns:a16="http://schemas.microsoft.com/office/drawing/2014/main" id="{2021384E-AE26-DADB-9DA9-EF47A219B673}"/>
              </a:ext>
            </a:extLst>
          </p:cNvPr>
          <p:cNvSpPr txBox="1"/>
          <p:nvPr/>
        </p:nvSpPr>
        <p:spPr>
          <a:xfrm>
            <a:off x="10744200" y="758952"/>
            <a:ext cx="749808" cy="274320"/>
          </a:xfrm>
          <a:prstGeom prst="rect">
            <a:avLst/>
          </a:prstGeom>
          <a:noFill/>
        </p:spPr>
        <p:txBody>
          <a:bodyPr wrap="square" lIns="0" tIns="0" rIns="0" bIns="0" anchor="t">
            <a:spAutoFit/>
          </a:bodyPr>
          <a:lstStyle/>
          <a:p>
            <a:pPr algn="r"/>
            <a:r>
              <a:rPr sz="1500" b="1" i="0">
                <a:solidFill>
                  <a:srgbClr val="5BF2D3"/>
                </a:solidFill>
                <a:latin typeface="CarbonType"/>
              </a:rPr>
              <a:t>03</a:t>
            </a:r>
          </a:p>
        </p:txBody>
      </p:sp>
      <p:sp>
        <p:nvSpPr>
          <p:cNvPr id="9" name="Rectangle 8">
            <a:extLst>
              <a:ext uri="{FF2B5EF4-FFF2-40B4-BE49-F238E27FC236}">
                <a16:creationId xmlns:a16="http://schemas.microsoft.com/office/drawing/2014/main" id="{24C67EC5-DCB7-CB65-77FE-452E43B8133E}"/>
              </a:ext>
            </a:extLst>
          </p:cNvPr>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a:extLst>
              <a:ext uri="{FF2B5EF4-FFF2-40B4-BE49-F238E27FC236}">
                <a16:creationId xmlns:a16="http://schemas.microsoft.com/office/drawing/2014/main" id="{5C2F458D-1ACC-B2A8-92A8-5B9526A1EA81}"/>
              </a:ext>
            </a:extLst>
          </p:cNvP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6" name="TextBox 15">
            <a:extLst>
              <a:ext uri="{FF2B5EF4-FFF2-40B4-BE49-F238E27FC236}">
                <a16:creationId xmlns:a16="http://schemas.microsoft.com/office/drawing/2014/main" id="{3FA82E7B-29F5-0E41-037C-EAF60261157B}"/>
              </a:ext>
            </a:extLst>
          </p:cNvPr>
          <p:cNvSpPr txBox="1"/>
          <p:nvPr/>
        </p:nvSpPr>
        <p:spPr>
          <a:xfrm>
            <a:off x="8156448" y="1783080"/>
            <a:ext cx="3474720" cy="215444"/>
          </a:xfrm>
          <a:prstGeom prst="rect">
            <a:avLst/>
          </a:prstGeom>
          <a:noFill/>
        </p:spPr>
        <p:txBody>
          <a:bodyPr wrap="square" lIns="0" tIns="0" rIns="0" bIns="0" anchor="t">
            <a:spAutoFit/>
          </a:bodyPr>
          <a:lstStyle/>
          <a:p>
            <a:pPr algn="l"/>
            <a:r>
              <a:rPr lang="en-US" sz="1400" b="1" i="0" dirty="0">
                <a:solidFill>
                  <a:srgbClr val="5BF2D3"/>
                </a:solidFill>
                <a:latin typeface="CarbonType"/>
              </a:rPr>
              <a:t>1. Login to https://playground.iseage.org</a:t>
            </a:r>
            <a:endParaRPr sz="1400" b="1" i="0" dirty="0">
              <a:solidFill>
                <a:srgbClr val="5BF2D3"/>
              </a:solidFill>
              <a:latin typeface="CarbonType"/>
            </a:endParaRPr>
          </a:p>
        </p:txBody>
      </p:sp>
      <p:sp>
        <p:nvSpPr>
          <p:cNvPr id="18" name="TextBox 17">
            <a:extLst>
              <a:ext uri="{FF2B5EF4-FFF2-40B4-BE49-F238E27FC236}">
                <a16:creationId xmlns:a16="http://schemas.microsoft.com/office/drawing/2014/main" id="{D4F51C35-9462-C91C-5B29-B5BAA5ED9DF8}"/>
              </a:ext>
            </a:extLst>
          </p:cNvPr>
          <p:cNvSpPr txBox="1"/>
          <p:nvPr/>
        </p:nvSpPr>
        <p:spPr>
          <a:xfrm>
            <a:off x="8156448" y="2132498"/>
            <a:ext cx="2971800" cy="215444"/>
          </a:xfrm>
          <a:prstGeom prst="rect">
            <a:avLst/>
          </a:prstGeom>
          <a:noFill/>
        </p:spPr>
        <p:txBody>
          <a:bodyPr wrap="square" lIns="0" tIns="0" rIns="0" bIns="0" anchor="t">
            <a:spAutoFit/>
          </a:bodyPr>
          <a:lstStyle/>
          <a:p>
            <a:pPr algn="l"/>
            <a:r>
              <a:rPr lang="en-US" sz="1400" b="1" i="0" dirty="0">
                <a:solidFill>
                  <a:srgbClr val="FFAA91"/>
                </a:solidFill>
                <a:latin typeface="CarbonType"/>
              </a:rPr>
              <a:t>2. Go to the Virtual Machines list</a:t>
            </a:r>
            <a:endParaRPr sz="1400" b="1" i="0" dirty="0">
              <a:solidFill>
                <a:srgbClr val="FFAA91"/>
              </a:solidFill>
              <a:latin typeface="CarbonType"/>
            </a:endParaRPr>
          </a:p>
        </p:txBody>
      </p:sp>
      <p:sp>
        <p:nvSpPr>
          <p:cNvPr id="20" name="TextBox 19">
            <a:extLst>
              <a:ext uri="{FF2B5EF4-FFF2-40B4-BE49-F238E27FC236}">
                <a16:creationId xmlns:a16="http://schemas.microsoft.com/office/drawing/2014/main" id="{B9D98431-7687-D3AA-557C-57F3A825A564}"/>
              </a:ext>
            </a:extLst>
          </p:cNvPr>
          <p:cNvSpPr txBox="1"/>
          <p:nvPr/>
        </p:nvSpPr>
        <p:spPr>
          <a:xfrm>
            <a:off x="8156448" y="2424488"/>
            <a:ext cx="3845604" cy="1938992"/>
          </a:xfrm>
          <a:prstGeom prst="rect">
            <a:avLst/>
          </a:prstGeom>
          <a:noFill/>
        </p:spPr>
        <p:txBody>
          <a:bodyPr wrap="square" lIns="0" tIns="0" rIns="0" bIns="0" anchor="t">
            <a:spAutoFit/>
          </a:bodyPr>
          <a:lstStyle/>
          <a:p>
            <a:pPr algn="l"/>
            <a:r>
              <a:rPr lang="en-US" sz="1400" b="1" i="0" dirty="0">
                <a:solidFill>
                  <a:srgbClr val="C14DFF"/>
                </a:solidFill>
                <a:latin typeface="CarbonType"/>
              </a:rPr>
              <a:t>3. Click one of the VMs on the left. Details:</a:t>
            </a:r>
            <a:br>
              <a:rPr lang="en-US" sz="1400" b="1" i="0" dirty="0">
                <a:solidFill>
                  <a:srgbClr val="C14DFF"/>
                </a:solidFill>
                <a:latin typeface="CarbonType"/>
              </a:rPr>
            </a:br>
            <a:r>
              <a:rPr lang="en-US" sz="1400" b="1" i="0" dirty="0">
                <a:solidFill>
                  <a:srgbClr val="C14DFF"/>
                </a:solidFill>
                <a:latin typeface="CarbonType"/>
              </a:rPr>
              <a:t>- Stop it </a:t>
            </a:r>
            <a:r>
              <a:rPr lang="en-US" sz="1400" b="1" i="0" dirty="0" err="1">
                <a:solidFill>
                  <a:srgbClr val="C14DFF"/>
                </a:solidFill>
                <a:latin typeface="CarbonType"/>
              </a:rPr>
              <a:t>it</a:t>
            </a:r>
            <a:r>
              <a:rPr lang="en-US" sz="1400" b="1" i="0" dirty="0">
                <a:solidFill>
                  <a:srgbClr val="C14DFF"/>
                </a:solidFill>
                <a:latin typeface="CarbonType"/>
              </a:rPr>
              <a:t> is not already stopped</a:t>
            </a:r>
            <a:br>
              <a:rPr lang="en-US" sz="1400" b="1" i="0" dirty="0">
                <a:solidFill>
                  <a:srgbClr val="C14DFF"/>
                </a:solidFill>
                <a:latin typeface="CarbonType"/>
              </a:rPr>
            </a:br>
            <a:r>
              <a:rPr lang="en-US" sz="1400" b="1" i="0" dirty="0">
                <a:solidFill>
                  <a:srgbClr val="C14DFF"/>
                </a:solidFill>
                <a:latin typeface="CarbonType"/>
              </a:rPr>
              <a:t>- Click the More button on the upper-right</a:t>
            </a:r>
            <a:br>
              <a:rPr lang="en-US" sz="1400" b="1" i="0" dirty="0">
                <a:solidFill>
                  <a:srgbClr val="C14DFF"/>
                </a:solidFill>
                <a:latin typeface="CarbonType"/>
              </a:rPr>
            </a:br>
            <a:r>
              <a:rPr lang="en-US" sz="1400" b="1" i="0" dirty="0">
                <a:solidFill>
                  <a:srgbClr val="C14DFF"/>
                </a:solidFill>
                <a:latin typeface="CarbonType"/>
              </a:rPr>
              <a:t>- Choose Remove</a:t>
            </a:r>
            <a:br>
              <a:rPr lang="en-US" sz="1400" b="1" i="0" dirty="0">
                <a:solidFill>
                  <a:srgbClr val="C14DFF"/>
                </a:solidFill>
                <a:latin typeface="CarbonType"/>
              </a:rPr>
            </a:br>
            <a:r>
              <a:rPr lang="en-US" sz="1400" b="1" i="0" dirty="0">
                <a:solidFill>
                  <a:srgbClr val="C14DFF"/>
                </a:solidFill>
                <a:latin typeface="CarbonType"/>
              </a:rPr>
              <a:t>   - Enter the VM's ID to verify the action</a:t>
            </a:r>
            <a:br>
              <a:rPr lang="en-US" sz="1400" b="1" i="0" dirty="0">
                <a:solidFill>
                  <a:srgbClr val="C14DFF"/>
                </a:solidFill>
                <a:latin typeface="CarbonType"/>
              </a:rPr>
            </a:br>
            <a:r>
              <a:rPr lang="en-US" sz="1400" b="1" i="0" dirty="0">
                <a:solidFill>
                  <a:srgbClr val="C14DFF"/>
                </a:solidFill>
                <a:latin typeface="CarbonType"/>
              </a:rPr>
              <a:t>   - Check the two check boxes:</a:t>
            </a:r>
            <a:br>
              <a:rPr lang="en-US" sz="1400" b="1" i="0" dirty="0">
                <a:solidFill>
                  <a:srgbClr val="C14DFF"/>
                </a:solidFill>
                <a:latin typeface="CarbonType"/>
              </a:rPr>
            </a:br>
            <a:r>
              <a:rPr lang="en-US" sz="1400" b="1" i="0" dirty="0">
                <a:solidFill>
                  <a:srgbClr val="C14DFF"/>
                </a:solidFill>
                <a:latin typeface="CarbonType"/>
              </a:rPr>
              <a:t>      - Purge from job configurations</a:t>
            </a:r>
            <a:br>
              <a:rPr lang="en-US" sz="1400" b="1" i="0" dirty="0">
                <a:solidFill>
                  <a:srgbClr val="C14DFF"/>
                </a:solidFill>
                <a:latin typeface="CarbonType"/>
              </a:rPr>
            </a:br>
            <a:r>
              <a:rPr lang="en-US" sz="1400" b="1" i="0" dirty="0">
                <a:solidFill>
                  <a:srgbClr val="C14DFF"/>
                </a:solidFill>
                <a:latin typeface="CarbonType"/>
              </a:rPr>
              <a:t>      - Destroy unreferenced disks owned by guest</a:t>
            </a:r>
            <a:br>
              <a:rPr lang="en-US" sz="1400" b="1" i="0" dirty="0">
                <a:solidFill>
                  <a:srgbClr val="C14DFF"/>
                </a:solidFill>
                <a:latin typeface="CarbonType"/>
              </a:rPr>
            </a:br>
            <a:r>
              <a:rPr lang="en-US" sz="1400" b="1" i="0" dirty="0">
                <a:solidFill>
                  <a:srgbClr val="C14DFF"/>
                </a:solidFill>
                <a:latin typeface="CarbonType"/>
              </a:rPr>
              <a:t>   - Click Remove</a:t>
            </a:r>
            <a:endParaRPr sz="1400" b="1" i="0" dirty="0">
              <a:solidFill>
                <a:srgbClr val="C14DFF"/>
              </a:solidFill>
              <a:latin typeface="CarbonType"/>
            </a:endParaRPr>
          </a:p>
        </p:txBody>
      </p:sp>
      <p:pic>
        <p:nvPicPr>
          <p:cNvPr id="25" name="Picture 24">
            <a:extLst>
              <a:ext uri="{FF2B5EF4-FFF2-40B4-BE49-F238E27FC236}">
                <a16:creationId xmlns:a16="http://schemas.microsoft.com/office/drawing/2014/main" id="{AB4B0E34-23D6-458A-B6EF-FE8962508626}"/>
              </a:ext>
            </a:extLst>
          </p:cNvPr>
          <p:cNvPicPr>
            <a:picLocks noChangeAspect="1"/>
          </p:cNvPicPr>
          <p:nvPr/>
        </p:nvPicPr>
        <p:blipFill>
          <a:blip r:embed="rId2"/>
          <a:stretch>
            <a:fillRect/>
          </a:stretch>
        </p:blipFill>
        <p:spPr>
          <a:xfrm>
            <a:off x="622438" y="1498925"/>
            <a:ext cx="7286380" cy="3013765"/>
          </a:xfrm>
          <a:prstGeom prst="rect">
            <a:avLst/>
          </a:prstGeom>
        </p:spPr>
      </p:pic>
      <p:pic>
        <p:nvPicPr>
          <p:cNvPr id="27" name="Picture 26">
            <a:extLst>
              <a:ext uri="{FF2B5EF4-FFF2-40B4-BE49-F238E27FC236}">
                <a16:creationId xmlns:a16="http://schemas.microsoft.com/office/drawing/2014/main" id="{78EAD1E0-BF35-8F04-10E5-76C68725AA2F}"/>
              </a:ext>
            </a:extLst>
          </p:cNvPr>
          <p:cNvPicPr>
            <a:picLocks noChangeAspect="1"/>
          </p:cNvPicPr>
          <p:nvPr/>
        </p:nvPicPr>
        <p:blipFill>
          <a:blip r:embed="rId3"/>
          <a:stretch>
            <a:fillRect/>
          </a:stretch>
        </p:blipFill>
        <p:spPr>
          <a:xfrm>
            <a:off x="639820" y="4599558"/>
            <a:ext cx="3271245" cy="1624719"/>
          </a:xfrm>
          <a:prstGeom prst="rect">
            <a:avLst/>
          </a:prstGeom>
        </p:spPr>
      </p:pic>
    </p:spTree>
    <p:extLst>
      <p:ext uri="{BB962C8B-B14F-4D97-AF65-F5344CB8AC3E}">
        <p14:creationId xmlns:p14="http://schemas.microsoft.com/office/powerpoint/2010/main" val="214024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p:cNvSpPr txBox="1"/>
          <p:nvPr/>
        </p:nvSpPr>
        <p:spPr>
          <a:xfrm>
            <a:off x="658368" y="698510"/>
            <a:ext cx="9966960" cy="523220"/>
          </a:xfrm>
          <a:prstGeom prst="rect">
            <a:avLst/>
          </a:prstGeom>
          <a:noFill/>
        </p:spPr>
        <p:txBody>
          <a:bodyPr wrap="square" lIns="0" tIns="0" rIns="0" bIns="0" anchor="ctr">
            <a:spAutoFit/>
          </a:bodyPr>
          <a:lstStyle/>
          <a:p>
            <a:pPr algn="l"/>
            <a:r>
              <a:rPr lang="en-US" sz="3400" b="1" i="0" dirty="0">
                <a:solidFill>
                  <a:srgbClr val="F5F8FF"/>
                </a:solidFill>
                <a:latin typeface="CarbonType"/>
              </a:rPr>
              <a:t>Building a new VM in </a:t>
            </a:r>
            <a:r>
              <a:rPr lang="en-US" sz="3400" b="1" i="0" dirty="0" err="1">
                <a:solidFill>
                  <a:srgbClr val="F5F8FF"/>
                </a:solidFill>
                <a:latin typeface="CarbonType"/>
              </a:rPr>
              <a:t>Proxmox</a:t>
            </a:r>
            <a:endParaRPr sz="3400" b="1" i="0" dirty="0">
              <a:solidFill>
                <a:srgbClr val="F5F8FF"/>
              </a:solidFill>
              <a:latin typeface="CarbonType"/>
            </a:endParaRPr>
          </a:p>
        </p:txBody>
      </p:sp>
      <p:sp>
        <p:nvSpPr>
          <p:cNvPr id="7" name="Subtitle"/>
          <p:cNvSpPr txBox="1"/>
          <p:nvPr/>
        </p:nvSpPr>
        <p:spPr>
          <a:xfrm>
            <a:off x="694944" y="1271016"/>
            <a:ext cx="9418320" cy="200055"/>
          </a:xfrm>
          <a:prstGeom prst="rect">
            <a:avLst/>
          </a:prstGeom>
          <a:noFill/>
        </p:spPr>
        <p:txBody>
          <a:bodyPr wrap="square" lIns="0" tIns="0" rIns="0" bIns="0" anchor="t">
            <a:spAutoFit/>
          </a:bodyPr>
          <a:lstStyle/>
          <a:p>
            <a:pPr algn="l"/>
            <a:r>
              <a:rPr lang="en-US" sz="1300" i="1" dirty="0">
                <a:solidFill>
                  <a:srgbClr val="FFAA91"/>
                </a:solidFill>
                <a:latin typeface="Aptos"/>
              </a:rPr>
              <a:t>Time to bring </a:t>
            </a:r>
            <a:r>
              <a:rPr lang="en-US" sz="1300" i="1" dirty="0" err="1">
                <a:solidFill>
                  <a:srgbClr val="FFAA91"/>
                </a:solidFill>
                <a:latin typeface="Aptos"/>
              </a:rPr>
              <a:t>Proxmox</a:t>
            </a:r>
            <a:r>
              <a:rPr lang="en-US" sz="1300" i="1" dirty="0">
                <a:solidFill>
                  <a:srgbClr val="FFAA91"/>
                </a:solidFill>
                <a:latin typeface="Aptos"/>
              </a:rPr>
              <a:t> to its knees</a:t>
            </a:r>
            <a:endParaRPr sz="1300" b="0" i="1" dirty="0">
              <a:solidFill>
                <a:srgbClr val="FFAA91"/>
              </a:solidFill>
              <a:latin typeface="Aptos"/>
            </a:endParaRPr>
          </a:p>
        </p:txBody>
      </p:sp>
      <p:sp>
        <p:nvSpPr>
          <p:cNvPr id="8" name="Layout number"/>
          <p:cNvSpPr txBox="1"/>
          <p:nvPr/>
        </p:nvSpPr>
        <p:spPr>
          <a:xfrm>
            <a:off x="10744200" y="758952"/>
            <a:ext cx="749808" cy="230832"/>
          </a:xfrm>
          <a:prstGeom prst="rect">
            <a:avLst/>
          </a:prstGeom>
          <a:noFill/>
        </p:spPr>
        <p:txBody>
          <a:bodyPr wrap="square" lIns="0" tIns="0" rIns="0" bIns="0" anchor="t">
            <a:spAutoFit/>
          </a:bodyPr>
          <a:lstStyle/>
          <a:p>
            <a:pPr algn="r"/>
            <a:r>
              <a:rPr lang="en-US" sz="1500" b="1" i="0" dirty="0">
                <a:solidFill>
                  <a:srgbClr val="5BF2D3"/>
                </a:solidFill>
                <a:latin typeface="CarbonType"/>
              </a:rPr>
              <a:t>04</a:t>
            </a:r>
            <a:endParaRPr sz="1500" b="1" i="0" dirty="0">
              <a:solidFill>
                <a:srgbClr val="5BF2D3"/>
              </a:solidFill>
              <a:latin typeface="CarbonType"/>
            </a:endParaRPr>
          </a:p>
        </p:txBody>
      </p:sp>
      <p:sp>
        <p:nvSpPr>
          <p:cNvPr id="9" name="Rectangle 8"/>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6" name="TextBox 15"/>
          <p:cNvSpPr txBox="1"/>
          <p:nvPr/>
        </p:nvSpPr>
        <p:spPr>
          <a:xfrm>
            <a:off x="8156448" y="1783080"/>
            <a:ext cx="3474720" cy="215444"/>
          </a:xfrm>
          <a:prstGeom prst="rect">
            <a:avLst/>
          </a:prstGeom>
          <a:noFill/>
        </p:spPr>
        <p:txBody>
          <a:bodyPr wrap="square" lIns="0" tIns="0" rIns="0" bIns="0" anchor="t">
            <a:spAutoFit/>
          </a:bodyPr>
          <a:lstStyle/>
          <a:p>
            <a:pPr algn="l"/>
            <a:r>
              <a:rPr lang="en-US" sz="1400" b="1" i="0" dirty="0">
                <a:solidFill>
                  <a:srgbClr val="5BF2D3"/>
                </a:solidFill>
                <a:latin typeface="CarbonType"/>
              </a:rPr>
              <a:t>1. Click the Create VM button</a:t>
            </a:r>
            <a:endParaRPr sz="1400" b="1" i="0" dirty="0">
              <a:solidFill>
                <a:srgbClr val="5BF2D3"/>
              </a:solidFill>
              <a:latin typeface="CarbonType"/>
            </a:endParaRPr>
          </a:p>
        </p:txBody>
      </p:sp>
      <p:sp>
        <p:nvSpPr>
          <p:cNvPr id="18" name="TextBox 17"/>
          <p:cNvSpPr txBox="1"/>
          <p:nvPr/>
        </p:nvSpPr>
        <p:spPr>
          <a:xfrm>
            <a:off x="8156448" y="2123658"/>
            <a:ext cx="3845604" cy="1723549"/>
          </a:xfrm>
          <a:prstGeom prst="rect">
            <a:avLst/>
          </a:prstGeom>
          <a:noFill/>
        </p:spPr>
        <p:txBody>
          <a:bodyPr wrap="square" lIns="0" tIns="0" rIns="0" bIns="0" anchor="t">
            <a:spAutoFit/>
          </a:bodyPr>
          <a:lstStyle/>
          <a:p>
            <a:pPr algn="l"/>
            <a:r>
              <a:rPr lang="en-US" sz="1400" b="1" i="0" dirty="0">
                <a:solidFill>
                  <a:srgbClr val="FFAA91"/>
                </a:solidFill>
                <a:latin typeface="CarbonType"/>
              </a:rPr>
              <a:t>2. On the General tab, set the following values and then click Next:</a:t>
            </a:r>
            <a:br>
              <a:rPr lang="en-US" sz="1400" b="1" i="0" dirty="0">
                <a:solidFill>
                  <a:srgbClr val="FFAA91"/>
                </a:solidFill>
                <a:latin typeface="CarbonType"/>
              </a:rPr>
            </a:br>
            <a:r>
              <a:rPr lang="en-US" sz="1400" b="1" i="0" dirty="0">
                <a:solidFill>
                  <a:srgbClr val="FFAA91"/>
                </a:solidFill>
                <a:latin typeface="CarbonType"/>
              </a:rPr>
              <a:t>- Resource Pool: School-14</a:t>
            </a:r>
            <a:br>
              <a:rPr lang="en-US" sz="1400" b="1" i="0" dirty="0">
                <a:solidFill>
                  <a:srgbClr val="FFAA91"/>
                </a:solidFill>
                <a:latin typeface="CarbonType"/>
              </a:rPr>
            </a:br>
            <a:r>
              <a:rPr lang="en-US" sz="1400" b="1" i="0" dirty="0">
                <a:solidFill>
                  <a:srgbClr val="FFAA91"/>
                </a:solidFill>
                <a:latin typeface="CarbonType"/>
              </a:rPr>
              <a:t>- Name: &lt;</a:t>
            </a:r>
            <a:r>
              <a:rPr lang="en-US" sz="1400" b="1" i="0" dirty="0" err="1">
                <a:solidFill>
                  <a:srgbClr val="FFAA91"/>
                </a:solidFill>
                <a:latin typeface="CarbonType"/>
              </a:rPr>
              <a:t>firstname</a:t>
            </a:r>
            <a:r>
              <a:rPr lang="en-US" sz="1400" b="1" i="0" dirty="0">
                <a:solidFill>
                  <a:srgbClr val="FFAA91"/>
                </a:solidFill>
                <a:latin typeface="CarbonType"/>
              </a:rPr>
              <a:t>&gt;-&lt;OS&gt;-&lt;index&gt;</a:t>
            </a:r>
            <a:br>
              <a:rPr lang="en-US" sz="1400" b="1" i="0" dirty="0">
                <a:solidFill>
                  <a:srgbClr val="FFAA91"/>
                </a:solidFill>
                <a:latin typeface="CarbonType"/>
              </a:rPr>
            </a:br>
            <a:r>
              <a:rPr lang="en-US" sz="1400" b="1" i="0" dirty="0">
                <a:solidFill>
                  <a:srgbClr val="FFAA91"/>
                </a:solidFill>
                <a:latin typeface="CarbonType"/>
              </a:rPr>
              <a:t>   - Examples:</a:t>
            </a:r>
            <a:br>
              <a:rPr lang="en-US" sz="1400" b="1" i="0" dirty="0">
                <a:solidFill>
                  <a:srgbClr val="FFAA91"/>
                </a:solidFill>
                <a:latin typeface="CarbonType"/>
              </a:rPr>
            </a:br>
            <a:r>
              <a:rPr lang="en-US" sz="1400" b="1" i="0" dirty="0">
                <a:solidFill>
                  <a:srgbClr val="FFAA91"/>
                </a:solidFill>
                <a:latin typeface="CarbonType"/>
              </a:rPr>
              <a:t>      chris-ubuntu-01</a:t>
            </a:r>
            <a:br>
              <a:rPr lang="en-US" sz="1400" b="1" i="0" dirty="0">
                <a:solidFill>
                  <a:srgbClr val="FFAA91"/>
                </a:solidFill>
                <a:latin typeface="CarbonType"/>
              </a:rPr>
            </a:br>
            <a:r>
              <a:rPr lang="en-US" sz="1400" b="1" i="0" dirty="0">
                <a:solidFill>
                  <a:srgbClr val="FFAA91"/>
                </a:solidFill>
                <a:latin typeface="CarbonType"/>
              </a:rPr>
              <a:t>      chris-ubuntu-02</a:t>
            </a:r>
            <a:br>
              <a:rPr lang="en-US" sz="1400" b="1" i="0" dirty="0">
                <a:solidFill>
                  <a:srgbClr val="FFAA91"/>
                </a:solidFill>
                <a:latin typeface="CarbonType"/>
              </a:rPr>
            </a:br>
            <a:r>
              <a:rPr lang="en-US" sz="1400" b="1" i="0" dirty="0">
                <a:solidFill>
                  <a:srgbClr val="FFAA91"/>
                </a:solidFill>
                <a:latin typeface="CarbonType"/>
              </a:rPr>
              <a:t>      chris-windows-01</a:t>
            </a:r>
            <a:endParaRPr sz="1400" b="1" i="0" dirty="0">
              <a:solidFill>
                <a:srgbClr val="FFAA91"/>
              </a:solidFill>
              <a:latin typeface="CarbonType"/>
            </a:endParaRPr>
          </a:p>
        </p:txBody>
      </p:sp>
      <p:sp>
        <p:nvSpPr>
          <p:cNvPr id="20" name="TextBox 19"/>
          <p:cNvSpPr txBox="1"/>
          <p:nvPr/>
        </p:nvSpPr>
        <p:spPr>
          <a:xfrm>
            <a:off x="8156448" y="3983844"/>
            <a:ext cx="3845604" cy="1508105"/>
          </a:xfrm>
          <a:prstGeom prst="rect">
            <a:avLst/>
          </a:prstGeom>
          <a:noFill/>
        </p:spPr>
        <p:txBody>
          <a:bodyPr wrap="square" lIns="0" tIns="0" rIns="0" bIns="0" anchor="t">
            <a:spAutoFit/>
          </a:bodyPr>
          <a:lstStyle/>
          <a:p>
            <a:pPr algn="l"/>
            <a:r>
              <a:rPr lang="en-US" sz="1400" b="1" i="0" dirty="0">
                <a:solidFill>
                  <a:srgbClr val="C14DFF"/>
                </a:solidFill>
                <a:latin typeface="CarbonType"/>
              </a:rPr>
              <a:t>3. On the OS tab, set the following values and then click Next:</a:t>
            </a:r>
            <a:br>
              <a:rPr lang="en-US" sz="1400" b="1" i="0" dirty="0">
                <a:solidFill>
                  <a:srgbClr val="C14DFF"/>
                </a:solidFill>
                <a:latin typeface="CarbonType"/>
              </a:rPr>
            </a:br>
            <a:r>
              <a:rPr lang="en-US" sz="1400" b="1" i="0" dirty="0">
                <a:solidFill>
                  <a:srgbClr val="C14DFF"/>
                </a:solidFill>
                <a:latin typeface="CarbonType"/>
              </a:rPr>
              <a:t>- SELECT: Use CD/DVD disk image file (iso)</a:t>
            </a:r>
            <a:br>
              <a:rPr lang="en-US" sz="1400" b="1" i="0" dirty="0">
                <a:solidFill>
                  <a:srgbClr val="C14DFF"/>
                </a:solidFill>
                <a:latin typeface="CarbonType"/>
              </a:rPr>
            </a:br>
            <a:r>
              <a:rPr lang="en-US" sz="1400" b="1" i="0" dirty="0">
                <a:solidFill>
                  <a:srgbClr val="C14DFF"/>
                </a:solidFill>
                <a:latin typeface="CarbonType"/>
              </a:rPr>
              <a:t>- Storage: ISOs</a:t>
            </a:r>
            <a:br>
              <a:rPr lang="en-US" sz="1400" b="1" i="0" dirty="0">
                <a:solidFill>
                  <a:srgbClr val="C14DFF"/>
                </a:solidFill>
                <a:latin typeface="CarbonType"/>
              </a:rPr>
            </a:br>
            <a:r>
              <a:rPr lang="en-US" sz="1400" b="1" i="0" dirty="0">
                <a:solidFill>
                  <a:srgbClr val="C14DFF"/>
                </a:solidFill>
                <a:latin typeface="CarbonType"/>
              </a:rPr>
              <a:t>- ISO image: ubuntu-24.04.3-desktop-amd64.iso</a:t>
            </a:r>
            <a:br>
              <a:rPr lang="en-US" sz="1400" b="1" i="0" dirty="0">
                <a:solidFill>
                  <a:srgbClr val="C14DFF"/>
                </a:solidFill>
                <a:latin typeface="CarbonType"/>
              </a:rPr>
            </a:br>
            <a:r>
              <a:rPr lang="en-US" sz="1400" b="1" i="0" dirty="0">
                <a:solidFill>
                  <a:srgbClr val="C14DFF"/>
                </a:solidFill>
                <a:latin typeface="CarbonType"/>
              </a:rPr>
              <a:t>- Type: Linux</a:t>
            </a:r>
            <a:br>
              <a:rPr lang="en-US" sz="1400" b="1" i="0" dirty="0">
                <a:solidFill>
                  <a:srgbClr val="C14DFF"/>
                </a:solidFill>
                <a:latin typeface="CarbonType"/>
              </a:rPr>
            </a:br>
            <a:r>
              <a:rPr lang="en-US" sz="1400" b="1" i="0" dirty="0">
                <a:solidFill>
                  <a:srgbClr val="C14DFF"/>
                </a:solidFill>
                <a:latin typeface="CarbonType"/>
              </a:rPr>
              <a:t>- Version: 6.x – 2.6 Kernel</a:t>
            </a:r>
            <a:endParaRPr sz="1400" b="1" i="0" dirty="0">
              <a:solidFill>
                <a:srgbClr val="C14DFF"/>
              </a:solidFill>
              <a:latin typeface="CarbonType"/>
            </a:endParaRPr>
          </a:p>
        </p:txBody>
      </p:sp>
      <p:pic>
        <p:nvPicPr>
          <p:cNvPr id="33" name="Picture 32">
            <a:extLst>
              <a:ext uri="{FF2B5EF4-FFF2-40B4-BE49-F238E27FC236}">
                <a16:creationId xmlns:a16="http://schemas.microsoft.com/office/drawing/2014/main" id="{44775A75-653B-3832-1DC6-151784738D22}"/>
              </a:ext>
            </a:extLst>
          </p:cNvPr>
          <p:cNvPicPr>
            <a:picLocks noChangeAspect="1"/>
          </p:cNvPicPr>
          <p:nvPr/>
        </p:nvPicPr>
        <p:blipFill>
          <a:blip r:embed="rId2"/>
          <a:stretch>
            <a:fillRect/>
          </a:stretch>
        </p:blipFill>
        <p:spPr>
          <a:xfrm>
            <a:off x="593676" y="1598582"/>
            <a:ext cx="7042107" cy="1961835"/>
          </a:xfrm>
          <a:prstGeom prst="rect">
            <a:avLst/>
          </a:prstGeom>
        </p:spPr>
      </p:pic>
      <p:pic>
        <p:nvPicPr>
          <p:cNvPr id="35" name="Picture 34">
            <a:extLst>
              <a:ext uri="{FF2B5EF4-FFF2-40B4-BE49-F238E27FC236}">
                <a16:creationId xmlns:a16="http://schemas.microsoft.com/office/drawing/2014/main" id="{2404D532-0DF8-2962-957C-A937BD79D7D5}"/>
              </a:ext>
            </a:extLst>
          </p:cNvPr>
          <p:cNvPicPr>
            <a:picLocks noChangeAspect="1"/>
          </p:cNvPicPr>
          <p:nvPr/>
        </p:nvPicPr>
        <p:blipFill>
          <a:blip r:embed="rId3"/>
          <a:stretch>
            <a:fillRect/>
          </a:stretch>
        </p:blipFill>
        <p:spPr>
          <a:xfrm>
            <a:off x="619626" y="3913809"/>
            <a:ext cx="7030995" cy="22657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BD20-91A8-0DF4-A095-540D8B531A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208519-116F-AA27-1195-4F475909DE32}"/>
              </a:ext>
            </a:extLst>
          </p:cNvPr>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3F567419-64AE-642C-EC78-3C330E93235B}"/>
              </a:ext>
            </a:extLst>
          </p:cNvPr>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AC99D4B-A48D-BD69-63C9-D7F294787F11}"/>
              </a:ext>
            </a:extLst>
          </p:cNvPr>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a:extLst>
              <a:ext uri="{FF2B5EF4-FFF2-40B4-BE49-F238E27FC236}">
                <a16:creationId xmlns:a16="http://schemas.microsoft.com/office/drawing/2014/main" id="{FBBE7BBC-C10A-86DE-95DB-1206FD1975EB}"/>
              </a:ext>
            </a:extLst>
          </p:cNvP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a:extLst>
              <a:ext uri="{FF2B5EF4-FFF2-40B4-BE49-F238E27FC236}">
                <a16:creationId xmlns:a16="http://schemas.microsoft.com/office/drawing/2014/main" id="{0E7F5854-8726-D5BB-0D24-EFC5F7A4DA0A}"/>
              </a:ext>
            </a:extLst>
          </p:cNvPr>
          <p:cNvSpPr txBox="1"/>
          <p:nvPr/>
        </p:nvSpPr>
        <p:spPr>
          <a:xfrm>
            <a:off x="658368" y="698510"/>
            <a:ext cx="9966960" cy="523220"/>
          </a:xfrm>
          <a:prstGeom prst="rect">
            <a:avLst/>
          </a:prstGeom>
          <a:noFill/>
        </p:spPr>
        <p:txBody>
          <a:bodyPr wrap="square" lIns="0" tIns="0" rIns="0" bIns="0" anchor="ctr">
            <a:spAutoFit/>
          </a:bodyPr>
          <a:lstStyle/>
          <a:p>
            <a:pPr algn="l"/>
            <a:r>
              <a:rPr lang="en-US" sz="3400" b="1" i="0" dirty="0">
                <a:solidFill>
                  <a:srgbClr val="F5F8FF"/>
                </a:solidFill>
                <a:latin typeface="CarbonType"/>
              </a:rPr>
              <a:t>Building a new VM in </a:t>
            </a:r>
            <a:r>
              <a:rPr lang="en-US" sz="3400" b="1" i="0" dirty="0" err="1">
                <a:solidFill>
                  <a:srgbClr val="F5F8FF"/>
                </a:solidFill>
                <a:latin typeface="CarbonType"/>
              </a:rPr>
              <a:t>Proxmox</a:t>
            </a:r>
            <a:endParaRPr sz="3400" b="1" i="0" dirty="0">
              <a:solidFill>
                <a:srgbClr val="F5F8FF"/>
              </a:solidFill>
              <a:latin typeface="CarbonType"/>
            </a:endParaRPr>
          </a:p>
        </p:txBody>
      </p:sp>
      <p:sp>
        <p:nvSpPr>
          <p:cNvPr id="7" name="Subtitle">
            <a:extLst>
              <a:ext uri="{FF2B5EF4-FFF2-40B4-BE49-F238E27FC236}">
                <a16:creationId xmlns:a16="http://schemas.microsoft.com/office/drawing/2014/main" id="{BC4F6B94-68EE-0FA8-25ED-387D8231165B}"/>
              </a:ext>
            </a:extLst>
          </p:cNvPr>
          <p:cNvSpPr txBox="1"/>
          <p:nvPr/>
        </p:nvSpPr>
        <p:spPr>
          <a:xfrm>
            <a:off x="694944" y="1271016"/>
            <a:ext cx="9418320" cy="200055"/>
          </a:xfrm>
          <a:prstGeom prst="rect">
            <a:avLst/>
          </a:prstGeom>
          <a:noFill/>
        </p:spPr>
        <p:txBody>
          <a:bodyPr wrap="square" lIns="0" tIns="0" rIns="0" bIns="0" anchor="t">
            <a:spAutoFit/>
          </a:bodyPr>
          <a:lstStyle/>
          <a:p>
            <a:pPr algn="l"/>
            <a:r>
              <a:rPr lang="en-US" sz="1300" i="1" dirty="0">
                <a:solidFill>
                  <a:srgbClr val="FFAA91"/>
                </a:solidFill>
                <a:latin typeface="Aptos"/>
              </a:rPr>
              <a:t>Time to bring </a:t>
            </a:r>
            <a:r>
              <a:rPr lang="en-US" sz="1300" i="1" dirty="0" err="1">
                <a:solidFill>
                  <a:srgbClr val="FFAA91"/>
                </a:solidFill>
                <a:latin typeface="Aptos"/>
              </a:rPr>
              <a:t>Proxmox</a:t>
            </a:r>
            <a:r>
              <a:rPr lang="en-US" sz="1300" i="1" dirty="0">
                <a:solidFill>
                  <a:srgbClr val="FFAA91"/>
                </a:solidFill>
                <a:latin typeface="Aptos"/>
              </a:rPr>
              <a:t> to its knees</a:t>
            </a:r>
            <a:endParaRPr sz="1300" b="0" i="1" dirty="0">
              <a:solidFill>
                <a:srgbClr val="FFAA91"/>
              </a:solidFill>
              <a:latin typeface="Aptos"/>
            </a:endParaRPr>
          </a:p>
        </p:txBody>
      </p:sp>
      <p:sp>
        <p:nvSpPr>
          <p:cNvPr id="8" name="Layout number">
            <a:extLst>
              <a:ext uri="{FF2B5EF4-FFF2-40B4-BE49-F238E27FC236}">
                <a16:creationId xmlns:a16="http://schemas.microsoft.com/office/drawing/2014/main" id="{A5E9B483-E70F-9BB9-524D-EB8EBE974134}"/>
              </a:ext>
            </a:extLst>
          </p:cNvPr>
          <p:cNvSpPr txBox="1"/>
          <p:nvPr/>
        </p:nvSpPr>
        <p:spPr>
          <a:xfrm>
            <a:off x="10744200" y="758952"/>
            <a:ext cx="749808" cy="230832"/>
          </a:xfrm>
          <a:prstGeom prst="rect">
            <a:avLst/>
          </a:prstGeom>
          <a:noFill/>
        </p:spPr>
        <p:txBody>
          <a:bodyPr wrap="square" lIns="0" tIns="0" rIns="0" bIns="0" anchor="t">
            <a:spAutoFit/>
          </a:bodyPr>
          <a:lstStyle/>
          <a:p>
            <a:pPr algn="r"/>
            <a:r>
              <a:rPr lang="en-US" sz="1500" b="1" i="0" dirty="0">
                <a:solidFill>
                  <a:srgbClr val="5BF2D3"/>
                </a:solidFill>
                <a:latin typeface="CarbonType"/>
              </a:rPr>
              <a:t>05</a:t>
            </a:r>
            <a:endParaRPr sz="1500" b="1" i="0" dirty="0">
              <a:solidFill>
                <a:srgbClr val="5BF2D3"/>
              </a:solidFill>
              <a:latin typeface="CarbonType"/>
            </a:endParaRPr>
          </a:p>
        </p:txBody>
      </p:sp>
      <p:sp>
        <p:nvSpPr>
          <p:cNvPr id="9" name="Rectangle 8">
            <a:extLst>
              <a:ext uri="{FF2B5EF4-FFF2-40B4-BE49-F238E27FC236}">
                <a16:creationId xmlns:a16="http://schemas.microsoft.com/office/drawing/2014/main" id="{A3055B49-DD7F-B963-E9F7-093C765C3334}"/>
              </a:ext>
            </a:extLst>
          </p:cNvPr>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a:extLst>
              <a:ext uri="{FF2B5EF4-FFF2-40B4-BE49-F238E27FC236}">
                <a16:creationId xmlns:a16="http://schemas.microsoft.com/office/drawing/2014/main" id="{4C6259A1-685B-6794-500A-40DADD450DA2}"/>
              </a:ext>
            </a:extLst>
          </p:cNvP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6" name="TextBox 15">
            <a:extLst>
              <a:ext uri="{FF2B5EF4-FFF2-40B4-BE49-F238E27FC236}">
                <a16:creationId xmlns:a16="http://schemas.microsoft.com/office/drawing/2014/main" id="{0DD54BD2-9BED-4B07-8B7A-214B28454038}"/>
              </a:ext>
            </a:extLst>
          </p:cNvPr>
          <p:cNvSpPr txBox="1"/>
          <p:nvPr/>
        </p:nvSpPr>
        <p:spPr>
          <a:xfrm>
            <a:off x="8156448" y="1783080"/>
            <a:ext cx="3474720" cy="861774"/>
          </a:xfrm>
          <a:prstGeom prst="rect">
            <a:avLst/>
          </a:prstGeom>
          <a:noFill/>
        </p:spPr>
        <p:txBody>
          <a:bodyPr wrap="square" lIns="0" tIns="0" rIns="0" bIns="0" anchor="t">
            <a:spAutoFit/>
          </a:bodyPr>
          <a:lstStyle/>
          <a:p>
            <a:r>
              <a:rPr lang="en-US" sz="1400" b="1" dirty="0">
                <a:solidFill>
                  <a:srgbClr val="5BF2D3"/>
                </a:solidFill>
                <a:latin typeface="CarbonType"/>
              </a:rPr>
              <a:t>4. On the System tab, set the following values and then click Next:</a:t>
            </a:r>
          </a:p>
          <a:p>
            <a:r>
              <a:rPr lang="en-US" sz="1400" b="1" dirty="0">
                <a:solidFill>
                  <a:srgbClr val="5BF2D3"/>
                </a:solidFill>
                <a:latin typeface="CarbonType"/>
              </a:rPr>
              <a:t>- Graphic card: SPICE</a:t>
            </a:r>
            <a:br>
              <a:rPr lang="en-US" sz="1400" b="1" dirty="0">
                <a:solidFill>
                  <a:srgbClr val="5BF2D3"/>
                </a:solidFill>
                <a:latin typeface="CarbonType"/>
              </a:rPr>
            </a:br>
            <a:r>
              <a:rPr lang="en-US" sz="1400" b="1" dirty="0">
                <a:solidFill>
                  <a:srgbClr val="5BF2D3"/>
                </a:solidFill>
                <a:latin typeface="CarbonType"/>
              </a:rPr>
              <a:t>- Leave all others at their default values</a:t>
            </a:r>
            <a:endParaRPr sz="1400" b="1" i="0" dirty="0">
              <a:solidFill>
                <a:srgbClr val="5BF2D3"/>
              </a:solidFill>
              <a:latin typeface="CarbonType"/>
            </a:endParaRPr>
          </a:p>
        </p:txBody>
      </p:sp>
      <p:sp>
        <p:nvSpPr>
          <p:cNvPr id="18" name="TextBox 17">
            <a:extLst>
              <a:ext uri="{FF2B5EF4-FFF2-40B4-BE49-F238E27FC236}">
                <a16:creationId xmlns:a16="http://schemas.microsoft.com/office/drawing/2014/main" id="{A6AA498B-7276-E20E-0E2F-C9BB584D51E6}"/>
              </a:ext>
            </a:extLst>
          </p:cNvPr>
          <p:cNvSpPr txBox="1"/>
          <p:nvPr/>
        </p:nvSpPr>
        <p:spPr>
          <a:xfrm>
            <a:off x="8156448" y="2808353"/>
            <a:ext cx="3845604" cy="1077218"/>
          </a:xfrm>
          <a:prstGeom prst="rect">
            <a:avLst/>
          </a:prstGeom>
          <a:noFill/>
        </p:spPr>
        <p:txBody>
          <a:bodyPr wrap="square" lIns="0" tIns="0" rIns="0" bIns="0" anchor="t">
            <a:spAutoFit/>
          </a:bodyPr>
          <a:lstStyle/>
          <a:p>
            <a:pPr algn="l"/>
            <a:r>
              <a:rPr lang="en-US" sz="1400" b="1" dirty="0">
                <a:solidFill>
                  <a:srgbClr val="FFAA91"/>
                </a:solidFill>
                <a:latin typeface="CarbonType"/>
              </a:rPr>
              <a:t>5</a:t>
            </a:r>
            <a:r>
              <a:rPr lang="en-US" sz="1400" b="1" i="0" dirty="0">
                <a:solidFill>
                  <a:srgbClr val="FFAA91"/>
                </a:solidFill>
                <a:latin typeface="CarbonType"/>
              </a:rPr>
              <a:t>. On the Disks tab, set the following values and then click Next:</a:t>
            </a:r>
            <a:br>
              <a:rPr lang="en-US" sz="1400" b="1" i="0" dirty="0">
                <a:solidFill>
                  <a:srgbClr val="FFAA91"/>
                </a:solidFill>
                <a:latin typeface="CarbonType"/>
              </a:rPr>
            </a:br>
            <a:r>
              <a:rPr lang="en-US" sz="1400" b="1" i="0" dirty="0">
                <a:solidFill>
                  <a:srgbClr val="FFAA91"/>
                </a:solidFill>
                <a:latin typeface="CarbonType"/>
              </a:rPr>
              <a:t>- SELECTED: SSD Emulation</a:t>
            </a:r>
            <a:br>
              <a:rPr lang="en-US" sz="1400" b="1" i="0" dirty="0">
                <a:solidFill>
                  <a:srgbClr val="FFAA91"/>
                </a:solidFill>
                <a:latin typeface="CarbonType"/>
              </a:rPr>
            </a:br>
            <a:r>
              <a:rPr lang="en-US" sz="1400" b="1" i="0" dirty="0">
                <a:solidFill>
                  <a:srgbClr val="FFAA91"/>
                </a:solidFill>
                <a:latin typeface="CarbonType"/>
              </a:rPr>
              <a:t>- SELECTED: Discard</a:t>
            </a:r>
            <a:br>
              <a:rPr lang="en-US" sz="1400" b="1" i="0" dirty="0">
                <a:solidFill>
                  <a:srgbClr val="FFAA91"/>
                </a:solidFill>
                <a:latin typeface="CarbonType"/>
              </a:rPr>
            </a:br>
            <a:r>
              <a:rPr lang="en-US" sz="1400" b="1" i="0" dirty="0">
                <a:solidFill>
                  <a:srgbClr val="FFAA91"/>
                </a:solidFill>
                <a:latin typeface="CarbonType"/>
              </a:rPr>
              <a:t>- Leave all others at their default values</a:t>
            </a:r>
            <a:endParaRPr sz="1400" b="1" i="0" dirty="0">
              <a:solidFill>
                <a:srgbClr val="FFAA91"/>
              </a:solidFill>
              <a:latin typeface="CarbonType"/>
            </a:endParaRPr>
          </a:p>
        </p:txBody>
      </p:sp>
      <p:pic>
        <p:nvPicPr>
          <p:cNvPr id="12" name="Picture 11">
            <a:extLst>
              <a:ext uri="{FF2B5EF4-FFF2-40B4-BE49-F238E27FC236}">
                <a16:creationId xmlns:a16="http://schemas.microsoft.com/office/drawing/2014/main" id="{C53DF930-3E91-01C6-A3D0-F3D6589324C9}"/>
              </a:ext>
            </a:extLst>
          </p:cNvPr>
          <p:cNvPicPr>
            <a:picLocks noChangeAspect="1"/>
          </p:cNvPicPr>
          <p:nvPr/>
        </p:nvPicPr>
        <p:blipFill>
          <a:blip r:embed="rId2"/>
          <a:stretch>
            <a:fillRect/>
          </a:stretch>
        </p:blipFill>
        <p:spPr>
          <a:xfrm>
            <a:off x="601957" y="1516475"/>
            <a:ext cx="5577973" cy="1664017"/>
          </a:xfrm>
          <a:prstGeom prst="rect">
            <a:avLst/>
          </a:prstGeom>
        </p:spPr>
      </p:pic>
      <p:pic>
        <p:nvPicPr>
          <p:cNvPr id="14" name="Picture 13">
            <a:extLst>
              <a:ext uri="{FF2B5EF4-FFF2-40B4-BE49-F238E27FC236}">
                <a16:creationId xmlns:a16="http://schemas.microsoft.com/office/drawing/2014/main" id="{3BD369FB-B871-C2E4-4758-4C2B4AA738F8}"/>
              </a:ext>
            </a:extLst>
          </p:cNvPr>
          <p:cNvPicPr>
            <a:picLocks noChangeAspect="1"/>
          </p:cNvPicPr>
          <p:nvPr/>
        </p:nvPicPr>
        <p:blipFill>
          <a:blip r:embed="rId3"/>
          <a:stretch>
            <a:fillRect/>
          </a:stretch>
        </p:blipFill>
        <p:spPr>
          <a:xfrm>
            <a:off x="594757" y="3215862"/>
            <a:ext cx="5581447" cy="2988400"/>
          </a:xfrm>
          <a:prstGeom prst="rect">
            <a:avLst/>
          </a:prstGeom>
        </p:spPr>
      </p:pic>
    </p:spTree>
    <p:extLst>
      <p:ext uri="{BB962C8B-B14F-4D97-AF65-F5344CB8AC3E}">
        <p14:creationId xmlns:p14="http://schemas.microsoft.com/office/powerpoint/2010/main" val="1782288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EFC92-5FA0-8510-1860-ABB11F4B59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A24F803-59E6-BFBC-8DC3-B93FDF1691B9}"/>
              </a:ext>
            </a:extLst>
          </p:cNvPr>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5F1A33E-594A-0450-AE38-F0DCAF377F71}"/>
              </a:ext>
            </a:extLst>
          </p:cNvPr>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30FFD1EF-4FD3-4BB9-9830-6BFBE89B984B}"/>
              </a:ext>
            </a:extLst>
          </p:cNvPr>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a:extLst>
              <a:ext uri="{FF2B5EF4-FFF2-40B4-BE49-F238E27FC236}">
                <a16:creationId xmlns:a16="http://schemas.microsoft.com/office/drawing/2014/main" id="{49C31A66-8BB1-3B87-2062-075B52A217B5}"/>
              </a:ext>
            </a:extLst>
          </p:cNvP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a:extLst>
              <a:ext uri="{FF2B5EF4-FFF2-40B4-BE49-F238E27FC236}">
                <a16:creationId xmlns:a16="http://schemas.microsoft.com/office/drawing/2014/main" id="{E6B71FA8-BFE5-EFEF-8F9C-72C1532BCCF8}"/>
              </a:ext>
            </a:extLst>
          </p:cNvPr>
          <p:cNvSpPr txBox="1"/>
          <p:nvPr/>
        </p:nvSpPr>
        <p:spPr>
          <a:xfrm>
            <a:off x="658368" y="698510"/>
            <a:ext cx="9966960" cy="523220"/>
          </a:xfrm>
          <a:prstGeom prst="rect">
            <a:avLst/>
          </a:prstGeom>
          <a:noFill/>
        </p:spPr>
        <p:txBody>
          <a:bodyPr wrap="square" lIns="0" tIns="0" rIns="0" bIns="0" anchor="ctr">
            <a:spAutoFit/>
          </a:bodyPr>
          <a:lstStyle/>
          <a:p>
            <a:pPr algn="l"/>
            <a:r>
              <a:rPr lang="en-US" sz="3400" b="1" i="0" dirty="0">
                <a:solidFill>
                  <a:srgbClr val="F5F8FF"/>
                </a:solidFill>
                <a:latin typeface="CarbonType"/>
              </a:rPr>
              <a:t>Building a new VM in </a:t>
            </a:r>
            <a:r>
              <a:rPr lang="en-US" sz="3400" b="1" i="0" dirty="0" err="1">
                <a:solidFill>
                  <a:srgbClr val="F5F8FF"/>
                </a:solidFill>
                <a:latin typeface="CarbonType"/>
              </a:rPr>
              <a:t>Proxmox</a:t>
            </a:r>
            <a:endParaRPr sz="3400" b="1" i="0" dirty="0">
              <a:solidFill>
                <a:srgbClr val="F5F8FF"/>
              </a:solidFill>
              <a:latin typeface="CarbonType"/>
            </a:endParaRPr>
          </a:p>
        </p:txBody>
      </p:sp>
      <p:sp>
        <p:nvSpPr>
          <p:cNvPr id="7" name="Subtitle">
            <a:extLst>
              <a:ext uri="{FF2B5EF4-FFF2-40B4-BE49-F238E27FC236}">
                <a16:creationId xmlns:a16="http://schemas.microsoft.com/office/drawing/2014/main" id="{94983D74-3D4B-0F3E-6A34-D66E29E57FC4}"/>
              </a:ext>
            </a:extLst>
          </p:cNvPr>
          <p:cNvSpPr txBox="1"/>
          <p:nvPr/>
        </p:nvSpPr>
        <p:spPr>
          <a:xfrm>
            <a:off x="694944" y="1271016"/>
            <a:ext cx="9418320" cy="200055"/>
          </a:xfrm>
          <a:prstGeom prst="rect">
            <a:avLst/>
          </a:prstGeom>
          <a:noFill/>
        </p:spPr>
        <p:txBody>
          <a:bodyPr wrap="square" lIns="0" tIns="0" rIns="0" bIns="0" anchor="t">
            <a:spAutoFit/>
          </a:bodyPr>
          <a:lstStyle/>
          <a:p>
            <a:pPr algn="l"/>
            <a:r>
              <a:rPr lang="en-US" sz="1300" i="1" dirty="0">
                <a:solidFill>
                  <a:srgbClr val="FFAA91"/>
                </a:solidFill>
                <a:latin typeface="Aptos"/>
              </a:rPr>
              <a:t>Time to bring </a:t>
            </a:r>
            <a:r>
              <a:rPr lang="en-US" sz="1300" i="1" dirty="0" err="1">
                <a:solidFill>
                  <a:srgbClr val="FFAA91"/>
                </a:solidFill>
                <a:latin typeface="Aptos"/>
              </a:rPr>
              <a:t>Proxmox</a:t>
            </a:r>
            <a:r>
              <a:rPr lang="en-US" sz="1300" i="1" dirty="0">
                <a:solidFill>
                  <a:srgbClr val="FFAA91"/>
                </a:solidFill>
                <a:latin typeface="Aptos"/>
              </a:rPr>
              <a:t> to its knees</a:t>
            </a:r>
            <a:endParaRPr sz="1300" b="0" i="1" dirty="0">
              <a:solidFill>
                <a:srgbClr val="FFAA91"/>
              </a:solidFill>
              <a:latin typeface="Aptos"/>
            </a:endParaRPr>
          </a:p>
        </p:txBody>
      </p:sp>
      <p:sp>
        <p:nvSpPr>
          <p:cNvPr id="8" name="Layout number">
            <a:extLst>
              <a:ext uri="{FF2B5EF4-FFF2-40B4-BE49-F238E27FC236}">
                <a16:creationId xmlns:a16="http://schemas.microsoft.com/office/drawing/2014/main" id="{7D5FB397-5CC7-763B-D7EB-3E3178CE8EB4}"/>
              </a:ext>
            </a:extLst>
          </p:cNvPr>
          <p:cNvSpPr txBox="1"/>
          <p:nvPr/>
        </p:nvSpPr>
        <p:spPr>
          <a:xfrm>
            <a:off x="10744200" y="758952"/>
            <a:ext cx="749808" cy="230832"/>
          </a:xfrm>
          <a:prstGeom prst="rect">
            <a:avLst/>
          </a:prstGeom>
          <a:noFill/>
        </p:spPr>
        <p:txBody>
          <a:bodyPr wrap="square" lIns="0" tIns="0" rIns="0" bIns="0" anchor="t">
            <a:spAutoFit/>
          </a:bodyPr>
          <a:lstStyle/>
          <a:p>
            <a:pPr algn="r"/>
            <a:r>
              <a:rPr lang="en-US" sz="1500" b="1" i="0" dirty="0">
                <a:solidFill>
                  <a:srgbClr val="5BF2D3"/>
                </a:solidFill>
                <a:latin typeface="CarbonType"/>
              </a:rPr>
              <a:t>06</a:t>
            </a:r>
            <a:endParaRPr sz="1500" b="1" i="0" dirty="0">
              <a:solidFill>
                <a:srgbClr val="5BF2D3"/>
              </a:solidFill>
              <a:latin typeface="CarbonType"/>
            </a:endParaRPr>
          </a:p>
        </p:txBody>
      </p:sp>
      <p:sp>
        <p:nvSpPr>
          <p:cNvPr id="9" name="Rectangle 8">
            <a:extLst>
              <a:ext uri="{FF2B5EF4-FFF2-40B4-BE49-F238E27FC236}">
                <a16:creationId xmlns:a16="http://schemas.microsoft.com/office/drawing/2014/main" id="{4620DC43-7B69-54A7-A417-C47671DA7FA7}"/>
              </a:ext>
            </a:extLst>
          </p:cNvPr>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a:extLst>
              <a:ext uri="{FF2B5EF4-FFF2-40B4-BE49-F238E27FC236}">
                <a16:creationId xmlns:a16="http://schemas.microsoft.com/office/drawing/2014/main" id="{4EDCF174-EFC1-D5A6-3B64-84B90DE2BDDE}"/>
              </a:ext>
            </a:extLst>
          </p:cNvP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6" name="TextBox 15">
            <a:extLst>
              <a:ext uri="{FF2B5EF4-FFF2-40B4-BE49-F238E27FC236}">
                <a16:creationId xmlns:a16="http://schemas.microsoft.com/office/drawing/2014/main" id="{2F26D290-36DD-EB6A-2BB2-FA6290E779E9}"/>
              </a:ext>
            </a:extLst>
          </p:cNvPr>
          <p:cNvSpPr txBox="1"/>
          <p:nvPr/>
        </p:nvSpPr>
        <p:spPr>
          <a:xfrm>
            <a:off x="8156448" y="1783080"/>
            <a:ext cx="3474720" cy="1292662"/>
          </a:xfrm>
          <a:prstGeom prst="rect">
            <a:avLst/>
          </a:prstGeom>
          <a:noFill/>
        </p:spPr>
        <p:txBody>
          <a:bodyPr wrap="square" lIns="0" tIns="0" rIns="0" bIns="0" anchor="t">
            <a:spAutoFit/>
          </a:bodyPr>
          <a:lstStyle/>
          <a:p>
            <a:r>
              <a:rPr lang="en-US" sz="1400" b="1" dirty="0">
                <a:solidFill>
                  <a:srgbClr val="5BF2D3"/>
                </a:solidFill>
                <a:latin typeface="CarbonType"/>
              </a:rPr>
              <a:t>6. On the CPU tab, set the following values and then click Next:</a:t>
            </a:r>
          </a:p>
          <a:p>
            <a:r>
              <a:rPr lang="en-US" sz="1400" b="1" dirty="0">
                <a:solidFill>
                  <a:srgbClr val="5BF2D3"/>
                </a:solidFill>
                <a:latin typeface="CarbonType"/>
              </a:rPr>
              <a:t>- Sockets: 1</a:t>
            </a:r>
            <a:br>
              <a:rPr lang="en-US" sz="1400" b="1" dirty="0">
                <a:solidFill>
                  <a:srgbClr val="5BF2D3"/>
                </a:solidFill>
                <a:latin typeface="CarbonType"/>
              </a:rPr>
            </a:br>
            <a:r>
              <a:rPr lang="en-US" sz="1400" b="1" dirty="0">
                <a:solidFill>
                  <a:srgbClr val="5BF2D3"/>
                </a:solidFill>
                <a:latin typeface="CarbonType"/>
              </a:rPr>
              <a:t>- Cores: 4</a:t>
            </a:r>
            <a:br>
              <a:rPr lang="en-US" sz="1400" b="1" dirty="0">
                <a:solidFill>
                  <a:srgbClr val="5BF2D3"/>
                </a:solidFill>
                <a:latin typeface="CarbonType"/>
              </a:rPr>
            </a:br>
            <a:r>
              <a:rPr lang="en-US" sz="1400" b="1" dirty="0">
                <a:solidFill>
                  <a:srgbClr val="5BF2D3"/>
                </a:solidFill>
                <a:latin typeface="CarbonType"/>
              </a:rPr>
              <a:t>- Type: host</a:t>
            </a:r>
            <a:br>
              <a:rPr lang="en-US" sz="1400" b="1" dirty="0">
                <a:solidFill>
                  <a:srgbClr val="5BF2D3"/>
                </a:solidFill>
                <a:latin typeface="CarbonType"/>
              </a:rPr>
            </a:br>
            <a:r>
              <a:rPr lang="en-US" sz="1400" b="1" dirty="0">
                <a:solidFill>
                  <a:srgbClr val="5BF2D3"/>
                </a:solidFill>
                <a:latin typeface="CarbonType"/>
              </a:rPr>
              <a:t>- Leave all others at their default values</a:t>
            </a:r>
            <a:endParaRPr sz="1400" b="1" i="0" dirty="0">
              <a:solidFill>
                <a:srgbClr val="5BF2D3"/>
              </a:solidFill>
              <a:latin typeface="CarbonType"/>
            </a:endParaRPr>
          </a:p>
        </p:txBody>
      </p:sp>
      <p:sp>
        <p:nvSpPr>
          <p:cNvPr id="18" name="TextBox 17">
            <a:extLst>
              <a:ext uri="{FF2B5EF4-FFF2-40B4-BE49-F238E27FC236}">
                <a16:creationId xmlns:a16="http://schemas.microsoft.com/office/drawing/2014/main" id="{21447236-A3AC-951F-05A2-931EB4E5D523}"/>
              </a:ext>
            </a:extLst>
          </p:cNvPr>
          <p:cNvSpPr txBox="1"/>
          <p:nvPr/>
        </p:nvSpPr>
        <p:spPr>
          <a:xfrm>
            <a:off x="8156448" y="3210346"/>
            <a:ext cx="3845604" cy="1077218"/>
          </a:xfrm>
          <a:prstGeom prst="rect">
            <a:avLst/>
          </a:prstGeom>
          <a:noFill/>
        </p:spPr>
        <p:txBody>
          <a:bodyPr wrap="square" lIns="0" tIns="0" rIns="0" bIns="0" anchor="t">
            <a:spAutoFit/>
          </a:bodyPr>
          <a:lstStyle/>
          <a:p>
            <a:pPr algn="l"/>
            <a:r>
              <a:rPr lang="en-US" sz="1400" b="1" dirty="0">
                <a:solidFill>
                  <a:srgbClr val="FFAA91"/>
                </a:solidFill>
                <a:latin typeface="CarbonType"/>
              </a:rPr>
              <a:t>7</a:t>
            </a:r>
            <a:r>
              <a:rPr lang="en-US" sz="1400" b="1" i="0" dirty="0">
                <a:solidFill>
                  <a:srgbClr val="FFAA91"/>
                </a:solidFill>
                <a:latin typeface="CarbonType"/>
              </a:rPr>
              <a:t>. On the Memory tab, set the following values and then click Next:</a:t>
            </a:r>
            <a:br>
              <a:rPr lang="en-US" sz="1400" b="1" i="0" dirty="0">
                <a:solidFill>
                  <a:srgbClr val="FFAA91"/>
                </a:solidFill>
                <a:latin typeface="CarbonType"/>
              </a:rPr>
            </a:br>
            <a:r>
              <a:rPr lang="en-US" sz="1400" b="1" i="0" dirty="0">
                <a:solidFill>
                  <a:srgbClr val="FFAA91"/>
                </a:solidFill>
                <a:latin typeface="CarbonType"/>
              </a:rPr>
              <a:t>- Memory (MiB): 4096</a:t>
            </a:r>
            <a:br>
              <a:rPr lang="en-US" sz="1400" b="1" i="0" dirty="0">
                <a:solidFill>
                  <a:srgbClr val="FFAA91"/>
                </a:solidFill>
                <a:latin typeface="CarbonType"/>
              </a:rPr>
            </a:br>
            <a:r>
              <a:rPr lang="en-US" sz="1400" b="1" i="0" dirty="0">
                <a:solidFill>
                  <a:srgbClr val="FFAA91"/>
                </a:solidFill>
                <a:latin typeface="CarbonType"/>
              </a:rPr>
              <a:t>- Minimum memory (MiB): 4096</a:t>
            </a:r>
            <a:br>
              <a:rPr lang="en-US" sz="1400" b="1" i="0" dirty="0">
                <a:solidFill>
                  <a:srgbClr val="FFAA91"/>
                </a:solidFill>
                <a:latin typeface="CarbonType"/>
              </a:rPr>
            </a:br>
            <a:r>
              <a:rPr lang="en-US" sz="1400" b="1" i="0" dirty="0">
                <a:solidFill>
                  <a:srgbClr val="FFAA91"/>
                </a:solidFill>
                <a:latin typeface="CarbonType"/>
              </a:rPr>
              <a:t>- Leave all others at their default values</a:t>
            </a:r>
            <a:endParaRPr sz="1400" b="1" i="0" dirty="0">
              <a:solidFill>
                <a:srgbClr val="FFAA91"/>
              </a:solidFill>
              <a:latin typeface="CarbonType"/>
            </a:endParaRPr>
          </a:p>
        </p:txBody>
      </p:sp>
      <p:pic>
        <p:nvPicPr>
          <p:cNvPr id="13" name="Picture 12">
            <a:extLst>
              <a:ext uri="{FF2B5EF4-FFF2-40B4-BE49-F238E27FC236}">
                <a16:creationId xmlns:a16="http://schemas.microsoft.com/office/drawing/2014/main" id="{96FC2CB7-E7D7-73AD-EAD3-1ED412F24A62}"/>
              </a:ext>
            </a:extLst>
          </p:cNvPr>
          <p:cNvPicPr>
            <a:picLocks noChangeAspect="1"/>
          </p:cNvPicPr>
          <p:nvPr/>
        </p:nvPicPr>
        <p:blipFill>
          <a:blip r:embed="rId2"/>
          <a:stretch>
            <a:fillRect/>
          </a:stretch>
        </p:blipFill>
        <p:spPr>
          <a:xfrm>
            <a:off x="594756" y="1608703"/>
            <a:ext cx="6349383" cy="2054602"/>
          </a:xfrm>
          <a:prstGeom prst="rect">
            <a:avLst/>
          </a:prstGeom>
        </p:spPr>
      </p:pic>
      <p:pic>
        <p:nvPicPr>
          <p:cNvPr id="17" name="Picture 16">
            <a:extLst>
              <a:ext uri="{FF2B5EF4-FFF2-40B4-BE49-F238E27FC236}">
                <a16:creationId xmlns:a16="http://schemas.microsoft.com/office/drawing/2014/main" id="{EA0C79CD-B019-9F88-CFC5-A87F33619B3C}"/>
              </a:ext>
            </a:extLst>
          </p:cNvPr>
          <p:cNvPicPr>
            <a:picLocks noChangeAspect="1"/>
          </p:cNvPicPr>
          <p:nvPr/>
        </p:nvPicPr>
        <p:blipFill>
          <a:blip r:embed="rId3"/>
          <a:stretch>
            <a:fillRect/>
          </a:stretch>
        </p:blipFill>
        <p:spPr>
          <a:xfrm>
            <a:off x="608009" y="3872490"/>
            <a:ext cx="6839714" cy="2298824"/>
          </a:xfrm>
          <a:prstGeom prst="rect">
            <a:avLst/>
          </a:prstGeom>
        </p:spPr>
      </p:pic>
    </p:spTree>
    <p:extLst>
      <p:ext uri="{BB962C8B-B14F-4D97-AF65-F5344CB8AC3E}">
        <p14:creationId xmlns:p14="http://schemas.microsoft.com/office/powerpoint/2010/main" val="357460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9F95-1E1F-C36D-A558-BD7671BE80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F7DB7A7-2620-63FD-81E2-FFD27D867478}"/>
              </a:ext>
            </a:extLst>
          </p:cNvPr>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33F3C19-1428-48C9-9A9A-97E53E517F1C}"/>
              </a:ext>
            </a:extLst>
          </p:cNvPr>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E8AB5C07-CD3B-D95D-E080-4DF39018D769}"/>
              </a:ext>
            </a:extLst>
          </p:cNvPr>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a:extLst>
              <a:ext uri="{FF2B5EF4-FFF2-40B4-BE49-F238E27FC236}">
                <a16:creationId xmlns:a16="http://schemas.microsoft.com/office/drawing/2014/main" id="{F2FF68F6-933F-0F93-7420-F3A80F9E4D11}"/>
              </a:ext>
            </a:extLst>
          </p:cNvP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a:extLst>
              <a:ext uri="{FF2B5EF4-FFF2-40B4-BE49-F238E27FC236}">
                <a16:creationId xmlns:a16="http://schemas.microsoft.com/office/drawing/2014/main" id="{F5598E22-5F65-FA48-9E1E-86C2628421E7}"/>
              </a:ext>
            </a:extLst>
          </p:cNvPr>
          <p:cNvSpPr txBox="1"/>
          <p:nvPr/>
        </p:nvSpPr>
        <p:spPr>
          <a:xfrm>
            <a:off x="658368" y="698510"/>
            <a:ext cx="9966960" cy="523220"/>
          </a:xfrm>
          <a:prstGeom prst="rect">
            <a:avLst/>
          </a:prstGeom>
          <a:noFill/>
        </p:spPr>
        <p:txBody>
          <a:bodyPr wrap="square" lIns="0" tIns="0" rIns="0" bIns="0" anchor="ctr">
            <a:spAutoFit/>
          </a:bodyPr>
          <a:lstStyle/>
          <a:p>
            <a:pPr algn="l"/>
            <a:r>
              <a:rPr lang="en-US" sz="3400" b="1" i="0" dirty="0">
                <a:solidFill>
                  <a:srgbClr val="F5F8FF"/>
                </a:solidFill>
                <a:latin typeface="CarbonType"/>
              </a:rPr>
              <a:t>Building a new VM in </a:t>
            </a:r>
            <a:r>
              <a:rPr lang="en-US" sz="3400" b="1" i="0" dirty="0" err="1">
                <a:solidFill>
                  <a:srgbClr val="F5F8FF"/>
                </a:solidFill>
                <a:latin typeface="CarbonType"/>
              </a:rPr>
              <a:t>Proxmox</a:t>
            </a:r>
            <a:endParaRPr sz="3400" b="1" i="0" dirty="0">
              <a:solidFill>
                <a:srgbClr val="F5F8FF"/>
              </a:solidFill>
              <a:latin typeface="CarbonType"/>
            </a:endParaRPr>
          </a:p>
        </p:txBody>
      </p:sp>
      <p:sp>
        <p:nvSpPr>
          <p:cNvPr id="7" name="Subtitle">
            <a:extLst>
              <a:ext uri="{FF2B5EF4-FFF2-40B4-BE49-F238E27FC236}">
                <a16:creationId xmlns:a16="http://schemas.microsoft.com/office/drawing/2014/main" id="{C41F2F81-688E-9F4E-E785-F3FAEC6471BC}"/>
              </a:ext>
            </a:extLst>
          </p:cNvPr>
          <p:cNvSpPr txBox="1"/>
          <p:nvPr/>
        </p:nvSpPr>
        <p:spPr>
          <a:xfrm>
            <a:off x="694944" y="1271016"/>
            <a:ext cx="9418320" cy="200055"/>
          </a:xfrm>
          <a:prstGeom prst="rect">
            <a:avLst/>
          </a:prstGeom>
          <a:noFill/>
        </p:spPr>
        <p:txBody>
          <a:bodyPr wrap="square" lIns="0" tIns="0" rIns="0" bIns="0" anchor="t">
            <a:spAutoFit/>
          </a:bodyPr>
          <a:lstStyle/>
          <a:p>
            <a:pPr algn="l"/>
            <a:r>
              <a:rPr lang="en-US" sz="1300" i="1" dirty="0">
                <a:solidFill>
                  <a:srgbClr val="FFAA91"/>
                </a:solidFill>
                <a:latin typeface="Aptos"/>
              </a:rPr>
              <a:t>Time to bring </a:t>
            </a:r>
            <a:r>
              <a:rPr lang="en-US" sz="1300" i="1" dirty="0" err="1">
                <a:solidFill>
                  <a:srgbClr val="FFAA91"/>
                </a:solidFill>
                <a:latin typeface="Aptos"/>
              </a:rPr>
              <a:t>Proxmox</a:t>
            </a:r>
            <a:r>
              <a:rPr lang="en-US" sz="1300" i="1" dirty="0">
                <a:solidFill>
                  <a:srgbClr val="FFAA91"/>
                </a:solidFill>
                <a:latin typeface="Aptos"/>
              </a:rPr>
              <a:t> to its knees</a:t>
            </a:r>
            <a:endParaRPr sz="1300" b="0" i="1" dirty="0">
              <a:solidFill>
                <a:srgbClr val="FFAA91"/>
              </a:solidFill>
              <a:latin typeface="Aptos"/>
            </a:endParaRPr>
          </a:p>
        </p:txBody>
      </p:sp>
      <p:sp>
        <p:nvSpPr>
          <p:cNvPr id="8" name="Layout number">
            <a:extLst>
              <a:ext uri="{FF2B5EF4-FFF2-40B4-BE49-F238E27FC236}">
                <a16:creationId xmlns:a16="http://schemas.microsoft.com/office/drawing/2014/main" id="{A6297E4F-408E-16EE-009D-8A6CE3FC6ED1}"/>
              </a:ext>
            </a:extLst>
          </p:cNvPr>
          <p:cNvSpPr txBox="1"/>
          <p:nvPr/>
        </p:nvSpPr>
        <p:spPr>
          <a:xfrm>
            <a:off x="10744200" y="758952"/>
            <a:ext cx="749808" cy="230832"/>
          </a:xfrm>
          <a:prstGeom prst="rect">
            <a:avLst/>
          </a:prstGeom>
          <a:noFill/>
        </p:spPr>
        <p:txBody>
          <a:bodyPr wrap="square" lIns="0" tIns="0" rIns="0" bIns="0" anchor="t">
            <a:spAutoFit/>
          </a:bodyPr>
          <a:lstStyle/>
          <a:p>
            <a:pPr algn="r"/>
            <a:r>
              <a:rPr lang="en-US" sz="1500" b="1" i="0" dirty="0">
                <a:solidFill>
                  <a:srgbClr val="5BF2D3"/>
                </a:solidFill>
                <a:latin typeface="CarbonType"/>
              </a:rPr>
              <a:t>07</a:t>
            </a:r>
            <a:endParaRPr sz="1500" b="1" i="0" dirty="0">
              <a:solidFill>
                <a:srgbClr val="5BF2D3"/>
              </a:solidFill>
              <a:latin typeface="CarbonType"/>
            </a:endParaRPr>
          </a:p>
        </p:txBody>
      </p:sp>
      <p:sp>
        <p:nvSpPr>
          <p:cNvPr id="9" name="Rectangle 8">
            <a:extLst>
              <a:ext uri="{FF2B5EF4-FFF2-40B4-BE49-F238E27FC236}">
                <a16:creationId xmlns:a16="http://schemas.microsoft.com/office/drawing/2014/main" id="{F43D58CF-664A-B7CE-A6F8-B3CC1A6A1B7E}"/>
              </a:ext>
            </a:extLst>
          </p:cNvPr>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a:extLst>
              <a:ext uri="{FF2B5EF4-FFF2-40B4-BE49-F238E27FC236}">
                <a16:creationId xmlns:a16="http://schemas.microsoft.com/office/drawing/2014/main" id="{20AEEEF8-EA44-BA73-9320-64C19AD4ACF1}"/>
              </a:ext>
            </a:extLst>
          </p:cNvP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6" name="TextBox 15">
            <a:extLst>
              <a:ext uri="{FF2B5EF4-FFF2-40B4-BE49-F238E27FC236}">
                <a16:creationId xmlns:a16="http://schemas.microsoft.com/office/drawing/2014/main" id="{5B94E844-2556-A9A4-5BF7-86912C9063CE}"/>
              </a:ext>
            </a:extLst>
          </p:cNvPr>
          <p:cNvSpPr txBox="1"/>
          <p:nvPr/>
        </p:nvSpPr>
        <p:spPr>
          <a:xfrm>
            <a:off x="8156448" y="1783080"/>
            <a:ext cx="3474720" cy="430887"/>
          </a:xfrm>
          <a:prstGeom prst="rect">
            <a:avLst/>
          </a:prstGeom>
          <a:noFill/>
        </p:spPr>
        <p:txBody>
          <a:bodyPr wrap="square" lIns="0" tIns="0" rIns="0" bIns="0" anchor="t">
            <a:spAutoFit/>
          </a:bodyPr>
          <a:lstStyle/>
          <a:p>
            <a:r>
              <a:rPr lang="en-US" sz="1400" b="1" dirty="0">
                <a:solidFill>
                  <a:srgbClr val="5BF2D3"/>
                </a:solidFill>
                <a:latin typeface="CarbonType"/>
              </a:rPr>
              <a:t>8. Don't make any changes on the Network tab. Just click Next.</a:t>
            </a:r>
            <a:endParaRPr sz="1400" b="1" i="0" dirty="0">
              <a:solidFill>
                <a:srgbClr val="5BF2D3"/>
              </a:solidFill>
              <a:latin typeface="CarbonType"/>
            </a:endParaRPr>
          </a:p>
        </p:txBody>
      </p:sp>
      <p:sp>
        <p:nvSpPr>
          <p:cNvPr id="18" name="TextBox 17">
            <a:extLst>
              <a:ext uri="{FF2B5EF4-FFF2-40B4-BE49-F238E27FC236}">
                <a16:creationId xmlns:a16="http://schemas.microsoft.com/office/drawing/2014/main" id="{F488A44D-DED8-500F-39E6-552594BBC072}"/>
              </a:ext>
            </a:extLst>
          </p:cNvPr>
          <p:cNvSpPr txBox="1"/>
          <p:nvPr/>
        </p:nvSpPr>
        <p:spPr>
          <a:xfrm>
            <a:off x="8156448" y="2366623"/>
            <a:ext cx="3845604" cy="861774"/>
          </a:xfrm>
          <a:prstGeom prst="rect">
            <a:avLst/>
          </a:prstGeom>
          <a:noFill/>
        </p:spPr>
        <p:txBody>
          <a:bodyPr wrap="square" lIns="0" tIns="0" rIns="0" bIns="0" anchor="t">
            <a:spAutoFit/>
          </a:bodyPr>
          <a:lstStyle/>
          <a:p>
            <a:pPr algn="l"/>
            <a:r>
              <a:rPr lang="en-US" sz="1400" b="1" dirty="0">
                <a:solidFill>
                  <a:srgbClr val="FFAA91"/>
                </a:solidFill>
                <a:latin typeface="CarbonType"/>
              </a:rPr>
              <a:t>9</a:t>
            </a:r>
            <a:r>
              <a:rPr lang="en-US" sz="1400" b="1" i="0" dirty="0">
                <a:solidFill>
                  <a:srgbClr val="FFAA91"/>
                </a:solidFill>
                <a:latin typeface="CarbonType"/>
              </a:rPr>
              <a:t>. On the Confirm tab, make sure that all the choices listed there match these instructions. When you are satisfied that they do, click Finish, and job will be scheduled to build your VM.</a:t>
            </a:r>
            <a:endParaRPr sz="1400" b="1" i="0" dirty="0">
              <a:solidFill>
                <a:srgbClr val="FFAA91"/>
              </a:solidFill>
              <a:latin typeface="CarbonType"/>
            </a:endParaRPr>
          </a:p>
        </p:txBody>
      </p:sp>
      <p:pic>
        <p:nvPicPr>
          <p:cNvPr id="20" name="Picture 19">
            <a:extLst>
              <a:ext uri="{FF2B5EF4-FFF2-40B4-BE49-F238E27FC236}">
                <a16:creationId xmlns:a16="http://schemas.microsoft.com/office/drawing/2014/main" id="{5B761A91-FA55-A09D-819B-C564C0E045D6}"/>
              </a:ext>
            </a:extLst>
          </p:cNvPr>
          <p:cNvPicPr>
            <a:picLocks noChangeAspect="1"/>
          </p:cNvPicPr>
          <p:nvPr/>
        </p:nvPicPr>
        <p:blipFill>
          <a:blip r:embed="rId2"/>
          <a:stretch>
            <a:fillRect/>
          </a:stretch>
        </p:blipFill>
        <p:spPr>
          <a:xfrm>
            <a:off x="597403" y="1598523"/>
            <a:ext cx="6178208" cy="4643251"/>
          </a:xfrm>
          <a:prstGeom prst="rect">
            <a:avLst/>
          </a:prstGeom>
        </p:spPr>
      </p:pic>
    </p:spTree>
    <p:extLst>
      <p:ext uri="{BB962C8B-B14F-4D97-AF65-F5344CB8AC3E}">
        <p14:creationId xmlns:p14="http://schemas.microsoft.com/office/powerpoint/2010/main" val="1375921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31945-49A9-B0FF-99B1-B24B4E9E059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98E0E0-7138-F4EE-CA33-406AE21C7CC0}"/>
              </a:ext>
            </a:extLst>
          </p:cNvPr>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95AA16D-DD2C-619B-6833-8ABAA7DDF8C9}"/>
              </a:ext>
            </a:extLst>
          </p:cNvPr>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6103671D-E625-5253-9B97-98E0192EC39F}"/>
              </a:ext>
            </a:extLst>
          </p:cNvPr>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a:extLst>
              <a:ext uri="{FF2B5EF4-FFF2-40B4-BE49-F238E27FC236}">
                <a16:creationId xmlns:a16="http://schemas.microsoft.com/office/drawing/2014/main" id="{CD09E3C7-13C4-01CA-AA58-F873B94099D0}"/>
              </a:ext>
            </a:extLst>
          </p:cNvP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a:extLst>
              <a:ext uri="{FF2B5EF4-FFF2-40B4-BE49-F238E27FC236}">
                <a16:creationId xmlns:a16="http://schemas.microsoft.com/office/drawing/2014/main" id="{2EED0781-1453-42AF-54B5-40B087E5FF26}"/>
              </a:ext>
            </a:extLst>
          </p:cNvPr>
          <p:cNvSpPr txBox="1"/>
          <p:nvPr/>
        </p:nvSpPr>
        <p:spPr>
          <a:xfrm>
            <a:off x="658368" y="698510"/>
            <a:ext cx="9966960" cy="523220"/>
          </a:xfrm>
          <a:prstGeom prst="rect">
            <a:avLst/>
          </a:prstGeom>
          <a:noFill/>
        </p:spPr>
        <p:txBody>
          <a:bodyPr wrap="square" lIns="0" tIns="0" rIns="0" bIns="0" anchor="ctr">
            <a:spAutoFit/>
          </a:bodyPr>
          <a:lstStyle/>
          <a:p>
            <a:pPr algn="l"/>
            <a:r>
              <a:rPr lang="en-US" sz="3400" b="1" dirty="0">
                <a:solidFill>
                  <a:srgbClr val="F5F8FF"/>
                </a:solidFill>
                <a:latin typeface="CarbonType"/>
              </a:rPr>
              <a:t>Obtaining a </a:t>
            </a:r>
            <a:r>
              <a:rPr lang="en-US" sz="3400" b="1" dirty="0" err="1">
                <a:solidFill>
                  <a:srgbClr val="F5F8FF"/>
                </a:solidFill>
                <a:latin typeface="CarbonType"/>
              </a:rPr>
              <a:t>Bitwarden</a:t>
            </a:r>
            <a:r>
              <a:rPr lang="en-US" sz="3400" b="1" dirty="0">
                <a:solidFill>
                  <a:srgbClr val="F5F8FF"/>
                </a:solidFill>
                <a:latin typeface="CarbonType"/>
              </a:rPr>
              <a:t> account</a:t>
            </a:r>
            <a:endParaRPr sz="3400" b="1" i="0" dirty="0">
              <a:solidFill>
                <a:srgbClr val="F5F8FF"/>
              </a:solidFill>
              <a:latin typeface="CarbonType"/>
            </a:endParaRPr>
          </a:p>
        </p:txBody>
      </p:sp>
      <p:sp>
        <p:nvSpPr>
          <p:cNvPr id="7" name="Subtitle">
            <a:extLst>
              <a:ext uri="{FF2B5EF4-FFF2-40B4-BE49-F238E27FC236}">
                <a16:creationId xmlns:a16="http://schemas.microsoft.com/office/drawing/2014/main" id="{116FA26D-EB2C-520D-2081-255B19484407}"/>
              </a:ext>
            </a:extLst>
          </p:cNvPr>
          <p:cNvSpPr txBox="1"/>
          <p:nvPr/>
        </p:nvSpPr>
        <p:spPr>
          <a:xfrm>
            <a:off x="694944" y="1271016"/>
            <a:ext cx="9418320" cy="200055"/>
          </a:xfrm>
          <a:prstGeom prst="rect">
            <a:avLst/>
          </a:prstGeom>
          <a:noFill/>
        </p:spPr>
        <p:txBody>
          <a:bodyPr wrap="square" lIns="0" tIns="0" rIns="0" bIns="0" anchor="t">
            <a:spAutoFit/>
          </a:bodyPr>
          <a:lstStyle/>
          <a:p>
            <a:pPr algn="l"/>
            <a:r>
              <a:rPr lang="en-US" sz="1300" b="0" i="1" dirty="0">
                <a:solidFill>
                  <a:srgbClr val="FFAA91"/>
                </a:solidFill>
                <a:latin typeface="Aptos"/>
              </a:rPr>
              <a:t>Why did the bit warden go to jail? Answers on the right.</a:t>
            </a:r>
            <a:endParaRPr sz="1300" b="0" i="1" dirty="0">
              <a:solidFill>
                <a:srgbClr val="FFAA91"/>
              </a:solidFill>
              <a:latin typeface="Aptos"/>
            </a:endParaRPr>
          </a:p>
        </p:txBody>
      </p:sp>
      <p:sp>
        <p:nvSpPr>
          <p:cNvPr id="8" name="Layout number">
            <a:extLst>
              <a:ext uri="{FF2B5EF4-FFF2-40B4-BE49-F238E27FC236}">
                <a16:creationId xmlns:a16="http://schemas.microsoft.com/office/drawing/2014/main" id="{8B8A63C1-3CF9-D3CE-E02E-D8EDEB6D7F14}"/>
              </a:ext>
            </a:extLst>
          </p:cNvPr>
          <p:cNvSpPr txBox="1"/>
          <p:nvPr/>
        </p:nvSpPr>
        <p:spPr>
          <a:xfrm>
            <a:off x="10744200" y="758952"/>
            <a:ext cx="749808" cy="230832"/>
          </a:xfrm>
          <a:prstGeom prst="rect">
            <a:avLst/>
          </a:prstGeom>
          <a:noFill/>
        </p:spPr>
        <p:txBody>
          <a:bodyPr wrap="square" lIns="0" tIns="0" rIns="0" bIns="0" anchor="t">
            <a:spAutoFit/>
          </a:bodyPr>
          <a:lstStyle/>
          <a:p>
            <a:pPr algn="r"/>
            <a:r>
              <a:rPr lang="en-US" sz="1500" b="1" i="0" dirty="0">
                <a:solidFill>
                  <a:srgbClr val="5BF2D3"/>
                </a:solidFill>
                <a:latin typeface="CarbonType"/>
              </a:rPr>
              <a:t>08</a:t>
            </a:r>
            <a:endParaRPr sz="1500" b="1" i="0" dirty="0">
              <a:solidFill>
                <a:srgbClr val="5BF2D3"/>
              </a:solidFill>
              <a:latin typeface="CarbonType"/>
            </a:endParaRPr>
          </a:p>
        </p:txBody>
      </p:sp>
      <p:sp>
        <p:nvSpPr>
          <p:cNvPr id="9" name="Rectangle 8">
            <a:extLst>
              <a:ext uri="{FF2B5EF4-FFF2-40B4-BE49-F238E27FC236}">
                <a16:creationId xmlns:a16="http://schemas.microsoft.com/office/drawing/2014/main" id="{A904417A-C0E3-C81F-4664-7FB1F6BF786D}"/>
              </a:ext>
            </a:extLst>
          </p:cNvPr>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a:extLst>
              <a:ext uri="{FF2B5EF4-FFF2-40B4-BE49-F238E27FC236}">
                <a16:creationId xmlns:a16="http://schemas.microsoft.com/office/drawing/2014/main" id="{6B11DD62-E36B-EE1B-57E5-93F19F5BAAB3}"/>
              </a:ext>
            </a:extLst>
          </p:cNvP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2" name="Visual anchor">
            <a:extLst>
              <a:ext uri="{FF2B5EF4-FFF2-40B4-BE49-F238E27FC236}">
                <a16:creationId xmlns:a16="http://schemas.microsoft.com/office/drawing/2014/main" id="{BFF20687-CDA8-755D-EC55-5309E01EB937}"/>
              </a:ext>
            </a:extLst>
          </p:cNvPr>
          <p:cNvSpPr txBox="1"/>
          <p:nvPr/>
        </p:nvSpPr>
        <p:spPr>
          <a:xfrm>
            <a:off x="8110728" y="1719072"/>
            <a:ext cx="3451448" cy="738664"/>
          </a:xfrm>
          <a:prstGeom prst="rect">
            <a:avLst/>
          </a:prstGeom>
          <a:noFill/>
        </p:spPr>
        <p:txBody>
          <a:bodyPr wrap="square" lIns="0" tIns="0" rIns="0" bIns="0" anchor="t">
            <a:spAutoFit/>
          </a:bodyPr>
          <a:lstStyle/>
          <a:p>
            <a:pPr algn="ctr"/>
            <a:r>
              <a:rPr lang="en-US" sz="2400" b="1" i="0" dirty="0">
                <a:solidFill>
                  <a:srgbClr val="C14DFF"/>
                </a:solidFill>
                <a:latin typeface="CarbonType"/>
              </a:rPr>
              <a:t>Why did the bit warden</a:t>
            </a:r>
          </a:p>
          <a:p>
            <a:pPr algn="ctr"/>
            <a:r>
              <a:rPr lang="en-US" sz="2400" b="1" i="0" dirty="0">
                <a:solidFill>
                  <a:srgbClr val="C14DFF"/>
                </a:solidFill>
                <a:latin typeface="CarbonType"/>
              </a:rPr>
              <a:t>go to jail?</a:t>
            </a:r>
            <a:endParaRPr sz="2400" b="1" i="0" dirty="0">
              <a:solidFill>
                <a:srgbClr val="C14DFF"/>
              </a:solidFill>
              <a:latin typeface="CarbonType"/>
            </a:endParaRPr>
          </a:p>
        </p:txBody>
      </p:sp>
      <p:sp>
        <p:nvSpPr>
          <p:cNvPr id="13" name="Takeaway prompt">
            <a:extLst>
              <a:ext uri="{FF2B5EF4-FFF2-40B4-BE49-F238E27FC236}">
                <a16:creationId xmlns:a16="http://schemas.microsoft.com/office/drawing/2014/main" id="{C41F8426-F550-7EB7-4AA0-2251431485DB}"/>
              </a:ext>
            </a:extLst>
          </p:cNvPr>
          <p:cNvSpPr txBox="1"/>
          <p:nvPr/>
        </p:nvSpPr>
        <p:spPr>
          <a:xfrm>
            <a:off x="8311896" y="2617170"/>
            <a:ext cx="3250280" cy="2708434"/>
          </a:xfrm>
          <a:prstGeom prst="rect">
            <a:avLst/>
          </a:prstGeom>
          <a:noFill/>
        </p:spPr>
        <p:txBody>
          <a:bodyPr wrap="square" lIns="0" tIns="0" rIns="0" bIns="0" anchor="t">
            <a:spAutoFit/>
          </a:bodyPr>
          <a:lstStyle/>
          <a:p>
            <a:pPr marL="285750" indent="-285750">
              <a:buFont typeface="Wingdings" panose="05000000000000000000" pitchFamily="2" charset="2"/>
              <a:buChar char="§"/>
            </a:pPr>
            <a:r>
              <a:rPr lang="en-US" sz="1600" dirty="0">
                <a:solidFill>
                  <a:srgbClr val="AAB9D2"/>
                </a:solidFill>
                <a:latin typeface="Aptos"/>
              </a:rPr>
              <a:t>Possession with intent to autofill</a:t>
            </a:r>
          </a:p>
          <a:p>
            <a:pPr marL="285750" indent="-285750">
              <a:buFont typeface="Wingdings" panose="05000000000000000000" pitchFamily="2" charset="2"/>
              <a:buChar char="§"/>
            </a:pPr>
            <a:r>
              <a:rPr lang="en-US" sz="1600" dirty="0">
                <a:solidFill>
                  <a:srgbClr val="AAB9D2"/>
                </a:solidFill>
                <a:latin typeface="Aptos"/>
              </a:rPr>
              <a:t>Caught red-handed with All The Keys</a:t>
            </a:r>
          </a:p>
          <a:p>
            <a:pPr marL="285750" indent="-285750">
              <a:buFont typeface="Wingdings" panose="05000000000000000000" pitchFamily="2" charset="2"/>
              <a:buChar char="§"/>
            </a:pPr>
            <a:r>
              <a:rPr lang="en-US" sz="1600" dirty="0">
                <a:solidFill>
                  <a:srgbClr val="AAB9D2"/>
                </a:solidFill>
                <a:latin typeface="Aptos"/>
              </a:rPr>
              <a:t>Flipping bits without a warrant</a:t>
            </a:r>
          </a:p>
          <a:p>
            <a:pPr marL="285750" indent="-285750">
              <a:buFont typeface="Wingdings" panose="05000000000000000000" pitchFamily="2" charset="2"/>
              <a:buChar char="§"/>
            </a:pPr>
            <a:r>
              <a:rPr lang="en-US" sz="1600" dirty="0">
                <a:solidFill>
                  <a:srgbClr val="AAB9D2"/>
                </a:solidFill>
                <a:latin typeface="Aptos"/>
              </a:rPr>
              <a:t>Repeated jailbreaks</a:t>
            </a:r>
          </a:p>
          <a:p>
            <a:pPr marL="285750" indent="-285750">
              <a:buFont typeface="Wingdings" panose="05000000000000000000" pitchFamily="2" charset="2"/>
              <a:buChar char="§"/>
            </a:pPr>
            <a:r>
              <a:rPr lang="en-US" sz="1600" dirty="0">
                <a:solidFill>
                  <a:srgbClr val="AAB9D2"/>
                </a:solidFill>
                <a:latin typeface="Aptos"/>
              </a:rPr>
              <a:t>Guilty of unauthorized access</a:t>
            </a:r>
          </a:p>
          <a:p>
            <a:pPr marL="285750" indent="-285750">
              <a:buFont typeface="Wingdings" panose="05000000000000000000" pitchFamily="2" charset="2"/>
              <a:buChar char="§"/>
            </a:pPr>
            <a:r>
              <a:rPr lang="en-US" sz="1600" dirty="0">
                <a:solidFill>
                  <a:srgbClr val="AAB9D2"/>
                </a:solidFill>
                <a:latin typeface="Aptos"/>
              </a:rPr>
              <a:t>Reversible hashing (sha2)</a:t>
            </a:r>
          </a:p>
          <a:p>
            <a:pPr marL="285750" indent="-285750">
              <a:buFont typeface="Wingdings" panose="05000000000000000000" pitchFamily="2" charset="2"/>
              <a:buChar char="§"/>
            </a:pPr>
            <a:r>
              <a:rPr lang="en-US" sz="1600" dirty="0">
                <a:solidFill>
                  <a:srgbClr val="AAB9D2"/>
                </a:solidFill>
                <a:latin typeface="Aptos"/>
              </a:rPr>
              <a:t>Making jokes worse than these (I'm not sure that's possible?)</a:t>
            </a:r>
          </a:p>
          <a:p>
            <a:pPr marL="285750" indent="-285750">
              <a:buFont typeface="Wingdings" panose="05000000000000000000" pitchFamily="2" charset="2"/>
              <a:buChar char="§"/>
            </a:pPr>
            <a:endParaRPr lang="en-US" sz="1600" dirty="0">
              <a:solidFill>
                <a:srgbClr val="AAB9D2"/>
              </a:solidFill>
              <a:latin typeface="Aptos"/>
            </a:endParaRPr>
          </a:p>
          <a:p>
            <a:pPr marL="285750" indent="-285750" algn="r">
              <a:buFont typeface="Wingdings" panose="05000000000000000000" pitchFamily="2" charset="2"/>
              <a:buChar char="§"/>
            </a:pPr>
            <a:endParaRPr sz="1600" b="0" i="0" dirty="0">
              <a:solidFill>
                <a:srgbClr val="AAB9D2"/>
              </a:solidFill>
              <a:latin typeface="Aptos"/>
            </a:endParaRPr>
          </a:p>
        </p:txBody>
      </p:sp>
      <p:sp>
        <p:nvSpPr>
          <p:cNvPr id="14" name="Rectangle 13">
            <a:extLst>
              <a:ext uri="{FF2B5EF4-FFF2-40B4-BE49-F238E27FC236}">
                <a16:creationId xmlns:a16="http://schemas.microsoft.com/office/drawing/2014/main" id="{7BBE8312-2E9C-CD97-9ED5-FC8A0841B9F3}"/>
              </a:ext>
            </a:extLst>
          </p:cNvPr>
          <p:cNvSpPr/>
          <p:nvPr/>
        </p:nvSpPr>
        <p:spPr>
          <a:xfrm>
            <a:off x="8065008" y="1764792"/>
            <a:ext cx="22860" cy="3639312"/>
          </a:xfrm>
          <a:prstGeom prst="rect">
            <a:avLst/>
          </a:prstGeom>
          <a:solidFill>
            <a:srgbClr val="FFA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ditable bullet list">
            <a:extLst>
              <a:ext uri="{FF2B5EF4-FFF2-40B4-BE49-F238E27FC236}">
                <a16:creationId xmlns:a16="http://schemas.microsoft.com/office/drawing/2014/main" id="{49E2A353-C72C-7F1A-4626-269F94908059}"/>
              </a:ext>
            </a:extLst>
          </p:cNvPr>
          <p:cNvSpPr txBox="1"/>
          <p:nvPr/>
        </p:nvSpPr>
        <p:spPr>
          <a:xfrm>
            <a:off x="841248" y="1719072"/>
            <a:ext cx="6629400" cy="4264501"/>
          </a:xfrm>
          <a:prstGeom prst="rect">
            <a:avLst/>
          </a:prstGeom>
          <a:noFill/>
        </p:spPr>
        <p:txBody>
          <a:bodyPr wrap="square" lIns="0" tIns="0" rIns="0" bIns="0">
            <a:spAutoFit/>
          </a:bodyPr>
          <a:lstStyle/>
          <a:p>
            <a:pPr>
              <a:lnSpc>
                <a:spcPct val="105000"/>
              </a:lnSpc>
              <a:spcBef>
                <a:spcPts val="500"/>
              </a:spcBef>
              <a:spcAft>
                <a:spcPts val="100"/>
              </a:spcAft>
            </a:pPr>
            <a:r>
              <a:rPr sz="2300" b="1" dirty="0">
                <a:solidFill>
                  <a:srgbClr val="5BF2D3"/>
                </a:solidFill>
                <a:latin typeface="Aptos"/>
              </a:rPr>
              <a:t>•  </a:t>
            </a:r>
            <a:r>
              <a:rPr lang="en-US" sz="2300" dirty="0">
                <a:solidFill>
                  <a:srgbClr val="F5F8FF"/>
                </a:solidFill>
                <a:latin typeface="Aptos"/>
              </a:rPr>
              <a:t>Everybody made a </a:t>
            </a:r>
            <a:r>
              <a:rPr lang="en-US" sz="2300" dirty="0" err="1">
                <a:solidFill>
                  <a:srgbClr val="F5F8FF"/>
                </a:solidFill>
                <a:latin typeface="Aptos"/>
              </a:rPr>
              <a:t>Bitwarden</a:t>
            </a:r>
            <a:r>
              <a:rPr lang="en-US" sz="2300" dirty="0">
                <a:solidFill>
                  <a:srgbClr val="F5F8FF"/>
                </a:solidFill>
                <a:latin typeface="Aptos"/>
              </a:rPr>
              <a:t> account to store their passwords this year</a:t>
            </a:r>
            <a:endParaRPr sz="2300" dirty="0">
              <a:solidFill>
                <a:srgbClr val="F5F8FF"/>
              </a:solidFill>
              <a:latin typeface="Aptos"/>
            </a:endParaRPr>
          </a:p>
          <a:p>
            <a:pPr>
              <a:lnSpc>
                <a:spcPct val="105000"/>
              </a:lnSpc>
              <a:spcBef>
                <a:spcPts val="1500"/>
              </a:spcBef>
              <a:spcAft>
                <a:spcPts val="100"/>
              </a:spcAft>
            </a:pPr>
            <a:r>
              <a:rPr sz="2300" b="1" dirty="0">
                <a:solidFill>
                  <a:srgbClr val="5BF2D3"/>
                </a:solidFill>
                <a:latin typeface="Aptos"/>
              </a:rPr>
              <a:t>•  </a:t>
            </a:r>
            <a:r>
              <a:rPr lang="en-US" sz="2300" dirty="0">
                <a:solidFill>
                  <a:srgbClr val="F5F8FF"/>
                </a:solidFill>
                <a:latin typeface="Aptos"/>
              </a:rPr>
              <a:t>In case you weren't here, this is what to do:</a:t>
            </a:r>
          </a:p>
          <a:p>
            <a:pPr marL="457200" indent="-457200">
              <a:lnSpc>
                <a:spcPct val="100000"/>
              </a:lnSpc>
              <a:spcBef>
                <a:spcPts val="1500"/>
              </a:spcBef>
              <a:spcAft>
                <a:spcPts val="100"/>
              </a:spcAft>
              <a:buFont typeface="+mj-lt"/>
              <a:buAutoNum type="arabicPeriod"/>
            </a:pPr>
            <a:r>
              <a:rPr lang="en-US" sz="2300" dirty="0">
                <a:solidFill>
                  <a:srgbClr val="F5F8FF"/>
                </a:solidFill>
                <a:latin typeface="Aptos"/>
              </a:rPr>
              <a:t>Go to </a:t>
            </a:r>
            <a:r>
              <a:rPr lang="en-US" sz="2300" dirty="0">
                <a:solidFill>
                  <a:schemeClr val="accent1">
                    <a:lumMod val="50000"/>
                    <a:lumOff val="50000"/>
                  </a:schemeClr>
                </a:solidFill>
                <a:latin typeface="Aptos"/>
                <a:hlinkClick r:id="rId2">
                  <a:extLst>
                    <a:ext uri="{A12FA001-AC4F-418D-AE19-62706E023703}">
                      <ahyp:hlinkClr xmlns:ahyp="http://schemas.microsoft.com/office/drawing/2018/hyperlinkcolor" val="tx"/>
                    </a:ext>
                  </a:extLst>
                </a:hlinkClick>
              </a:rPr>
              <a:t>https://bitwarden.com/pricing/</a:t>
            </a:r>
            <a:endParaRPr lang="en-US" sz="2300" dirty="0">
              <a:solidFill>
                <a:schemeClr val="accent1">
                  <a:lumMod val="50000"/>
                  <a:lumOff val="50000"/>
                </a:schemeClr>
              </a:solidFill>
              <a:latin typeface="Aptos"/>
            </a:endParaRPr>
          </a:p>
          <a:p>
            <a:pPr marL="457200" indent="-457200">
              <a:lnSpc>
                <a:spcPct val="100000"/>
              </a:lnSpc>
              <a:spcBef>
                <a:spcPts val="1500"/>
              </a:spcBef>
              <a:spcAft>
                <a:spcPts val="100"/>
              </a:spcAft>
              <a:buFont typeface="+mj-lt"/>
              <a:buAutoNum type="arabicPeriod"/>
            </a:pPr>
            <a:r>
              <a:rPr lang="en-US" sz="2300" dirty="0">
                <a:solidFill>
                  <a:schemeClr val="bg1"/>
                </a:solidFill>
                <a:latin typeface="Aptos"/>
              </a:rPr>
              <a:t>Scroll down to the button that says Create Free Account</a:t>
            </a:r>
          </a:p>
          <a:p>
            <a:pPr marL="457200" indent="-457200">
              <a:lnSpc>
                <a:spcPct val="100000"/>
              </a:lnSpc>
              <a:spcBef>
                <a:spcPts val="1500"/>
              </a:spcBef>
              <a:spcAft>
                <a:spcPts val="100"/>
              </a:spcAft>
              <a:buFont typeface="+mj-lt"/>
              <a:buAutoNum type="arabicPeriod"/>
            </a:pPr>
            <a:r>
              <a:rPr lang="en-US" sz="2300" dirty="0">
                <a:solidFill>
                  <a:schemeClr val="bg1"/>
                </a:solidFill>
                <a:latin typeface="Aptos"/>
              </a:rPr>
              <a:t>Click the button and follow the flow to create your account</a:t>
            </a:r>
          </a:p>
          <a:p>
            <a:pPr marL="457200" indent="-457200">
              <a:lnSpc>
                <a:spcPct val="100000"/>
              </a:lnSpc>
              <a:spcBef>
                <a:spcPts val="1500"/>
              </a:spcBef>
              <a:spcAft>
                <a:spcPts val="100"/>
              </a:spcAft>
              <a:buFont typeface="+mj-lt"/>
              <a:buAutoNum type="arabicPeriod"/>
            </a:pPr>
            <a:r>
              <a:rPr lang="en-US" sz="2300" dirty="0">
                <a:solidFill>
                  <a:schemeClr val="bg1"/>
                </a:solidFill>
                <a:latin typeface="Aptos"/>
              </a:rPr>
              <a:t>Add the extension to your browser</a:t>
            </a:r>
          </a:p>
        </p:txBody>
      </p:sp>
    </p:spTree>
    <p:extLst>
      <p:ext uri="{BB962C8B-B14F-4D97-AF65-F5344CB8AC3E}">
        <p14:creationId xmlns:p14="http://schemas.microsoft.com/office/powerpoint/2010/main" val="2710621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7FDB-FEE7-1C9E-8617-5532BBBB76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87CFEDA-1091-E012-C6EE-F6C5C0B2DE7D}"/>
              </a:ext>
            </a:extLst>
          </p:cNvPr>
          <p:cNvSpPr/>
          <p:nvPr/>
        </p:nvSpPr>
        <p:spPr>
          <a:xfrm>
            <a:off x="0" y="0"/>
            <a:ext cx="12191695" cy="6858000"/>
          </a:xfrm>
          <a:prstGeom prst="rect">
            <a:avLst/>
          </a:prstGeom>
          <a:solidFill>
            <a:srgbClr val="050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1E77A81-62D8-9BC3-FB9D-66E23AB64DB8}"/>
              </a:ext>
            </a:extLst>
          </p:cNvPr>
          <p:cNvSpPr/>
          <p:nvPr/>
        </p:nvSpPr>
        <p:spPr>
          <a:xfrm>
            <a:off x="658368" y="438912"/>
            <a:ext cx="2286000" cy="32004"/>
          </a:xfrm>
          <a:prstGeom prst="rect">
            <a:avLst/>
          </a:prstGeom>
          <a:solidFill>
            <a:srgbClr val="5BF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D820C02-0EE5-5BB9-D93E-6170D0834019}"/>
              </a:ext>
            </a:extLst>
          </p:cNvPr>
          <p:cNvSpPr/>
          <p:nvPr/>
        </p:nvSpPr>
        <p:spPr>
          <a:xfrm>
            <a:off x="2944368" y="438912"/>
            <a:ext cx="777240" cy="32004"/>
          </a:xfrm>
          <a:prstGeom prst="rect">
            <a:avLst/>
          </a:prstGeom>
          <a:solidFill>
            <a:srgbClr val="C1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eason marker">
            <a:extLst>
              <a:ext uri="{FF2B5EF4-FFF2-40B4-BE49-F238E27FC236}">
                <a16:creationId xmlns:a16="http://schemas.microsoft.com/office/drawing/2014/main" id="{53092EEC-271D-C4E4-F073-1B84945FED7F}"/>
              </a:ext>
            </a:extLst>
          </p:cNvPr>
          <p:cNvSpPr txBox="1"/>
          <p:nvPr/>
        </p:nvSpPr>
        <p:spPr>
          <a:xfrm>
            <a:off x="658368" y="164592"/>
            <a:ext cx="5029200" cy="219456"/>
          </a:xfrm>
          <a:prstGeom prst="rect">
            <a:avLst/>
          </a:prstGeom>
          <a:noFill/>
        </p:spPr>
        <p:txBody>
          <a:bodyPr wrap="square" lIns="0" tIns="0" rIns="0" bIns="0" anchor="t">
            <a:spAutoFit/>
          </a:bodyPr>
          <a:lstStyle/>
          <a:p>
            <a:pPr algn="l"/>
            <a:r>
              <a:rPr sz="1000" b="1" i="0">
                <a:solidFill>
                  <a:srgbClr val="5BF2D3"/>
                </a:solidFill>
                <a:latin typeface="CarbonType"/>
              </a:rPr>
              <a:t>CEDAR RAPIDS AREA CYBER CLUB  /  2026–2027</a:t>
            </a:r>
          </a:p>
        </p:txBody>
      </p:sp>
      <p:sp>
        <p:nvSpPr>
          <p:cNvPr id="6" name="Slide title">
            <a:extLst>
              <a:ext uri="{FF2B5EF4-FFF2-40B4-BE49-F238E27FC236}">
                <a16:creationId xmlns:a16="http://schemas.microsoft.com/office/drawing/2014/main" id="{4E38A79F-6CB2-96F7-776E-226A0D340202}"/>
              </a:ext>
            </a:extLst>
          </p:cNvPr>
          <p:cNvSpPr txBox="1"/>
          <p:nvPr/>
        </p:nvSpPr>
        <p:spPr>
          <a:xfrm>
            <a:off x="658368" y="698510"/>
            <a:ext cx="9966960" cy="523220"/>
          </a:xfrm>
          <a:prstGeom prst="rect">
            <a:avLst/>
          </a:prstGeom>
          <a:noFill/>
        </p:spPr>
        <p:txBody>
          <a:bodyPr wrap="square" lIns="0" tIns="0" rIns="0" bIns="0" anchor="ctr">
            <a:spAutoFit/>
          </a:bodyPr>
          <a:lstStyle/>
          <a:p>
            <a:pPr algn="l"/>
            <a:r>
              <a:rPr lang="en-US" sz="3400" b="1" dirty="0">
                <a:solidFill>
                  <a:srgbClr val="F5F8FF"/>
                </a:solidFill>
                <a:latin typeface="CarbonType"/>
              </a:rPr>
              <a:t>Obtaining a </a:t>
            </a:r>
            <a:r>
              <a:rPr lang="en-US" sz="3400" b="1" dirty="0" err="1">
                <a:solidFill>
                  <a:srgbClr val="F5F8FF"/>
                </a:solidFill>
                <a:latin typeface="CarbonType"/>
              </a:rPr>
              <a:t>Bitwarden</a:t>
            </a:r>
            <a:r>
              <a:rPr lang="en-US" sz="3400" b="1" dirty="0">
                <a:solidFill>
                  <a:srgbClr val="F5F8FF"/>
                </a:solidFill>
                <a:latin typeface="CarbonType"/>
              </a:rPr>
              <a:t> account</a:t>
            </a:r>
            <a:endParaRPr sz="3400" b="1" i="0" dirty="0">
              <a:solidFill>
                <a:srgbClr val="F5F8FF"/>
              </a:solidFill>
              <a:latin typeface="CarbonType"/>
            </a:endParaRPr>
          </a:p>
        </p:txBody>
      </p:sp>
      <p:sp>
        <p:nvSpPr>
          <p:cNvPr id="7" name="Subtitle">
            <a:extLst>
              <a:ext uri="{FF2B5EF4-FFF2-40B4-BE49-F238E27FC236}">
                <a16:creationId xmlns:a16="http://schemas.microsoft.com/office/drawing/2014/main" id="{8EC3FE76-9A84-CCD7-CD17-4EC72D97930C}"/>
              </a:ext>
            </a:extLst>
          </p:cNvPr>
          <p:cNvSpPr txBox="1"/>
          <p:nvPr/>
        </p:nvSpPr>
        <p:spPr>
          <a:xfrm>
            <a:off x="694944" y="1271016"/>
            <a:ext cx="9418320" cy="200055"/>
          </a:xfrm>
          <a:prstGeom prst="rect">
            <a:avLst/>
          </a:prstGeom>
          <a:noFill/>
        </p:spPr>
        <p:txBody>
          <a:bodyPr wrap="square" lIns="0" tIns="0" rIns="0" bIns="0" anchor="t">
            <a:spAutoFit/>
          </a:bodyPr>
          <a:lstStyle/>
          <a:p>
            <a:pPr algn="l"/>
            <a:r>
              <a:rPr lang="en-US" sz="1300" b="0" i="1" dirty="0">
                <a:solidFill>
                  <a:srgbClr val="FFAA91"/>
                </a:solidFill>
                <a:latin typeface="Aptos"/>
              </a:rPr>
              <a:t>Why did the bit warden go to jail? Answers on the right.</a:t>
            </a:r>
            <a:endParaRPr sz="1300" b="0" i="1" dirty="0">
              <a:solidFill>
                <a:srgbClr val="FFAA91"/>
              </a:solidFill>
              <a:latin typeface="Aptos"/>
            </a:endParaRPr>
          </a:p>
        </p:txBody>
      </p:sp>
      <p:sp>
        <p:nvSpPr>
          <p:cNvPr id="8" name="Layout number">
            <a:extLst>
              <a:ext uri="{FF2B5EF4-FFF2-40B4-BE49-F238E27FC236}">
                <a16:creationId xmlns:a16="http://schemas.microsoft.com/office/drawing/2014/main" id="{A4AFF41E-9C1F-43EE-A185-A6DC243C04B4}"/>
              </a:ext>
            </a:extLst>
          </p:cNvPr>
          <p:cNvSpPr txBox="1"/>
          <p:nvPr/>
        </p:nvSpPr>
        <p:spPr>
          <a:xfrm>
            <a:off x="10744200" y="758952"/>
            <a:ext cx="749808" cy="230832"/>
          </a:xfrm>
          <a:prstGeom prst="rect">
            <a:avLst/>
          </a:prstGeom>
          <a:noFill/>
        </p:spPr>
        <p:txBody>
          <a:bodyPr wrap="square" lIns="0" tIns="0" rIns="0" bIns="0" anchor="t">
            <a:spAutoFit/>
          </a:bodyPr>
          <a:lstStyle/>
          <a:p>
            <a:pPr algn="r"/>
            <a:r>
              <a:rPr lang="en-US" sz="1500" b="1" i="0" dirty="0">
                <a:solidFill>
                  <a:srgbClr val="5BF2D3"/>
                </a:solidFill>
                <a:latin typeface="CarbonType"/>
              </a:rPr>
              <a:t>08</a:t>
            </a:r>
            <a:endParaRPr sz="1500" b="1" i="0" dirty="0">
              <a:solidFill>
                <a:srgbClr val="5BF2D3"/>
              </a:solidFill>
              <a:latin typeface="CarbonType"/>
            </a:endParaRPr>
          </a:p>
        </p:txBody>
      </p:sp>
      <p:sp>
        <p:nvSpPr>
          <p:cNvPr id="9" name="Rectangle 8">
            <a:extLst>
              <a:ext uri="{FF2B5EF4-FFF2-40B4-BE49-F238E27FC236}">
                <a16:creationId xmlns:a16="http://schemas.microsoft.com/office/drawing/2014/main" id="{6CBC665D-8CE4-C954-B463-C421112BCA47}"/>
              </a:ext>
            </a:extLst>
          </p:cNvPr>
          <p:cNvSpPr/>
          <p:nvPr/>
        </p:nvSpPr>
        <p:spPr>
          <a:xfrm>
            <a:off x="658368" y="6272784"/>
            <a:ext cx="10872216" cy="16459"/>
          </a:xfrm>
          <a:prstGeom prst="rect">
            <a:avLst/>
          </a:prstGeom>
          <a:solidFill>
            <a:srgbClr val="63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lub footer">
            <a:extLst>
              <a:ext uri="{FF2B5EF4-FFF2-40B4-BE49-F238E27FC236}">
                <a16:creationId xmlns:a16="http://schemas.microsoft.com/office/drawing/2014/main" id="{74DA1029-AB55-F887-16FA-513344368D91}"/>
              </a:ext>
            </a:extLst>
          </p:cNvPr>
          <p:cNvSpPr txBox="1"/>
          <p:nvPr/>
        </p:nvSpPr>
        <p:spPr>
          <a:xfrm>
            <a:off x="7315200" y="6382512"/>
            <a:ext cx="4206240" cy="219456"/>
          </a:xfrm>
          <a:prstGeom prst="rect">
            <a:avLst/>
          </a:prstGeom>
          <a:noFill/>
        </p:spPr>
        <p:txBody>
          <a:bodyPr wrap="square" lIns="0" tIns="0" rIns="0" bIns="0" anchor="t">
            <a:spAutoFit/>
          </a:bodyPr>
          <a:lstStyle/>
          <a:p>
            <a:pPr algn="r"/>
            <a:r>
              <a:rPr sz="900" b="1" i="0">
                <a:solidFill>
                  <a:srgbClr val="5BF2D3"/>
                </a:solidFill>
                <a:latin typeface="Aptos"/>
              </a:rPr>
              <a:t>CEDAR RAPIDS AREA  /  4000hmSk1llz</a:t>
            </a:r>
          </a:p>
        </p:txBody>
      </p:sp>
      <p:sp>
        <p:nvSpPr>
          <p:cNvPr id="12" name="Visual anchor">
            <a:extLst>
              <a:ext uri="{FF2B5EF4-FFF2-40B4-BE49-F238E27FC236}">
                <a16:creationId xmlns:a16="http://schemas.microsoft.com/office/drawing/2014/main" id="{43F844C9-2584-B97A-71A7-F39D99B78812}"/>
              </a:ext>
            </a:extLst>
          </p:cNvPr>
          <p:cNvSpPr txBox="1"/>
          <p:nvPr/>
        </p:nvSpPr>
        <p:spPr>
          <a:xfrm>
            <a:off x="8110728" y="1719072"/>
            <a:ext cx="3451448" cy="738664"/>
          </a:xfrm>
          <a:prstGeom prst="rect">
            <a:avLst/>
          </a:prstGeom>
          <a:noFill/>
        </p:spPr>
        <p:txBody>
          <a:bodyPr wrap="square" lIns="0" tIns="0" rIns="0" bIns="0" anchor="t">
            <a:spAutoFit/>
          </a:bodyPr>
          <a:lstStyle/>
          <a:p>
            <a:pPr algn="ctr"/>
            <a:r>
              <a:rPr lang="en-US" sz="2400" b="1" i="0" dirty="0">
                <a:solidFill>
                  <a:srgbClr val="C14DFF"/>
                </a:solidFill>
                <a:latin typeface="CarbonType"/>
              </a:rPr>
              <a:t>Why did the bit warden</a:t>
            </a:r>
          </a:p>
          <a:p>
            <a:pPr algn="ctr"/>
            <a:r>
              <a:rPr lang="en-US" sz="2400" b="1" i="0" dirty="0">
                <a:solidFill>
                  <a:srgbClr val="C14DFF"/>
                </a:solidFill>
                <a:latin typeface="CarbonType"/>
              </a:rPr>
              <a:t>go to jail?</a:t>
            </a:r>
            <a:endParaRPr sz="2400" b="1" i="0" dirty="0">
              <a:solidFill>
                <a:srgbClr val="C14DFF"/>
              </a:solidFill>
              <a:latin typeface="CarbonType"/>
            </a:endParaRPr>
          </a:p>
        </p:txBody>
      </p:sp>
      <p:sp>
        <p:nvSpPr>
          <p:cNvPr id="13" name="Takeaway prompt">
            <a:extLst>
              <a:ext uri="{FF2B5EF4-FFF2-40B4-BE49-F238E27FC236}">
                <a16:creationId xmlns:a16="http://schemas.microsoft.com/office/drawing/2014/main" id="{6AA63EBD-7CE8-CE68-6539-63BDE1165078}"/>
              </a:ext>
            </a:extLst>
          </p:cNvPr>
          <p:cNvSpPr txBox="1"/>
          <p:nvPr/>
        </p:nvSpPr>
        <p:spPr>
          <a:xfrm>
            <a:off x="8311896" y="2617170"/>
            <a:ext cx="3250280" cy="2708434"/>
          </a:xfrm>
          <a:prstGeom prst="rect">
            <a:avLst/>
          </a:prstGeom>
          <a:noFill/>
        </p:spPr>
        <p:txBody>
          <a:bodyPr wrap="square" lIns="0" tIns="0" rIns="0" bIns="0" anchor="t">
            <a:spAutoFit/>
          </a:bodyPr>
          <a:lstStyle/>
          <a:p>
            <a:pPr marL="285750" indent="-285750">
              <a:buFont typeface="Wingdings" panose="05000000000000000000" pitchFamily="2" charset="2"/>
              <a:buChar char="§"/>
            </a:pPr>
            <a:r>
              <a:rPr lang="en-US" sz="1600" dirty="0">
                <a:solidFill>
                  <a:srgbClr val="AAB9D2"/>
                </a:solidFill>
                <a:latin typeface="Aptos"/>
              </a:rPr>
              <a:t>Possession with intent to autofill</a:t>
            </a:r>
          </a:p>
          <a:p>
            <a:pPr marL="285750" indent="-285750">
              <a:buFont typeface="Wingdings" panose="05000000000000000000" pitchFamily="2" charset="2"/>
              <a:buChar char="§"/>
            </a:pPr>
            <a:r>
              <a:rPr lang="en-US" sz="1600" dirty="0">
                <a:solidFill>
                  <a:srgbClr val="AAB9D2"/>
                </a:solidFill>
                <a:latin typeface="Aptos"/>
              </a:rPr>
              <a:t>Caught red-handed with All The Keys</a:t>
            </a:r>
          </a:p>
          <a:p>
            <a:pPr marL="285750" indent="-285750">
              <a:buFont typeface="Wingdings" panose="05000000000000000000" pitchFamily="2" charset="2"/>
              <a:buChar char="§"/>
            </a:pPr>
            <a:r>
              <a:rPr lang="en-US" sz="1600" dirty="0">
                <a:solidFill>
                  <a:srgbClr val="AAB9D2"/>
                </a:solidFill>
                <a:latin typeface="Aptos"/>
              </a:rPr>
              <a:t>Flipping bits without a warrant</a:t>
            </a:r>
          </a:p>
          <a:p>
            <a:pPr marL="285750" indent="-285750">
              <a:buFont typeface="Wingdings" panose="05000000000000000000" pitchFamily="2" charset="2"/>
              <a:buChar char="§"/>
            </a:pPr>
            <a:r>
              <a:rPr lang="en-US" sz="1600" dirty="0">
                <a:solidFill>
                  <a:srgbClr val="AAB9D2"/>
                </a:solidFill>
                <a:latin typeface="Aptos"/>
              </a:rPr>
              <a:t>Repeated jailbreaks</a:t>
            </a:r>
          </a:p>
          <a:p>
            <a:pPr marL="285750" indent="-285750">
              <a:buFont typeface="Wingdings" panose="05000000000000000000" pitchFamily="2" charset="2"/>
              <a:buChar char="§"/>
            </a:pPr>
            <a:r>
              <a:rPr lang="en-US" sz="1600" dirty="0">
                <a:solidFill>
                  <a:srgbClr val="AAB9D2"/>
                </a:solidFill>
                <a:latin typeface="Aptos"/>
              </a:rPr>
              <a:t>Guilty of unauthorized access</a:t>
            </a:r>
          </a:p>
          <a:p>
            <a:pPr marL="285750" indent="-285750">
              <a:buFont typeface="Wingdings" panose="05000000000000000000" pitchFamily="2" charset="2"/>
              <a:buChar char="§"/>
            </a:pPr>
            <a:r>
              <a:rPr lang="en-US" sz="1600" dirty="0">
                <a:solidFill>
                  <a:srgbClr val="AAB9D2"/>
                </a:solidFill>
                <a:latin typeface="Aptos"/>
              </a:rPr>
              <a:t>Reversible hashing (sha2)</a:t>
            </a:r>
          </a:p>
          <a:p>
            <a:pPr marL="285750" indent="-285750">
              <a:buFont typeface="Wingdings" panose="05000000000000000000" pitchFamily="2" charset="2"/>
              <a:buChar char="§"/>
            </a:pPr>
            <a:r>
              <a:rPr lang="en-US" sz="1600" dirty="0">
                <a:solidFill>
                  <a:srgbClr val="AAB9D2"/>
                </a:solidFill>
                <a:latin typeface="Aptos"/>
              </a:rPr>
              <a:t>Making jokes worse than these (I'm not sure that's possible?)</a:t>
            </a:r>
          </a:p>
          <a:p>
            <a:pPr marL="285750" indent="-285750">
              <a:buFont typeface="Wingdings" panose="05000000000000000000" pitchFamily="2" charset="2"/>
              <a:buChar char="§"/>
            </a:pPr>
            <a:endParaRPr lang="en-US" sz="1600" dirty="0">
              <a:solidFill>
                <a:srgbClr val="AAB9D2"/>
              </a:solidFill>
              <a:latin typeface="Aptos"/>
            </a:endParaRPr>
          </a:p>
          <a:p>
            <a:pPr marL="285750" indent="-285750" algn="r">
              <a:buFont typeface="Wingdings" panose="05000000000000000000" pitchFamily="2" charset="2"/>
              <a:buChar char="§"/>
            </a:pPr>
            <a:endParaRPr sz="1600" b="0" i="0" dirty="0">
              <a:solidFill>
                <a:srgbClr val="AAB9D2"/>
              </a:solidFill>
              <a:latin typeface="Aptos"/>
            </a:endParaRPr>
          </a:p>
        </p:txBody>
      </p:sp>
      <p:sp>
        <p:nvSpPr>
          <p:cNvPr id="14" name="Rectangle 13">
            <a:extLst>
              <a:ext uri="{FF2B5EF4-FFF2-40B4-BE49-F238E27FC236}">
                <a16:creationId xmlns:a16="http://schemas.microsoft.com/office/drawing/2014/main" id="{93B63BB1-745A-95C2-3D47-88F66575B001}"/>
              </a:ext>
            </a:extLst>
          </p:cNvPr>
          <p:cNvSpPr/>
          <p:nvPr/>
        </p:nvSpPr>
        <p:spPr>
          <a:xfrm>
            <a:off x="8065008" y="1764792"/>
            <a:ext cx="22860" cy="3639312"/>
          </a:xfrm>
          <a:prstGeom prst="rect">
            <a:avLst/>
          </a:prstGeom>
          <a:solidFill>
            <a:srgbClr val="FFAA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ditable bullet list">
            <a:extLst>
              <a:ext uri="{FF2B5EF4-FFF2-40B4-BE49-F238E27FC236}">
                <a16:creationId xmlns:a16="http://schemas.microsoft.com/office/drawing/2014/main" id="{6D866315-1C3E-E5DE-B94F-A66A21B275BE}"/>
              </a:ext>
            </a:extLst>
          </p:cNvPr>
          <p:cNvSpPr txBox="1"/>
          <p:nvPr/>
        </p:nvSpPr>
        <p:spPr>
          <a:xfrm>
            <a:off x="841248" y="1719072"/>
            <a:ext cx="6629400" cy="4691028"/>
          </a:xfrm>
          <a:prstGeom prst="rect">
            <a:avLst/>
          </a:prstGeom>
          <a:noFill/>
        </p:spPr>
        <p:txBody>
          <a:bodyPr wrap="square" lIns="0" tIns="0" rIns="0" bIns="0">
            <a:spAutoFit/>
          </a:bodyPr>
          <a:lstStyle/>
          <a:p>
            <a:pPr marL="457200" indent="-457200">
              <a:lnSpc>
                <a:spcPct val="100000"/>
              </a:lnSpc>
              <a:spcBef>
                <a:spcPts val="1500"/>
              </a:spcBef>
              <a:spcAft>
                <a:spcPts val="500"/>
              </a:spcAft>
              <a:buFont typeface="+mj-lt"/>
              <a:buAutoNum type="arabicPeriod" startAt="5"/>
            </a:pPr>
            <a:r>
              <a:rPr lang="en-US" sz="2300" dirty="0">
                <a:solidFill>
                  <a:schemeClr val="bg1"/>
                </a:solidFill>
                <a:latin typeface="Aptos"/>
              </a:rPr>
              <a:t>After your account is created, add our School14 credentials to your </a:t>
            </a:r>
            <a:r>
              <a:rPr lang="en-US" sz="2300" dirty="0" err="1">
                <a:solidFill>
                  <a:schemeClr val="bg1"/>
                </a:solidFill>
                <a:latin typeface="Aptos"/>
              </a:rPr>
              <a:t>Bitwarden</a:t>
            </a:r>
            <a:r>
              <a:rPr lang="en-US" sz="2300" dirty="0">
                <a:solidFill>
                  <a:schemeClr val="bg1"/>
                </a:solidFill>
                <a:latin typeface="Aptos"/>
              </a:rPr>
              <a:t> account. Use the following values:</a:t>
            </a:r>
          </a:p>
          <a:p>
            <a:pPr marL="800100" lvl="1" indent="-342900">
              <a:buFont typeface="Arial" panose="020B0604020202020204" pitchFamily="34" charset="0"/>
              <a:buChar char="•"/>
            </a:pPr>
            <a:r>
              <a:rPr lang="en-US" sz="2300" dirty="0">
                <a:solidFill>
                  <a:schemeClr val="bg1"/>
                </a:solidFill>
                <a:latin typeface="Aptos"/>
              </a:rPr>
              <a:t>Item name: ISEAGE playground school14</a:t>
            </a:r>
          </a:p>
          <a:p>
            <a:pPr marL="800100" lvl="1" indent="-342900">
              <a:buFont typeface="Arial" panose="020B0604020202020204" pitchFamily="34" charset="0"/>
              <a:buChar char="•"/>
            </a:pPr>
            <a:r>
              <a:rPr lang="en-US" sz="2300" dirty="0">
                <a:solidFill>
                  <a:schemeClr val="bg1"/>
                </a:solidFill>
                <a:latin typeface="Aptos"/>
              </a:rPr>
              <a:t>Folder: No folder</a:t>
            </a:r>
          </a:p>
          <a:p>
            <a:pPr marL="800100" lvl="1" indent="-342900">
              <a:buFont typeface="Arial" panose="020B0604020202020204" pitchFamily="34" charset="0"/>
              <a:buChar char="•"/>
            </a:pPr>
            <a:r>
              <a:rPr lang="en-US" sz="2300" dirty="0">
                <a:solidFill>
                  <a:schemeClr val="bg1"/>
                </a:solidFill>
                <a:latin typeface="Aptos"/>
              </a:rPr>
              <a:t>Username: school14</a:t>
            </a:r>
          </a:p>
          <a:p>
            <a:pPr marL="800100" lvl="1" indent="-342900">
              <a:buFont typeface="Arial" panose="020B0604020202020204" pitchFamily="34" charset="0"/>
              <a:buChar char="•"/>
            </a:pPr>
            <a:r>
              <a:rPr lang="en-US" sz="2300" dirty="0">
                <a:solidFill>
                  <a:schemeClr val="bg1"/>
                </a:solidFill>
                <a:latin typeface="Aptos"/>
              </a:rPr>
              <a:t>Password: DvbA18agWX</a:t>
            </a:r>
          </a:p>
          <a:p>
            <a:pPr marL="800100" lvl="1" indent="-342900">
              <a:buFont typeface="Arial" panose="020B0604020202020204" pitchFamily="34" charset="0"/>
              <a:buChar char="•"/>
            </a:pPr>
            <a:r>
              <a:rPr lang="en-US" sz="2300" dirty="0">
                <a:solidFill>
                  <a:schemeClr val="bg1"/>
                </a:solidFill>
                <a:latin typeface="Aptos"/>
              </a:rPr>
              <a:t>Website (URI): </a:t>
            </a:r>
            <a:r>
              <a:rPr lang="en-US" sz="2300" dirty="0">
                <a:solidFill>
                  <a:schemeClr val="accent1">
                    <a:lumMod val="50000"/>
                    <a:lumOff val="50000"/>
                  </a:schemeClr>
                </a:solidFill>
                <a:latin typeface="Aptos"/>
                <a:hlinkClick r:id="rId2">
                  <a:extLst>
                    <a:ext uri="{A12FA001-AC4F-418D-AE19-62706E023703}">
                      <ahyp:hlinkClr xmlns:ahyp="http://schemas.microsoft.com/office/drawing/2018/hyperlinkcolor" val="tx"/>
                    </a:ext>
                  </a:extLst>
                </a:hlinkClick>
              </a:rPr>
              <a:t>https://playground.iseage.org</a:t>
            </a:r>
            <a:endParaRPr lang="en-US" sz="2300" dirty="0">
              <a:solidFill>
                <a:schemeClr val="accent1">
                  <a:lumMod val="50000"/>
                  <a:lumOff val="50000"/>
                </a:schemeClr>
              </a:solidFill>
              <a:latin typeface="Aptos"/>
            </a:endParaRPr>
          </a:p>
          <a:p>
            <a:pPr marL="457200" indent="-457200">
              <a:spcAft>
                <a:spcPts val="200"/>
              </a:spcAft>
              <a:buFont typeface="+mj-lt"/>
              <a:buAutoNum type="arabicPeriod" startAt="6"/>
            </a:pPr>
            <a:r>
              <a:rPr lang="en-US" sz="2300" dirty="0">
                <a:solidFill>
                  <a:schemeClr val="bg1"/>
                </a:solidFill>
                <a:latin typeface="Aptos"/>
              </a:rPr>
              <a:t>If everything's right, </a:t>
            </a:r>
            <a:r>
              <a:rPr lang="en-US" sz="2300" dirty="0" err="1">
                <a:solidFill>
                  <a:schemeClr val="bg1"/>
                </a:solidFill>
                <a:latin typeface="Aptos"/>
              </a:rPr>
              <a:t>Bitwarden</a:t>
            </a:r>
            <a:r>
              <a:rPr lang="en-US" sz="2300" dirty="0">
                <a:solidFill>
                  <a:schemeClr val="bg1"/>
                </a:solidFill>
                <a:latin typeface="Aptos"/>
              </a:rPr>
              <a:t> should offer to fill in credentials whenever you visit the ISEAGE playground.</a:t>
            </a:r>
          </a:p>
          <a:p>
            <a:pPr marL="800100" lvl="1" indent="-342900">
              <a:spcAft>
                <a:spcPts val="200"/>
              </a:spcAft>
              <a:buFont typeface="Arial" panose="020B0604020202020204" pitchFamily="34" charset="0"/>
              <a:buChar char="•"/>
            </a:pPr>
            <a:r>
              <a:rPr lang="en-US" sz="2300" dirty="0">
                <a:solidFill>
                  <a:schemeClr val="bg1"/>
                </a:solidFill>
                <a:latin typeface="Aptos"/>
              </a:rPr>
              <a:t>Ask in </a:t>
            </a:r>
            <a:r>
              <a:rPr lang="en-US" sz="2300" dirty="0" err="1">
                <a:solidFill>
                  <a:schemeClr val="bg1"/>
                </a:solidFill>
                <a:latin typeface="Aptos"/>
              </a:rPr>
              <a:t>Zulip</a:t>
            </a:r>
            <a:r>
              <a:rPr lang="en-US" sz="2300" dirty="0">
                <a:solidFill>
                  <a:schemeClr val="bg1"/>
                </a:solidFill>
                <a:latin typeface="Aptos"/>
              </a:rPr>
              <a:t> if you need help</a:t>
            </a:r>
          </a:p>
          <a:p>
            <a:pPr marL="457200" indent="-457200">
              <a:spcAft>
                <a:spcPts val="200"/>
              </a:spcAft>
              <a:buFont typeface="+mj-lt"/>
              <a:buAutoNum type="arabicPeriod" startAt="6"/>
            </a:pPr>
            <a:endParaRPr lang="en-US" sz="2300" dirty="0">
              <a:solidFill>
                <a:schemeClr val="bg1"/>
              </a:solidFill>
              <a:latin typeface="Aptos"/>
            </a:endParaRPr>
          </a:p>
        </p:txBody>
      </p:sp>
    </p:spTree>
    <p:extLst>
      <p:ext uri="{BB962C8B-B14F-4D97-AF65-F5344CB8AC3E}">
        <p14:creationId xmlns:p14="http://schemas.microsoft.com/office/powerpoint/2010/main" val="2294092917"/>
      </p:ext>
    </p:extLst>
  </p:cSld>
  <p:clrMapOvr>
    <a:masterClrMapping/>
  </p:clrMapOvr>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c 2026 template.potx" id="{AB59AD7C-1AA4-42D3-9971-897B784B523F}" vid="{5FD16EE2-D0B8-4495-AA09-EF47959D2B5E}"/>
    </a:ext>
  </a:extLst>
</a:theme>
</file>

<file path=ppt/theme/theme2.xml><?xml version="1.0" encoding="utf-8"?>
<a:theme xmlns:a="http://schemas.openxmlformats.org/drawingml/2006/main" name="1_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c 2026 template.potx" id="{AB59AD7C-1AA4-42D3-9971-897B784B523F}" vid="{4534B1DD-1345-4E4D-824D-C8EE404873C2}"/>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dc 2026 template.potx" id="{AB59AD7C-1AA4-42D3-9971-897B784B523F}" vid="{630F89B6-F053-4133-B101-8292E05CB2D5}"/>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dc 2026 template.potx" id="{AB59AD7C-1AA4-42D3-9971-897B784B523F}" vid="{A3577778-11B7-43F5-992E-13CB3CB7317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1989D7-CF02-4DC5-9433-98B600ACA0D7}">
  <ds:schemaRefs>
    <ds:schemaRef ds:uri="http://purl.org/dc/dcmitype/"/>
    <ds:schemaRef ds:uri="http://purl.org/dc/elements/1.1/"/>
    <ds:schemaRef ds:uri="http://purl.org/dc/terms/"/>
    <ds:schemaRef ds:uri="71af3243-3dd4-4a8d-8c0d-dd76da1f02a5"/>
    <ds:schemaRef ds:uri="http://schemas.microsoft.com/sharepoint/v3"/>
    <ds:schemaRef ds:uri="http://schemas.microsoft.com/office/2006/documentManagement/types"/>
    <ds:schemaRef ds:uri="http://schemas.microsoft.com/office/infopath/2007/PartnerControls"/>
    <ds:schemaRef ds:uri="16c05727-aa75-4e4a-9b5f-8a80a1165891"/>
    <ds:schemaRef ds:uri="http://schemas.microsoft.com/office/2006/metadata/properties"/>
    <ds:schemaRef ds:uri="http://schemas.openxmlformats.org/package/2006/metadata/core-properties"/>
    <ds:schemaRef ds:uri="230e9df3-be65-4c73-a93b-d1236ebd677e"/>
    <ds:schemaRef ds:uri="http://www.w3.org/XML/1998/namespace"/>
  </ds:schemaRefs>
</ds:datastoreItem>
</file>

<file path=customXml/itemProps2.xml><?xml version="1.0" encoding="utf-8"?>
<ds:datastoreItem xmlns:ds="http://schemas.openxmlformats.org/officeDocument/2006/customXml" ds:itemID="{6C2B339A-BBCD-4BF4-A3FE-AE1F9B12F717}">
  <ds:schemaRefs>
    <ds:schemaRef ds:uri="http://schemas.microsoft.com/sharepoint/v3/contenttype/forms"/>
  </ds:schemaRefs>
</ds:datastoreItem>
</file>

<file path=customXml/itemProps3.xml><?xml version="1.0" encoding="utf-8"?>
<ds:datastoreItem xmlns:ds="http://schemas.openxmlformats.org/officeDocument/2006/customXml" ds:itemID="{6B8A4BC3-D1CE-4BB2-9C42-D67FD92CAF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cdc 2026 template</Template>
  <TotalTime>222</TotalTime>
  <Words>1106</Words>
  <Application>Microsoft Office PowerPoint</Application>
  <PresentationFormat>Widescreen</PresentationFormat>
  <Paragraphs>115</Paragraphs>
  <Slides>10</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10</vt:i4>
      </vt:variant>
    </vt:vector>
  </HeadingPairs>
  <TitlesOfParts>
    <vt:vector size="20" baseType="lpstr">
      <vt:lpstr>Aptos</vt:lpstr>
      <vt:lpstr>Aptos Display</vt:lpstr>
      <vt:lpstr>Arial</vt:lpstr>
      <vt:lpstr>Calibri</vt:lpstr>
      <vt:lpstr>CarbonType</vt:lpstr>
      <vt:lpstr>Wingdings</vt:lpstr>
      <vt:lpstr>Office Theme</vt:lpstr>
      <vt:lpstr>1_Office Theme</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Leonard</dc:creator>
  <cp:lastModifiedBy>Chris Leonard</cp:lastModifiedBy>
  <cp:revision>3</cp:revision>
  <dcterms:created xsi:type="dcterms:W3CDTF">2026-10-03T17:58:25Z</dcterms:created>
  <dcterms:modified xsi:type="dcterms:W3CDTF">2026-10-03T21:41:09Z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